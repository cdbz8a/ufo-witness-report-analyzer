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9AA6C0"/>
                </a:solidFill>
                <a:latin typeface="Calibri"/>
              </a:defRPr>
            </a:pPr>
            <a:r>
              <a:rPr sz="1200" b="0" i="0" u="none" strike="noStrike">
                <a:solidFill>
                  <a:srgbClr val="9AA6C0"/>
                </a:solidFill>
                <a:latin typeface="Calibri"/>
              </a:rPr>
              <a:t>How well it does per shape (higher = better)</a:t>
            </a:r>
          </a:p>
        </c:rich>
      </c:tx>
      <c:layout/>
      <c:overlay val="0"/>
    </c:title>
    <c:autoTitleDeleted val="0"/>
    <c:plotArea>
      <c:layout/>
      <c:barChart>
        <c:barDir val="bar"/>
        <c:grouping val="clustered"/>
        <c:varyColors val="0"/>
        <c:ser>
          <c:idx val="0"/>
          <c:order val="0"/>
          <c:tx>
            <c:strRef>
              <c:f>Sheet1!$B$1</c:f>
              <c:strCache>
                <c:ptCount val="1"/>
                <c:pt idx="0">
                  <c:v>F1</c:v>
                </c:pt>
              </c:strCache>
            </c:strRef>
          </c:tx>
          <c:spPr>
            <a:solidFill>
              <a:srgbClr val="5FBFD6"/>
            </a:solidFill>
            <a:effectLst/>
          </c:spPr>
          <c:invertIfNegative val="0"/>
          <c:dLbls>
            <c:numFmt formatCode="0.00" sourceLinked="0"/>
            <c:txPr>
              <a:bodyPr/>
              <a:lstStyle/>
              <a:p>
                <a:pPr>
                  <a:defRPr b="0" i="0" strike="noStrike" sz="1000" u="none">
                    <a:solidFill>
                      <a:srgbClr val="EAECF2"/>
                    </a:solidFill>
                    <a:latin typeface="Calibri"/>
                  </a:defRPr>
                </a:pPr>
              </a:p>
            </c:txPr>
            <c:showLegendKey val="0"/>
            <c:showVal val="1"/>
            <c:showCatName val="0"/>
            <c:showSerName val="0"/>
            <c:showPercent val="0"/>
            <c:showBubbleSize val="0"/>
            <c:showLeaderLines val="0"/>
          </c:dLbls>
          <c:cat>
            <c:multiLvlStrRef>
              <c:f>Sheet1!$A$2:$A$9</c:f>
              <c:multiLvlStrCache>
                <c:ptCount val="8"/>
                <c:lvl>
                  <c:pt idx="0">
                    <c:v>triangle</c:v>
                  </c:pt>
                  <c:pt idx="1">
                    <c:v>light</c:v>
                  </c:pt>
                  <c:pt idx="2">
                    <c:v>cigar</c:v>
                  </c:pt>
                  <c:pt idx="3">
                    <c:v>fireball</c:v>
                  </c:pt>
                  <c:pt idx="4">
                    <c:v>disk</c:v>
                  </c:pt>
                  <c:pt idx="5">
                    <c:v>sphere</c:v>
                  </c:pt>
                  <c:pt idx="6">
                    <c:v>oval</c:v>
                  </c:pt>
                  <c:pt idx="7">
                    <c:v>circle</c:v>
                  </c:pt>
                </c:lvl>
              </c:multiLvlStrCache>
            </c:multiLvlStrRef>
          </c:cat>
          <c:val>
            <c:numRef>
              <c:f>Sheet1!$B$2:$B$9</c:f>
              <c:numCache>
                <c:formatCode>General</c:formatCode>
                <c:ptCount val="8"/>
                <c:pt idx="0">
                  <c:v>0.68</c:v>
                </c:pt>
                <c:pt idx="1">
                  <c:v>0.63</c:v>
                </c:pt>
                <c:pt idx="2">
                  <c:v>0.6</c:v>
                </c:pt>
                <c:pt idx="3">
                  <c:v>0.59</c:v>
                </c:pt>
                <c:pt idx="4">
                  <c:v>0.55</c:v>
                </c:pt>
                <c:pt idx="5">
                  <c:v>0.44</c:v>
                </c:pt>
                <c:pt idx="6">
                  <c:v>0.38</c:v>
                </c:pt>
                <c:pt idx="7">
                  <c:v>0.34</c:v>
                </c:pt>
              </c:numCache>
            </c:numRef>
          </c:val>
        </c:ser>
        <c:dLbls>
          <c:numFmt formatCode="0.00" sourceLinked="0"/>
          <c:txPr>
            <a:bodyPr/>
            <a:lstStyle/>
            <a:p>
              <a:pPr>
                <a:defRPr b="0" i="0" strike="noStrike" sz="1000" u="none">
                  <a:solidFill>
                    <a:srgbClr val="EAECF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9AA6C0"/>
                </a:solidFill>
                <a:latin typeface="Calibri"/>
              </a:defRPr>
            </a:pPr>
            <a:endParaRPr lang="en-US"/>
          </a:p>
        </c:txPr>
        <c:crossAx val="2094734552"/>
        <c:crosses val="autoZero"/>
        <c:auto val="1"/>
        <c:lblAlgn val="ctr"/>
        <c:noMultiLvlLbl val="1"/>
      </c:catAx>
      <c:valAx>
        <c:axId val="2094734552"/>
        <c:scaling>
          <c:orientation val="minMax"/>
          <c:max val="1"/>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My project's called the UFO Witness Report Analyzer. Quick version: you paste in what somebody wrote about a UFO they saw, and my model guesses the shape of the thing. Triangle, disk, fireball, that kind of thing. It also tells you how sure it is and shows which words tipped it off.
It's not ChatGPT and it's not magic. It's a classic text classifier I trained myself on about eighty thousand real reports. Let me walk you through how it actually works, because that's the part I'm proud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thing is a sorting problem. Every report comes with two pieces I care about: the words somebody typed, and the shape they picked. I show the model thousands of those pairs, it learns the patterns, and then it can guess the shape on a report it's never seen. That's the whole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 a public set of real sighting reports, about eighty thousand of them, sitting online. My notebook pulls it straight off a link, no downloading. One catch: the file's got no column headers, so if you don't name the columns yourself, the program grabs your first real report and thinks it's the titles. Rookie trap. Got me the first time.
After I clean it up and keep the eight shapes that show up enough to learn from, I'm working with about fifty-four thousand reports. And here's the thing to remember: one shape, light, is way bigger than all the others. That matters, and I'll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computer can't read English like we do, so first I turn every report into numbers. That's a thing called TF-IDF. Plain version: it scores every word by how useful it is. Words like the and and show up everywhere, so they're useless for telling shapes apart, and they get a near-zero score. A word like triangular is rare and it means something, so it scores high.
Think of it like a toolbox. Common bolts everybody's got, they don't tell you much. But if a guy's got one specialty tool, that tells you what kind of job he does. TF-IDF hunts down the specialty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actual guessing is done by something called Naive Bayes. In training it learns which words lean toward which shape. Then a new report comes in and it goes word by word, stacking up little clues. Triangular pushes hard toward triangle. Round pushes toward circle. It adds all those nudges up and picks the winner.
It's basically a detective adding up small clues into one best guess. Nothing fancy, but it's fast and I can explain every step, which is exactly what I wanted.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results. On reports it had never seen, it's right about fifty-seven percent of the time. And before anybody thinks that sounds low, that's across eight shapes, and fifty-seven's honestly decent for this.
But here's the honest bit, and it's the main thing I learned. Remember how light is the biggest group? If I built a lazy model that just guessed light every single time, it'd look about thirty percent right while being totally useless. So accuracy alone lies to you. That's why I also use a fairer score called macro-F1, which grades every shape equally, plus a confusion matrix. It nails the shapes with their own words, like triangle and cigar, and it fumbles the round ones, circle, sphere and oval, because people describe all of those the exact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top of the model I built the stuff that makes it feel like a real tool. It gives you the shape, how confident it is, and the keywords that tipped it. So it's not a black box, you can see why it said what it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notebook or the site.] Let me show you. I'll paste in a report, and there's the card. Shape, confidence, keywords.
[Paste a vague blinking lights one.] And watch, this vague one falls back to light, because there's no shape word in it. That's not a bug, that's the model being honest about following the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one last thing, and this is the fun one. [Open the website.]
This whole thing also runs as a website. No server, nothing running in the background. Works on your phone, offline even.
Here's the trick. A model, stripped down, is just a big pile of numbers plus some math. So I took the numbers my trained model learned and baked them right into the web page, then rewrote the math so the browser itself does the work. Nothing gets sent anywhere.
It's like the difference between shipping somebody the whole factory versus just handing them the finished blueprint. The page carries the blueprint. And running a model right on your device like that has a real name, on-device inference, and the big companies do it too. Mine's the small hand-built version, but it's the same idea.
Straight up, the machine learning is all mine. The website's code I put together with an AI assistant. I kept it because the trick behind it is too cool not to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that's it. Real messy data, cleaned up, turned into numbers, trained a classifier, checked it honestly because the data's lopsided, and wrapped it in something you can actually click. And to be clear, it doesn't prove anybody saw a spaceship. It just sorts words into shapes. Happy to take questions.
[Keep the Q&amp;A sheet handy: instructor questions and student questions are on the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0999221" y="2040878"/>
            <a:ext cx="48001" cy="48001"/>
          </a:xfrm>
          <a:prstGeom prst="ellipse">
            <a:avLst/>
          </a:prstGeom>
          <a:solidFill>
            <a:srgbClr val="3A4A6B">
              <a:alpha val="45000"/>
            </a:srgbClr>
          </a:solidFill>
          <a:ln/>
        </p:spPr>
      </p:sp>
      <p:sp>
        <p:nvSpPr>
          <p:cNvPr id="3" name="Shape 1"/>
          <p:cNvSpPr/>
          <p:nvPr/>
        </p:nvSpPr>
        <p:spPr>
          <a:xfrm>
            <a:off x="9236510" y="1336146"/>
            <a:ext cx="28722" cy="28722"/>
          </a:xfrm>
          <a:prstGeom prst="ellipse">
            <a:avLst/>
          </a:prstGeom>
          <a:solidFill>
            <a:srgbClr val="3A4A6B">
              <a:alpha val="45000"/>
            </a:srgbClr>
          </a:solidFill>
          <a:ln/>
        </p:spPr>
      </p:sp>
      <p:sp>
        <p:nvSpPr>
          <p:cNvPr id="4" name="Shape 2"/>
          <p:cNvSpPr/>
          <p:nvPr/>
        </p:nvSpPr>
        <p:spPr>
          <a:xfrm>
            <a:off x="4120622" y="4243858"/>
            <a:ext cx="54974" cy="54974"/>
          </a:xfrm>
          <a:prstGeom prst="ellipse">
            <a:avLst/>
          </a:prstGeom>
          <a:solidFill>
            <a:srgbClr val="C8A84B">
              <a:alpha val="45000"/>
            </a:srgbClr>
          </a:solidFill>
          <a:ln/>
        </p:spPr>
      </p:sp>
      <p:sp>
        <p:nvSpPr>
          <p:cNvPr id="5" name="Shape 3"/>
          <p:cNvSpPr/>
          <p:nvPr/>
        </p:nvSpPr>
        <p:spPr>
          <a:xfrm>
            <a:off x="6311656" y="2043348"/>
            <a:ext cx="61847" cy="61847"/>
          </a:xfrm>
          <a:prstGeom prst="ellipse">
            <a:avLst/>
          </a:prstGeom>
          <a:solidFill>
            <a:srgbClr val="3A4A6B">
              <a:alpha val="45000"/>
            </a:srgbClr>
          </a:solidFill>
          <a:ln/>
        </p:spPr>
      </p:sp>
      <p:sp>
        <p:nvSpPr>
          <p:cNvPr id="6" name="Shape 4"/>
          <p:cNvSpPr/>
          <p:nvPr/>
        </p:nvSpPr>
        <p:spPr>
          <a:xfrm>
            <a:off x="7101362" y="1761949"/>
            <a:ext cx="38616" cy="38616"/>
          </a:xfrm>
          <a:prstGeom prst="ellipse">
            <a:avLst/>
          </a:prstGeom>
          <a:solidFill>
            <a:srgbClr val="C8A84B">
              <a:alpha val="45000"/>
            </a:srgbClr>
          </a:solidFill>
          <a:ln/>
        </p:spPr>
      </p:sp>
      <p:sp>
        <p:nvSpPr>
          <p:cNvPr id="7" name="Shape 5"/>
          <p:cNvSpPr/>
          <p:nvPr/>
        </p:nvSpPr>
        <p:spPr>
          <a:xfrm>
            <a:off x="9492586" y="266994"/>
            <a:ext cx="23664" cy="23664"/>
          </a:xfrm>
          <a:prstGeom prst="ellipse">
            <a:avLst/>
          </a:prstGeom>
          <a:solidFill>
            <a:srgbClr val="3A4A6B">
              <a:alpha val="45000"/>
            </a:srgbClr>
          </a:solidFill>
          <a:ln/>
        </p:spPr>
      </p:sp>
      <p:sp>
        <p:nvSpPr>
          <p:cNvPr id="8" name="Shape 6"/>
          <p:cNvSpPr/>
          <p:nvPr/>
        </p:nvSpPr>
        <p:spPr>
          <a:xfrm>
            <a:off x="6578784" y="4077817"/>
            <a:ext cx="38439" cy="38439"/>
          </a:xfrm>
          <a:prstGeom prst="ellipse">
            <a:avLst/>
          </a:prstGeom>
          <a:solidFill>
            <a:srgbClr val="C8A84B">
              <a:alpha val="45000"/>
            </a:srgbClr>
          </a:solidFill>
          <a:ln/>
        </p:spPr>
      </p:sp>
      <p:sp>
        <p:nvSpPr>
          <p:cNvPr id="9" name="Shape 7"/>
          <p:cNvSpPr/>
          <p:nvPr/>
        </p:nvSpPr>
        <p:spPr>
          <a:xfrm>
            <a:off x="4515788" y="5743751"/>
            <a:ext cx="51897" cy="51897"/>
          </a:xfrm>
          <a:prstGeom prst="ellipse">
            <a:avLst/>
          </a:prstGeom>
          <a:solidFill>
            <a:srgbClr val="3A4A6B">
              <a:alpha val="45000"/>
            </a:srgbClr>
          </a:solidFill>
          <a:ln/>
        </p:spPr>
      </p:sp>
      <p:sp>
        <p:nvSpPr>
          <p:cNvPr id="10" name="Shape 8"/>
          <p:cNvSpPr/>
          <p:nvPr/>
        </p:nvSpPr>
        <p:spPr>
          <a:xfrm>
            <a:off x="4955163" y="5942130"/>
            <a:ext cx="21140" cy="21140"/>
          </a:xfrm>
          <a:prstGeom prst="ellipse">
            <a:avLst/>
          </a:prstGeom>
          <a:solidFill>
            <a:srgbClr val="3A4A6B">
              <a:alpha val="45000"/>
            </a:srgbClr>
          </a:solidFill>
          <a:ln/>
        </p:spPr>
      </p:sp>
      <p:sp>
        <p:nvSpPr>
          <p:cNvPr id="11" name="Shape 9"/>
          <p:cNvSpPr/>
          <p:nvPr/>
        </p:nvSpPr>
        <p:spPr>
          <a:xfrm>
            <a:off x="7746765" y="5858287"/>
            <a:ext cx="53977" cy="53977"/>
          </a:xfrm>
          <a:prstGeom prst="ellipse">
            <a:avLst/>
          </a:prstGeom>
          <a:solidFill>
            <a:srgbClr val="3A4A6B">
              <a:alpha val="45000"/>
            </a:srgbClr>
          </a:solidFill>
          <a:ln/>
        </p:spPr>
      </p:sp>
      <p:sp>
        <p:nvSpPr>
          <p:cNvPr id="12" name="Shape 10"/>
          <p:cNvSpPr/>
          <p:nvPr/>
        </p:nvSpPr>
        <p:spPr>
          <a:xfrm>
            <a:off x="9587467" y="4137554"/>
            <a:ext cx="53324" cy="53324"/>
          </a:xfrm>
          <a:prstGeom prst="ellipse">
            <a:avLst/>
          </a:prstGeom>
          <a:solidFill>
            <a:srgbClr val="C8A84B">
              <a:alpha val="45000"/>
            </a:srgbClr>
          </a:solidFill>
          <a:ln/>
        </p:spPr>
      </p:sp>
      <p:sp>
        <p:nvSpPr>
          <p:cNvPr id="13" name="Shape 11"/>
          <p:cNvSpPr/>
          <p:nvPr/>
        </p:nvSpPr>
        <p:spPr>
          <a:xfrm>
            <a:off x="10777553" y="5267266"/>
            <a:ext cx="32163" cy="32163"/>
          </a:xfrm>
          <a:prstGeom prst="ellipse">
            <a:avLst/>
          </a:prstGeom>
          <a:solidFill>
            <a:srgbClr val="C8A84B">
              <a:alpha val="45000"/>
            </a:srgbClr>
          </a:solidFill>
          <a:ln/>
        </p:spPr>
      </p:sp>
      <p:sp>
        <p:nvSpPr>
          <p:cNvPr id="14" name="Shape 12"/>
          <p:cNvSpPr/>
          <p:nvPr/>
        </p:nvSpPr>
        <p:spPr>
          <a:xfrm>
            <a:off x="5761760" y="5098756"/>
            <a:ext cx="47503" cy="47503"/>
          </a:xfrm>
          <a:prstGeom prst="ellipse">
            <a:avLst/>
          </a:prstGeom>
          <a:solidFill>
            <a:srgbClr val="3A4A6B">
              <a:alpha val="45000"/>
            </a:srgbClr>
          </a:solidFill>
          <a:ln/>
        </p:spPr>
      </p:sp>
      <p:sp>
        <p:nvSpPr>
          <p:cNvPr id="15" name="Shape 13"/>
          <p:cNvSpPr/>
          <p:nvPr/>
        </p:nvSpPr>
        <p:spPr>
          <a:xfrm>
            <a:off x="6101040" y="1515357"/>
            <a:ext cx="27659" cy="27659"/>
          </a:xfrm>
          <a:prstGeom prst="ellipse">
            <a:avLst/>
          </a:prstGeom>
          <a:solidFill>
            <a:srgbClr val="3A4A6B">
              <a:alpha val="45000"/>
            </a:srgbClr>
          </a:solidFill>
          <a:ln/>
        </p:spPr>
      </p:sp>
      <p:sp>
        <p:nvSpPr>
          <p:cNvPr id="16" name="Shape 14"/>
          <p:cNvSpPr/>
          <p:nvPr/>
        </p:nvSpPr>
        <p:spPr>
          <a:xfrm>
            <a:off x="10744396" y="2814402"/>
            <a:ext cx="41493" cy="41493"/>
          </a:xfrm>
          <a:prstGeom prst="ellipse">
            <a:avLst/>
          </a:prstGeom>
          <a:solidFill>
            <a:srgbClr val="3A4A6B">
              <a:alpha val="45000"/>
            </a:srgbClr>
          </a:solidFill>
          <a:ln/>
        </p:spPr>
      </p:sp>
      <p:sp>
        <p:nvSpPr>
          <p:cNvPr id="17" name="Shape 15"/>
          <p:cNvSpPr/>
          <p:nvPr/>
        </p:nvSpPr>
        <p:spPr>
          <a:xfrm>
            <a:off x="8731448" y="6371225"/>
            <a:ext cx="49495" cy="49495"/>
          </a:xfrm>
          <a:prstGeom prst="ellipse">
            <a:avLst/>
          </a:prstGeom>
          <a:solidFill>
            <a:srgbClr val="3A4A6B">
              <a:alpha val="45000"/>
            </a:srgbClr>
          </a:solidFill>
          <a:ln/>
        </p:spPr>
      </p:sp>
      <p:sp>
        <p:nvSpPr>
          <p:cNvPr id="18" name="Shape 16"/>
          <p:cNvSpPr/>
          <p:nvPr/>
        </p:nvSpPr>
        <p:spPr>
          <a:xfrm>
            <a:off x="2164185" y="2449160"/>
            <a:ext cx="51099" cy="51099"/>
          </a:xfrm>
          <a:prstGeom prst="ellipse">
            <a:avLst/>
          </a:prstGeom>
          <a:solidFill>
            <a:srgbClr val="C8A84B">
              <a:alpha val="45000"/>
            </a:srgbClr>
          </a:solidFill>
          <a:ln/>
        </p:spPr>
      </p:sp>
      <p:sp>
        <p:nvSpPr>
          <p:cNvPr id="19" name="Shape 17"/>
          <p:cNvSpPr/>
          <p:nvPr/>
        </p:nvSpPr>
        <p:spPr>
          <a:xfrm>
            <a:off x="801853" y="3155538"/>
            <a:ext cx="33889" cy="33889"/>
          </a:xfrm>
          <a:prstGeom prst="ellipse">
            <a:avLst/>
          </a:prstGeom>
          <a:solidFill>
            <a:srgbClr val="C8A84B">
              <a:alpha val="45000"/>
            </a:srgbClr>
          </a:solidFill>
          <a:ln/>
        </p:spPr>
      </p:sp>
      <p:sp>
        <p:nvSpPr>
          <p:cNvPr id="20" name="Shape 18"/>
          <p:cNvSpPr/>
          <p:nvPr/>
        </p:nvSpPr>
        <p:spPr>
          <a:xfrm>
            <a:off x="440469" y="531695"/>
            <a:ext cx="44713" cy="44713"/>
          </a:xfrm>
          <a:prstGeom prst="ellipse">
            <a:avLst/>
          </a:prstGeom>
          <a:solidFill>
            <a:srgbClr val="3A4A6B">
              <a:alpha val="45000"/>
            </a:srgbClr>
          </a:solidFill>
          <a:ln/>
        </p:spPr>
      </p:sp>
      <p:sp>
        <p:nvSpPr>
          <p:cNvPr id="21" name="Shape 19"/>
          <p:cNvSpPr/>
          <p:nvPr/>
        </p:nvSpPr>
        <p:spPr>
          <a:xfrm>
            <a:off x="5884585" y="4652963"/>
            <a:ext cx="62687" cy="62687"/>
          </a:xfrm>
          <a:prstGeom prst="ellipse">
            <a:avLst/>
          </a:prstGeom>
          <a:solidFill>
            <a:srgbClr val="C8A84B">
              <a:alpha val="45000"/>
            </a:srgbClr>
          </a:solidFill>
          <a:ln/>
        </p:spPr>
      </p:sp>
      <p:sp>
        <p:nvSpPr>
          <p:cNvPr id="22" name="Shape 20"/>
          <p:cNvSpPr/>
          <p:nvPr/>
        </p:nvSpPr>
        <p:spPr>
          <a:xfrm>
            <a:off x="1219124" y="4004675"/>
            <a:ext cx="39833" cy="39833"/>
          </a:xfrm>
          <a:prstGeom prst="ellipse">
            <a:avLst/>
          </a:prstGeom>
          <a:solidFill>
            <a:srgbClr val="3A4A6B">
              <a:alpha val="45000"/>
            </a:srgbClr>
          </a:solidFill>
          <a:ln/>
        </p:spPr>
      </p:sp>
      <p:sp>
        <p:nvSpPr>
          <p:cNvPr id="23" name="Shape 21"/>
          <p:cNvSpPr/>
          <p:nvPr/>
        </p:nvSpPr>
        <p:spPr>
          <a:xfrm>
            <a:off x="1158024" y="5868164"/>
            <a:ext cx="63639" cy="63639"/>
          </a:xfrm>
          <a:prstGeom prst="ellipse">
            <a:avLst/>
          </a:prstGeom>
          <a:solidFill>
            <a:srgbClr val="C8A84B">
              <a:alpha val="45000"/>
            </a:srgbClr>
          </a:solidFill>
          <a:ln/>
        </p:spPr>
      </p:sp>
      <p:sp>
        <p:nvSpPr>
          <p:cNvPr id="24" name="Shape 22"/>
          <p:cNvSpPr/>
          <p:nvPr/>
        </p:nvSpPr>
        <p:spPr>
          <a:xfrm>
            <a:off x="1046877" y="5840765"/>
            <a:ext cx="47181" cy="47181"/>
          </a:xfrm>
          <a:prstGeom prst="ellipse">
            <a:avLst/>
          </a:prstGeom>
          <a:solidFill>
            <a:srgbClr val="C8A84B">
              <a:alpha val="45000"/>
            </a:srgbClr>
          </a:solidFill>
          <a:ln/>
        </p:spPr>
      </p:sp>
      <p:sp>
        <p:nvSpPr>
          <p:cNvPr id="25" name="Shape 23"/>
          <p:cNvSpPr/>
          <p:nvPr/>
        </p:nvSpPr>
        <p:spPr>
          <a:xfrm>
            <a:off x="7942367" y="3075811"/>
            <a:ext cx="44082" cy="44082"/>
          </a:xfrm>
          <a:prstGeom prst="ellipse">
            <a:avLst/>
          </a:prstGeom>
          <a:solidFill>
            <a:srgbClr val="C8A84B">
              <a:alpha val="45000"/>
            </a:srgbClr>
          </a:solidFill>
          <a:ln/>
        </p:spPr>
      </p:sp>
      <p:sp>
        <p:nvSpPr>
          <p:cNvPr id="26" name="Shape 24"/>
          <p:cNvSpPr/>
          <p:nvPr/>
        </p:nvSpPr>
        <p:spPr>
          <a:xfrm>
            <a:off x="6830272" y="6378634"/>
            <a:ext cx="45311" cy="45311"/>
          </a:xfrm>
          <a:prstGeom prst="ellipse">
            <a:avLst/>
          </a:prstGeom>
          <a:solidFill>
            <a:srgbClr val="3A4A6B">
              <a:alpha val="45000"/>
            </a:srgbClr>
          </a:solidFill>
          <a:ln/>
        </p:spPr>
      </p:sp>
      <p:sp>
        <p:nvSpPr>
          <p:cNvPr id="27" name="Shape 25"/>
          <p:cNvSpPr/>
          <p:nvPr/>
        </p:nvSpPr>
        <p:spPr>
          <a:xfrm>
            <a:off x="7920263" y="3726568"/>
            <a:ext cx="35062" cy="35062"/>
          </a:xfrm>
          <a:prstGeom prst="ellipse">
            <a:avLst/>
          </a:prstGeom>
          <a:solidFill>
            <a:srgbClr val="3A4A6B">
              <a:alpha val="45000"/>
            </a:srgbClr>
          </a:solidFill>
          <a:ln/>
        </p:spPr>
      </p:sp>
      <p:sp>
        <p:nvSpPr>
          <p:cNvPr id="28" name="Shape 26"/>
          <p:cNvSpPr/>
          <p:nvPr/>
        </p:nvSpPr>
        <p:spPr>
          <a:xfrm>
            <a:off x="4756224" y="4940947"/>
            <a:ext cx="31399" cy="31399"/>
          </a:xfrm>
          <a:prstGeom prst="ellipse">
            <a:avLst/>
          </a:prstGeom>
          <a:solidFill>
            <a:srgbClr val="3A4A6B">
              <a:alpha val="45000"/>
            </a:srgbClr>
          </a:solidFill>
          <a:ln/>
        </p:spPr>
      </p:sp>
      <p:sp>
        <p:nvSpPr>
          <p:cNvPr id="29" name="Shape 27"/>
          <p:cNvSpPr/>
          <p:nvPr/>
        </p:nvSpPr>
        <p:spPr>
          <a:xfrm>
            <a:off x="1241853" y="6635103"/>
            <a:ext cx="20209" cy="20209"/>
          </a:xfrm>
          <a:prstGeom prst="ellipse">
            <a:avLst/>
          </a:prstGeom>
          <a:solidFill>
            <a:srgbClr val="C8A84B">
              <a:alpha val="45000"/>
            </a:srgbClr>
          </a:solidFill>
          <a:ln/>
        </p:spPr>
      </p:sp>
      <p:sp>
        <p:nvSpPr>
          <p:cNvPr id="30" name="Shape 28"/>
          <p:cNvSpPr/>
          <p:nvPr/>
        </p:nvSpPr>
        <p:spPr>
          <a:xfrm>
            <a:off x="10289382" y="2882371"/>
            <a:ext cx="56810" cy="56810"/>
          </a:xfrm>
          <a:prstGeom prst="ellipse">
            <a:avLst/>
          </a:prstGeom>
          <a:solidFill>
            <a:srgbClr val="3A4A6B">
              <a:alpha val="45000"/>
            </a:srgbClr>
          </a:solidFill>
          <a:ln/>
        </p:spPr>
      </p:sp>
      <p:sp>
        <p:nvSpPr>
          <p:cNvPr id="31" name="Shape 29"/>
          <p:cNvSpPr/>
          <p:nvPr/>
        </p:nvSpPr>
        <p:spPr>
          <a:xfrm>
            <a:off x="11929894" y="456083"/>
            <a:ext cx="32262" cy="32262"/>
          </a:xfrm>
          <a:prstGeom prst="ellipse">
            <a:avLst/>
          </a:prstGeom>
          <a:solidFill>
            <a:srgbClr val="C8A84B">
              <a:alpha val="45000"/>
            </a:srgbClr>
          </a:solidFill>
          <a:ln/>
        </p:spPr>
      </p:sp>
      <p:sp>
        <p:nvSpPr>
          <p:cNvPr id="32" name="Shape 30"/>
          <p:cNvSpPr/>
          <p:nvPr/>
        </p:nvSpPr>
        <p:spPr>
          <a:xfrm>
            <a:off x="4661968" y="4351573"/>
            <a:ext cx="18815" cy="18815"/>
          </a:xfrm>
          <a:prstGeom prst="ellipse">
            <a:avLst/>
          </a:prstGeom>
          <a:solidFill>
            <a:srgbClr val="C8A84B">
              <a:alpha val="45000"/>
            </a:srgbClr>
          </a:solidFill>
          <a:ln/>
        </p:spPr>
      </p:sp>
      <p:sp>
        <p:nvSpPr>
          <p:cNvPr id="33" name="Shape 31"/>
          <p:cNvSpPr/>
          <p:nvPr/>
        </p:nvSpPr>
        <p:spPr>
          <a:xfrm>
            <a:off x="4100395" y="1022174"/>
            <a:ext cx="51464" cy="51464"/>
          </a:xfrm>
          <a:prstGeom prst="ellipse">
            <a:avLst/>
          </a:prstGeom>
          <a:solidFill>
            <a:srgbClr val="3A4A6B">
              <a:alpha val="45000"/>
            </a:srgbClr>
          </a:solidFill>
          <a:ln/>
        </p:spPr>
      </p:sp>
      <p:sp>
        <p:nvSpPr>
          <p:cNvPr id="34" name="Shape 32"/>
          <p:cNvSpPr/>
          <p:nvPr/>
        </p:nvSpPr>
        <p:spPr>
          <a:xfrm>
            <a:off x="1086498" y="1051219"/>
            <a:ext cx="31432" cy="31432"/>
          </a:xfrm>
          <a:prstGeom prst="ellipse">
            <a:avLst/>
          </a:prstGeom>
          <a:solidFill>
            <a:srgbClr val="C8A84B">
              <a:alpha val="45000"/>
            </a:srgbClr>
          </a:solidFill>
          <a:ln/>
        </p:spPr>
      </p:sp>
      <p:sp>
        <p:nvSpPr>
          <p:cNvPr id="35" name="Shape 33"/>
          <p:cNvSpPr/>
          <p:nvPr/>
        </p:nvSpPr>
        <p:spPr>
          <a:xfrm>
            <a:off x="875256" y="4100042"/>
            <a:ext cx="25887" cy="25887"/>
          </a:xfrm>
          <a:prstGeom prst="ellipse">
            <a:avLst/>
          </a:prstGeom>
          <a:solidFill>
            <a:srgbClr val="C8A84B">
              <a:alpha val="45000"/>
            </a:srgbClr>
          </a:solidFill>
          <a:ln/>
        </p:spPr>
      </p:sp>
      <p:sp>
        <p:nvSpPr>
          <p:cNvPr id="36" name="Shape 34"/>
          <p:cNvSpPr/>
          <p:nvPr/>
        </p:nvSpPr>
        <p:spPr>
          <a:xfrm>
            <a:off x="9622500" y="2717976"/>
            <a:ext cx="49505" cy="49505"/>
          </a:xfrm>
          <a:prstGeom prst="ellipse">
            <a:avLst/>
          </a:prstGeom>
          <a:solidFill>
            <a:srgbClr val="3A4A6B">
              <a:alpha val="45000"/>
            </a:srgbClr>
          </a:solidFill>
          <a:ln/>
        </p:spPr>
      </p:sp>
      <p:sp>
        <p:nvSpPr>
          <p:cNvPr id="37" name="Shape 35"/>
          <p:cNvSpPr/>
          <p:nvPr/>
        </p:nvSpPr>
        <p:spPr>
          <a:xfrm>
            <a:off x="4656755" y="4440355"/>
            <a:ext cx="59388" cy="59388"/>
          </a:xfrm>
          <a:prstGeom prst="ellipse">
            <a:avLst/>
          </a:prstGeom>
          <a:solidFill>
            <a:srgbClr val="3A4A6B">
              <a:alpha val="45000"/>
            </a:srgbClr>
          </a:solidFill>
          <a:ln/>
        </p:spPr>
      </p:sp>
      <p:sp>
        <p:nvSpPr>
          <p:cNvPr id="38" name="Shape 36"/>
          <p:cNvSpPr/>
          <p:nvPr/>
        </p:nvSpPr>
        <p:spPr>
          <a:xfrm>
            <a:off x="10150918" y="3594512"/>
            <a:ext cx="26186" cy="26186"/>
          </a:xfrm>
          <a:prstGeom prst="ellipse">
            <a:avLst/>
          </a:prstGeom>
          <a:solidFill>
            <a:srgbClr val="3A4A6B">
              <a:alpha val="45000"/>
            </a:srgbClr>
          </a:solidFill>
          <a:ln/>
        </p:spPr>
      </p:sp>
      <p:sp>
        <p:nvSpPr>
          <p:cNvPr id="39" name="Shape 37"/>
          <p:cNvSpPr/>
          <p:nvPr/>
        </p:nvSpPr>
        <p:spPr>
          <a:xfrm>
            <a:off x="10640339" y="5683779"/>
            <a:ext cx="35692" cy="35692"/>
          </a:xfrm>
          <a:prstGeom prst="ellipse">
            <a:avLst/>
          </a:prstGeom>
          <a:solidFill>
            <a:srgbClr val="C8A84B">
              <a:alpha val="45000"/>
            </a:srgbClr>
          </a:solidFill>
          <a:ln/>
        </p:spPr>
      </p:sp>
      <p:sp>
        <p:nvSpPr>
          <p:cNvPr id="40" name="Shape 38"/>
          <p:cNvSpPr/>
          <p:nvPr/>
        </p:nvSpPr>
        <p:spPr>
          <a:xfrm>
            <a:off x="6425305" y="1479491"/>
            <a:ext cx="55171" cy="55171"/>
          </a:xfrm>
          <a:prstGeom prst="ellipse">
            <a:avLst/>
          </a:prstGeom>
          <a:solidFill>
            <a:srgbClr val="C8A84B">
              <a:alpha val="45000"/>
            </a:srgbClr>
          </a:solidFill>
          <a:ln/>
        </p:spPr>
      </p:sp>
      <p:sp>
        <p:nvSpPr>
          <p:cNvPr id="41" name="Shape 39"/>
          <p:cNvSpPr/>
          <p:nvPr/>
        </p:nvSpPr>
        <p:spPr>
          <a:xfrm>
            <a:off x="4112072" y="548981"/>
            <a:ext cx="50191" cy="50191"/>
          </a:xfrm>
          <a:prstGeom prst="ellipse">
            <a:avLst/>
          </a:prstGeom>
          <a:solidFill>
            <a:srgbClr val="C8A84B">
              <a:alpha val="45000"/>
            </a:srgbClr>
          </a:solidFill>
          <a:ln/>
        </p:spPr>
      </p:sp>
      <p:sp>
        <p:nvSpPr>
          <p:cNvPr id="42" name="Shape 40"/>
          <p:cNvSpPr/>
          <p:nvPr/>
        </p:nvSpPr>
        <p:spPr>
          <a:xfrm>
            <a:off x="3100072" y="775582"/>
            <a:ext cx="40507" cy="40507"/>
          </a:xfrm>
          <a:prstGeom prst="ellipse">
            <a:avLst/>
          </a:prstGeom>
          <a:solidFill>
            <a:srgbClr val="3A4A6B">
              <a:alpha val="45000"/>
            </a:srgbClr>
          </a:solidFill>
          <a:ln/>
        </p:spPr>
      </p:sp>
      <p:sp>
        <p:nvSpPr>
          <p:cNvPr id="43" name="Shape 41"/>
          <p:cNvSpPr/>
          <p:nvPr/>
        </p:nvSpPr>
        <p:spPr>
          <a:xfrm>
            <a:off x="2338309" y="3598627"/>
            <a:ext cx="49261" cy="49261"/>
          </a:xfrm>
          <a:prstGeom prst="ellipse">
            <a:avLst/>
          </a:prstGeom>
          <a:solidFill>
            <a:srgbClr val="C8A84B">
              <a:alpha val="45000"/>
            </a:srgbClr>
          </a:solidFill>
          <a:ln/>
        </p:spPr>
      </p:sp>
      <p:sp>
        <p:nvSpPr>
          <p:cNvPr id="44" name="Shape 42"/>
          <p:cNvSpPr/>
          <p:nvPr/>
        </p:nvSpPr>
        <p:spPr>
          <a:xfrm>
            <a:off x="3027920" y="6393450"/>
            <a:ext cx="36943" cy="36943"/>
          </a:xfrm>
          <a:prstGeom prst="ellipse">
            <a:avLst/>
          </a:prstGeom>
          <a:solidFill>
            <a:srgbClr val="3A4A6B">
              <a:alpha val="45000"/>
            </a:srgbClr>
          </a:solidFill>
          <a:ln/>
        </p:spPr>
      </p:sp>
      <p:sp>
        <p:nvSpPr>
          <p:cNvPr id="45" name="Shape 43"/>
          <p:cNvSpPr/>
          <p:nvPr/>
        </p:nvSpPr>
        <p:spPr>
          <a:xfrm>
            <a:off x="7270898" y="6281385"/>
            <a:ext cx="48708" cy="48708"/>
          </a:xfrm>
          <a:prstGeom prst="ellipse">
            <a:avLst/>
          </a:prstGeom>
          <a:solidFill>
            <a:srgbClr val="3A4A6B">
              <a:alpha val="45000"/>
            </a:srgbClr>
          </a:solidFill>
          <a:ln/>
        </p:spPr>
      </p:sp>
      <p:sp>
        <p:nvSpPr>
          <p:cNvPr id="46" name="Shape 44"/>
          <p:cNvSpPr/>
          <p:nvPr/>
        </p:nvSpPr>
        <p:spPr>
          <a:xfrm>
            <a:off x="503446" y="1653763"/>
            <a:ext cx="26418" cy="26418"/>
          </a:xfrm>
          <a:prstGeom prst="ellipse">
            <a:avLst/>
          </a:prstGeom>
          <a:solidFill>
            <a:srgbClr val="3A4A6B">
              <a:alpha val="45000"/>
            </a:srgbClr>
          </a:solidFill>
          <a:ln/>
        </p:spPr>
      </p:sp>
      <p:sp>
        <p:nvSpPr>
          <p:cNvPr id="47" name="Shape 45"/>
          <p:cNvSpPr/>
          <p:nvPr/>
        </p:nvSpPr>
        <p:spPr>
          <a:xfrm>
            <a:off x="2844622" y="5125920"/>
            <a:ext cx="62642" cy="62642"/>
          </a:xfrm>
          <a:prstGeom prst="ellipse">
            <a:avLst/>
          </a:prstGeom>
          <a:solidFill>
            <a:srgbClr val="3A4A6B">
              <a:alpha val="45000"/>
            </a:srgbClr>
          </a:solidFill>
          <a:ln/>
        </p:spPr>
      </p:sp>
      <p:sp>
        <p:nvSpPr>
          <p:cNvPr id="48" name="Shape 46"/>
          <p:cNvSpPr/>
          <p:nvPr/>
        </p:nvSpPr>
        <p:spPr>
          <a:xfrm>
            <a:off x="6937457" y="6199188"/>
            <a:ext cx="45055" cy="45055"/>
          </a:xfrm>
          <a:prstGeom prst="ellipse">
            <a:avLst/>
          </a:prstGeom>
          <a:solidFill>
            <a:srgbClr val="C8A84B">
              <a:alpha val="45000"/>
            </a:srgbClr>
          </a:solidFill>
          <a:ln/>
        </p:spPr>
      </p:sp>
      <p:sp>
        <p:nvSpPr>
          <p:cNvPr id="49" name="Shape 47"/>
          <p:cNvSpPr/>
          <p:nvPr/>
        </p:nvSpPr>
        <p:spPr>
          <a:xfrm>
            <a:off x="9028396" y="216900"/>
            <a:ext cx="62841" cy="62841"/>
          </a:xfrm>
          <a:prstGeom prst="ellipse">
            <a:avLst/>
          </a:prstGeom>
          <a:solidFill>
            <a:srgbClr val="3A4A6B">
              <a:alpha val="45000"/>
            </a:srgbClr>
          </a:solidFill>
          <a:ln/>
        </p:spPr>
      </p:sp>
      <p:sp>
        <p:nvSpPr>
          <p:cNvPr id="50" name="Shape 48"/>
          <p:cNvSpPr/>
          <p:nvPr/>
        </p:nvSpPr>
        <p:spPr>
          <a:xfrm>
            <a:off x="11669856" y="1318389"/>
            <a:ext cx="20607" cy="20607"/>
          </a:xfrm>
          <a:prstGeom prst="ellipse">
            <a:avLst/>
          </a:prstGeom>
          <a:solidFill>
            <a:srgbClr val="3A4A6B">
              <a:alpha val="45000"/>
            </a:srgbClr>
          </a:solidFill>
          <a:ln/>
        </p:spPr>
      </p:sp>
      <p:sp>
        <p:nvSpPr>
          <p:cNvPr id="51" name="Shape 49"/>
          <p:cNvSpPr/>
          <p:nvPr/>
        </p:nvSpPr>
        <p:spPr>
          <a:xfrm>
            <a:off x="10207429" y="5100990"/>
            <a:ext cx="60029" cy="60029"/>
          </a:xfrm>
          <a:prstGeom prst="ellipse">
            <a:avLst/>
          </a:prstGeom>
          <a:solidFill>
            <a:srgbClr val="3A4A6B">
              <a:alpha val="45000"/>
            </a:srgbClr>
          </a:solidFill>
          <a:ln/>
        </p:spPr>
      </p:sp>
      <p:sp>
        <p:nvSpPr>
          <p:cNvPr id="52" name="Shape 50"/>
          <p:cNvSpPr/>
          <p:nvPr/>
        </p:nvSpPr>
        <p:spPr>
          <a:xfrm>
            <a:off x="11697799" y="3860036"/>
            <a:ext cx="51850" cy="51850"/>
          </a:xfrm>
          <a:prstGeom prst="ellipse">
            <a:avLst/>
          </a:prstGeom>
          <a:solidFill>
            <a:srgbClr val="3A4A6B">
              <a:alpha val="45000"/>
            </a:srgbClr>
          </a:solidFill>
          <a:ln/>
        </p:spPr>
      </p:sp>
      <p:sp>
        <p:nvSpPr>
          <p:cNvPr id="53" name="Shape 51"/>
          <p:cNvSpPr/>
          <p:nvPr/>
        </p:nvSpPr>
        <p:spPr>
          <a:xfrm>
            <a:off x="1126744" y="6400859"/>
            <a:ext cx="32759" cy="32759"/>
          </a:xfrm>
          <a:prstGeom prst="ellipse">
            <a:avLst/>
          </a:prstGeom>
          <a:solidFill>
            <a:srgbClr val="3A4A6B">
              <a:alpha val="45000"/>
            </a:srgbClr>
          </a:solidFill>
          <a:ln/>
        </p:spPr>
      </p:sp>
      <p:sp>
        <p:nvSpPr>
          <p:cNvPr id="54" name="Shape 52"/>
          <p:cNvSpPr/>
          <p:nvPr/>
        </p:nvSpPr>
        <p:spPr>
          <a:xfrm>
            <a:off x="865455" y="700793"/>
            <a:ext cx="32670" cy="32670"/>
          </a:xfrm>
          <a:prstGeom prst="ellipse">
            <a:avLst/>
          </a:prstGeom>
          <a:solidFill>
            <a:srgbClr val="C8A84B">
              <a:alpha val="45000"/>
            </a:srgbClr>
          </a:solidFill>
          <a:ln/>
        </p:spPr>
      </p:sp>
      <p:sp>
        <p:nvSpPr>
          <p:cNvPr id="55" name="Shape 53"/>
          <p:cNvSpPr/>
          <p:nvPr/>
        </p:nvSpPr>
        <p:spPr>
          <a:xfrm>
            <a:off x="4457816" y="3439172"/>
            <a:ext cx="23927" cy="23927"/>
          </a:xfrm>
          <a:prstGeom prst="ellipse">
            <a:avLst/>
          </a:prstGeom>
          <a:solidFill>
            <a:srgbClr val="3A4A6B">
              <a:alpha val="45000"/>
            </a:srgbClr>
          </a:solidFill>
          <a:ln/>
        </p:spPr>
      </p:sp>
      <p:sp>
        <p:nvSpPr>
          <p:cNvPr id="56" name="Shape 54"/>
          <p:cNvSpPr/>
          <p:nvPr/>
        </p:nvSpPr>
        <p:spPr>
          <a:xfrm>
            <a:off x="3646006" y="4371328"/>
            <a:ext cx="38138" cy="38138"/>
          </a:xfrm>
          <a:prstGeom prst="ellipse">
            <a:avLst/>
          </a:prstGeom>
          <a:solidFill>
            <a:srgbClr val="C8A84B">
              <a:alpha val="45000"/>
            </a:srgbClr>
          </a:solidFill>
          <a:ln/>
        </p:spPr>
      </p:sp>
      <p:sp>
        <p:nvSpPr>
          <p:cNvPr id="57" name="Shape 55"/>
          <p:cNvSpPr/>
          <p:nvPr/>
        </p:nvSpPr>
        <p:spPr>
          <a:xfrm>
            <a:off x="11342254" y="4428596"/>
            <a:ext cx="39178" cy="39178"/>
          </a:xfrm>
          <a:prstGeom prst="ellipse">
            <a:avLst/>
          </a:prstGeom>
          <a:solidFill>
            <a:srgbClr val="3A4A6B">
              <a:alpha val="45000"/>
            </a:srgbClr>
          </a:solidFill>
          <a:ln/>
        </p:spPr>
      </p:sp>
      <p:sp>
        <p:nvSpPr>
          <p:cNvPr id="58" name="Shape 56"/>
          <p:cNvSpPr/>
          <p:nvPr/>
        </p:nvSpPr>
        <p:spPr>
          <a:xfrm>
            <a:off x="7577647" y="3526308"/>
            <a:ext cx="55270" cy="55270"/>
          </a:xfrm>
          <a:prstGeom prst="ellipse">
            <a:avLst/>
          </a:prstGeom>
          <a:solidFill>
            <a:srgbClr val="C8A84B">
              <a:alpha val="45000"/>
            </a:srgbClr>
          </a:solidFill>
          <a:ln/>
        </p:spPr>
      </p:sp>
      <p:sp>
        <p:nvSpPr>
          <p:cNvPr id="59" name="Shape 57"/>
          <p:cNvSpPr/>
          <p:nvPr/>
        </p:nvSpPr>
        <p:spPr>
          <a:xfrm>
            <a:off x="3012280" y="6659798"/>
            <a:ext cx="21503" cy="21503"/>
          </a:xfrm>
          <a:prstGeom prst="ellipse">
            <a:avLst/>
          </a:prstGeom>
          <a:solidFill>
            <a:srgbClr val="3A4A6B">
              <a:alpha val="45000"/>
            </a:srgbClr>
          </a:solidFill>
          <a:ln/>
        </p:spPr>
      </p:sp>
      <p:sp>
        <p:nvSpPr>
          <p:cNvPr id="60" name="Shape 58"/>
          <p:cNvSpPr/>
          <p:nvPr/>
        </p:nvSpPr>
        <p:spPr>
          <a:xfrm>
            <a:off x="1099427" y="282399"/>
            <a:ext cx="18592" cy="18592"/>
          </a:xfrm>
          <a:prstGeom prst="ellipse">
            <a:avLst/>
          </a:prstGeom>
          <a:solidFill>
            <a:srgbClr val="3A4A6B">
              <a:alpha val="45000"/>
            </a:srgbClr>
          </a:solidFill>
          <a:ln/>
        </p:spPr>
      </p:sp>
      <p:sp>
        <p:nvSpPr>
          <p:cNvPr id="61" name="Shape 59"/>
          <p:cNvSpPr/>
          <p:nvPr/>
        </p:nvSpPr>
        <p:spPr>
          <a:xfrm>
            <a:off x="4841930" y="1835444"/>
            <a:ext cx="39200" cy="39200"/>
          </a:xfrm>
          <a:prstGeom prst="ellipse">
            <a:avLst/>
          </a:prstGeom>
          <a:solidFill>
            <a:srgbClr val="3A4A6B">
              <a:alpha val="45000"/>
            </a:srgbClr>
          </a:solidFill>
          <a:ln/>
        </p:spPr>
      </p:sp>
      <p:sp>
        <p:nvSpPr>
          <p:cNvPr id="62" name="Shape 60"/>
          <p:cNvSpPr/>
          <p:nvPr/>
        </p:nvSpPr>
        <p:spPr>
          <a:xfrm>
            <a:off x="8869680" y="-1280160"/>
            <a:ext cx="4754880" cy="4754880"/>
          </a:xfrm>
          <a:prstGeom prst="ellipse">
            <a:avLst/>
          </a:prstGeom>
          <a:solidFill>
            <a:srgbClr val="161F38">
              <a:alpha val="70000"/>
            </a:srgbClr>
          </a:solidFill>
          <a:ln/>
        </p:spPr>
      </p:sp>
      <p:sp>
        <p:nvSpPr>
          <p:cNvPr id="63" name="Shape 61"/>
          <p:cNvSpPr/>
          <p:nvPr/>
        </p:nvSpPr>
        <p:spPr>
          <a:xfrm>
            <a:off x="9601200" y="-548640"/>
            <a:ext cx="3291840" cy="3291840"/>
          </a:xfrm>
          <a:prstGeom prst="ellipse">
            <a:avLst/>
          </a:prstGeom>
          <a:ln w="15875">
            <a:solidFill>
              <a:srgbClr val="C8A84B">
                <a:alpha val="70000"/>
              </a:srgbClr>
            </a:solidFill>
            <a:prstDash val="solid"/>
          </a:ln>
        </p:spPr>
      </p:sp>
      <p:sp>
        <p:nvSpPr>
          <p:cNvPr id="64" name="Shape 62"/>
          <p:cNvSpPr/>
          <p:nvPr/>
        </p:nvSpPr>
        <p:spPr>
          <a:xfrm>
            <a:off x="10195560" y="45720"/>
            <a:ext cx="2103120" cy="2103120"/>
          </a:xfrm>
          <a:prstGeom prst="ellipse">
            <a:avLst/>
          </a:prstGeom>
          <a:ln w="12700">
            <a:solidFill>
              <a:srgbClr val="5FBFD6">
                <a:alpha val="55000"/>
              </a:srgbClr>
            </a:solidFill>
            <a:prstDash val="solid"/>
          </a:ln>
        </p:spPr>
      </p:sp>
      <p:sp>
        <p:nvSpPr>
          <p:cNvPr id="65" name="Text 63"/>
          <p:cNvSpPr/>
          <p:nvPr/>
        </p:nvSpPr>
        <p:spPr>
          <a:xfrm>
            <a:off x="640080" y="1965960"/>
            <a:ext cx="9144000" cy="365760"/>
          </a:xfrm>
          <a:prstGeom prst="rect">
            <a:avLst/>
          </a:prstGeom>
          <a:noFill/>
          <a:ln/>
        </p:spPr>
        <p:txBody>
          <a:bodyPr wrap="square" lIns="0" tIns="0" rIns="0" bIns="0" rtlCol="0" anchor="ctr"/>
          <a:lstStyle/>
          <a:p>
            <a:pPr indent="0" marL="0">
              <a:buNone/>
            </a:pPr>
            <a:r>
              <a:rPr lang="en-US" sz="1400" b="1" spc="300" kern="0" dirty="0">
                <a:solidFill>
                  <a:srgbClr val="C8A84B"/>
                </a:solidFill>
                <a:latin typeface="Arial" pitchFamily="34" charset="0"/>
                <a:ea typeface="Arial" pitchFamily="34" charset="-122"/>
                <a:cs typeface="Arial" pitchFamily="34" charset="-120"/>
              </a:rPr>
              <a:t>MACHINE LEARNING CAPSTONE</a:t>
            </a:r>
            <a:endParaRPr lang="en-US" sz="1400" dirty="0"/>
          </a:p>
        </p:txBody>
      </p:sp>
      <p:sp>
        <p:nvSpPr>
          <p:cNvPr id="66" name="Text 64"/>
          <p:cNvSpPr/>
          <p:nvPr/>
        </p:nvSpPr>
        <p:spPr>
          <a:xfrm>
            <a:off x="603504" y="2377440"/>
            <a:ext cx="10698480" cy="1097280"/>
          </a:xfrm>
          <a:prstGeom prst="rect">
            <a:avLst/>
          </a:prstGeom>
          <a:noFill/>
          <a:ln/>
        </p:spPr>
        <p:txBody>
          <a:bodyPr wrap="square" lIns="0" tIns="0" rIns="0" bIns="0" rtlCol="0" anchor="ctr"/>
          <a:lstStyle/>
          <a:p>
            <a:pPr indent="0" marL="0">
              <a:buNone/>
            </a:pPr>
            <a:r>
              <a:rPr lang="en-US" sz="5000" b="1" dirty="0">
                <a:solidFill>
                  <a:srgbClr val="EAECF2"/>
                </a:solidFill>
                <a:latin typeface="Arial" pitchFamily="34" charset="0"/>
                <a:ea typeface="Arial" pitchFamily="34" charset="-122"/>
                <a:cs typeface="Arial" pitchFamily="34" charset="-120"/>
              </a:rPr>
              <a:t>UFO Witness Report Analyzer</a:t>
            </a:r>
            <a:endParaRPr lang="en-US" sz="5000" dirty="0"/>
          </a:p>
        </p:txBody>
      </p:sp>
      <p:sp>
        <p:nvSpPr>
          <p:cNvPr id="67" name="Text 65"/>
          <p:cNvSpPr/>
          <p:nvPr/>
        </p:nvSpPr>
        <p:spPr>
          <a:xfrm>
            <a:off x="640080" y="3611880"/>
            <a:ext cx="9692640" cy="548640"/>
          </a:xfrm>
          <a:prstGeom prst="rect">
            <a:avLst/>
          </a:prstGeom>
          <a:noFill/>
          <a:ln/>
        </p:spPr>
        <p:txBody>
          <a:bodyPr wrap="square" lIns="0" tIns="0" rIns="0" bIns="0" rtlCol="0" anchor="ctr"/>
          <a:lstStyle/>
          <a:p>
            <a:pPr indent="0" marL="0">
              <a:buNone/>
            </a:pPr>
            <a:r>
              <a:rPr lang="en-US" sz="2000" i="1" dirty="0">
                <a:solidFill>
                  <a:srgbClr val="9AA6C0"/>
                </a:solidFill>
                <a:latin typeface="Calibri" pitchFamily="34" charset="0"/>
                <a:ea typeface="Calibri" pitchFamily="34" charset="-122"/>
                <a:cs typeface="Calibri" pitchFamily="34" charset="-120"/>
              </a:rPr>
              <a:t>Paste in what someone saw. The model guesses the shape.</a:t>
            </a:r>
            <a:endParaRPr lang="en-US" sz="2000" dirty="0"/>
          </a:p>
        </p:txBody>
      </p:sp>
      <p:sp>
        <p:nvSpPr>
          <p:cNvPr id="68" name="Text 66"/>
          <p:cNvSpPr/>
          <p:nvPr/>
        </p:nvSpPr>
        <p:spPr>
          <a:xfrm>
            <a:off x="640080" y="4754880"/>
            <a:ext cx="10058400" cy="1005840"/>
          </a:xfrm>
          <a:prstGeom prst="rect">
            <a:avLst/>
          </a:prstGeom>
          <a:noFill/>
          <a:ln/>
        </p:spPr>
        <p:txBody>
          <a:bodyPr wrap="square" lIns="0" tIns="0" rIns="0" bIns="0" rtlCol="0" anchor="ctr"/>
          <a:lstStyle/>
          <a:p>
            <a:pPr indent="0" marL="0">
              <a:lnSpc>
                <a:spcPct val="115000"/>
              </a:lnSpc>
              <a:buNone/>
            </a:pPr>
            <a:r>
              <a:rPr lang="en-US" sz="1600" b="1" dirty="0">
                <a:solidFill>
                  <a:srgbClr val="EAECF2"/>
                </a:solidFill>
                <a:latin typeface="Calibri" pitchFamily="34" charset="0"/>
                <a:ea typeface="Calibri" pitchFamily="34" charset="-122"/>
                <a:cs typeface="Calibri" pitchFamily="34" charset="-120"/>
              </a:rPr>
              <a:t>Sammuel Hinton</a:t>
            </a:r>
            <a:pPr indent="0" marL="0">
              <a:lnSpc>
                <a:spcPct val="115000"/>
              </a:lnSpc>
              <a:buNone/>
            </a:pPr>
            <a:endParaRPr lang="en-US" sz="1600" dirty="0"/>
          </a:p>
          <a:p>
            <a:pPr indent="0" marL="0">
              <a:lnSpc>
                <a:spcPct val="115000"/>
              </a:lnSpc>
              <a:buNone/>
            </a:pPr>
            <a:r>
              <a:rPr lang="en-US" sz="1300" dirty="0">
                <a:solidFill>
                  <a:srgbClr val="9AA6C0"/>
                </a:solidFill>
                <a:latin typeface="Calibri" pitchFamily="34" charset="0"/>
                <a:ea typeface="Calibri" pitchFamily="34" charset="-122"/>
                <a:cs typeface="Calibri" pitchFamily="34" charset="-120"/>
              </a:rPr>
              <a:t> ICT 890-015 — Machine Learning &amp; AI Bootcamp</a:t>
            </a:r>
            <a:endParaRPr lang="en-US" sz="1600" dirty="0"/>
          </a:p>
          <a:p>
            <a:pPr indent="0" marL="0">
              <a:lnSpc>
                <a:spcPct val="115000"/>
              </a:lnSpc>
              <a:buNone/>
            </a:pPr>
            <a:endParaRPr lang="en-US" sz="1600" dirty="0"/>
          </a:p>
          <a:p>
            <a:pPr indent="0" marL="0">
              <a:lnSpc>
                <a:spcPct val="115000"/>
              </a:lnSpc>
              <a:buNone/>
            </a:pPr>
            <a:r>
              <a:rPr lang="en-US" sz="1300" dirty="0">
                <a:solidFill>
                  <a:srgbClr val="9AA6C0"/>
                </a:solidFill>
                <a:latin typeface="Calibri" pitchFamily="34" charset="0"/>
                <a:ea typeface="Calibri" pitchFamily="34" charset="-122"/>
                <a:cs typeface="Calibri" pitchFamily="34" charset="-120"/>
              </a:rPr>
              <a:t> University of Calgary Continuing Education  ·  delivered by RoboGarden</a:t>
            </a:r>
            <a:endParaRPr lang="en-US" sz="1600" dirty="0"/>
          </a:p>
        </p:txBody>
      </p:sp>
      <p:sp>
        <p:nvSpPr>
          <p:cNvPr id="70" name="Text 67"/>
          <p:cNvSpPr/>
          <p:nvPr/>
        </p:nvSpPr>
        <p:spPr>
          <a:xfrm>
            <a:off x="548640" y="6428232"/>
            <a:ext cx="6400800" cy="274320"/>
          </a:xfrm>
          <a:prstGeom prst="rect">
            <a:avLst/>
          </a:prstGeom>
          <a:noFill/>
          <a:ln/>
        </p:spPr>
        <p:txBody>
          <a:bodyPr wrap="square" lIns="0" tIns="0" rIns="0" bIns="0" rtlCol="0" anchor="ctr"/>
          <a:lstStyle/>
          <a:p>
            <a:pPr indent="0" marL="0">
              <a:buNone/>
            </a:pPr>
            <a:r>
              <a:rPr lang="en-US" sz="900" dirty="0">
                <a:solidFill>
                  <a:srgbClr val="9AA6C0"/>
                </a:solidFill>
                <a:latin typeface="Calibri" pitchFamily="34" charset="0"/>
                <a:ea typeface="Calibri" pitchFamily="34" charset="-122"/>
                <a:cs typeface="Calibri" pitchFamily="34" charset="-120"/>
              </a:rPr>
              <a:t>UFO Witness Report Analyzer</a:t>
            </a:r>
            <a:endParaRPr lang="en-US" sz="900" dirty="0"/>
          </a:p>
        </p:txBody>
      </p:sp>
      <p:sp>
        <p:nvSpPr>
          <p:cNvPr id="71" name="Text 68"/>
          <p:cNvSpPr/>
          <p:nvPr/>
        </p:nvSpPr>
        <p:spPr>
          <a:xfrm>
            <a:off x="11430000" y="6428232"/>
            <a:ext cx="365760" cy="274320"/>
          </a:xfrm>
          <a:prstGeom prst="rect">
            <a:avLst/>
          </a:prstGeom>
          <a:noFill/>
          <a:ln/>
        </p:spPr>
        <p:txBody>
          <a:bodyPr wrap="square" lIns="0" tIns="0" rIns="0" bIns="0" rtlCol="0" anchor="ctr"/>
          <a:lstStyle/>
          <a:p>
            <a:pPr algn="r" indent="0" marL="0">
              <a:buNone/>
            </a:pPr>
            <a:r>
              <a:rPr lang="en-US" sz="900" dirty="0">
                <a:solidFill>
                  <a:srgbClr val="9AA6C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2640887" y="6400976"/>
            <a:ext cx="33418" cy="33418"/>
          </a:xfrm>
          <a:prstGeom prst="ellipse">
            <a:avLst/>
          </a:prstGeom>
          <a:solidFill>
            <a:srgbClr val="3A4A6B">
              <a:alpha val="45000"/>
            </a:srgbClr>
          </a:solidFill>
          <a:ln/>
        </p:spPr>
      </p:sp>
      <p:sp>
        <p:nvSpPr>
          <p:cNvPr id="3" name="Shape 1"/>
          <p:cNvSpPr/>
          <p:nvPr/>
        </p:nvSpPr>
        <p:spPr>
          <a:xfrm>
            <a:off x="3080262" y="6599355"/>
            <a:ext cx="48382" cy="48382"/>
          </a:xfrm>
          <a:prstGeom prst="ellipse">
            <a:avLst/>
          </a:prstGeom>
          <a:solidFill>
            <a:srgbClr val="3A4A6B">
              <a:alpha val="45000"/>
            </a:srgbClr>
          </a:solidFill>
          <a:ln/>
        </p:spPr>
      </p:sp>
      <p:sp>
        <p:nvSpPr>
          <p:cNvPr id="4" name="Shape 2"/>
          <p:cNvSpPr/>
          <p:nvPr/>
        </p:nvSpPr>
        <p:spPr>
          <a:xfrm>
            <a:off x="5871864" y="6515512"/>
            <a:ext cx="35499" cy="35499"/>
          </a:xfrm>
          <a:prstGeom prst="ellipse">
            <a:avLst/>
          </a:prstGeom>
          <a:solidFill>
            <a:srgbClr val="C8A84B">
              <a:alpha val="45000"/>
            </a:srgbClr>
          </a:solidFill>
          <a:ln/>
        </p:spPr>
      </p:sp>
      <p:sp>
        <p:nvSpPr>
          <p:cNvPr id="5" name="Shape 3"/>
          <p:cNvSpPr/>
          <p:nvPr/>
        </p:nvSpPr>
        <p:spPr>
          <a:xfrm>
            <a:off x="7712566" y="4794779"/>
            <a:ext cx="34846" cy="34846"/>
          </a:xfrm>
          <a:prstGeom prst="ellipse">
            <a:avLst/>
          </a:prstGeom>
          <a:solidFill>
            <a:srgbClr val="3A4A6B">
              <a:alpha val="45000"/>
            </a:srgbClr>
          </a:solidFill>
          <a:ln/>
        </p:spPr>
      </p:sp>
      <p:sp>
        <p:nvSpPr>
          <p:cNvPr id="6" name="Shape 4"/>
          <p:cNvSpPr/>
          <p:nvPr/>
        </p:nvSpPr>
        <p:spPr>
          <a:xfrm>
            <a:off x="8902652" y="5924491"/>
            <a:ext cx="59405" cy="59405"/>
          </a:xfrm>
          <a:prstGeom prst="ellipse">
            <a:avLst/>
          </a:prstGeom>
          <a:solidFill>
            <a:srgbClr val="3A4A6B">
              <a:alpha val="45000"/>
            </a:srgbClr>
          </a:solidFill>
          <a:ln/>
        </p:spPr>
      </p:sp>
      <p:sp>
        <p:nvSpPr>
          <p:cNvPr id="7" name="Shape 5"/>
          <p:cNvSpPr/>
          <p:nvPr/>
        </p:nvSpPr>
        <p:spPr>
          <a:xfrm>
            <a:off x="3886859" y="5755981"/>
            <a:ext cx="29024" cy="29024"/>
          </a:xfrm>
          <a:prstGeom prst="ellipse">
            <a:avLst/>
          </a:prstGeom>
          <a:solidFill>
            <a:srgbClr val="C8A84B">
              <a:alpha val="45000"/>
            </a:srgbClr>
          </a:solidFill>
          <a:ln/>
        </p:spPr>
      </p:sp>
      <p:sp>
        <p:nvSpPr>
          <p:cNvPr id="8" name="Shape 6"/>
          <p:cNvSpPr/>
          <p:nvPr/>
        </p:nvSpPr>
        <p:spPr>
          <a:xfrm>
            <a:off x="4226139" y="2172582"/>
            <a:ext cx="54900" cy="54900"/>
          </a:xfrm>
          <a:prstGeom prst="ellipse">
            <a:avLst/>
          </a:prstGeom>
          <a:solidFill>
            <a:srgbClr val="C8A84B">
              <a:alpha val="45000"/>
            </a:srgbClr>
          </a:solidFill>
          <a:ln/>
        </p:spPr>
      </p:sp>
      <p:sp>
        <p:nvSpPr>
          <p:cNvPr id="9" name="Shape 7"/>
          <p:cNvSpPr/>
          <p:nvPr/>
        </p:nvSpPr>
        <p:spPr>
          <a:xfrm>
            <a:off x="8869495" y="3471627"/>
            <a:ext cx="23014" cy="23014"/>
          </a:xfrm>
          <a:prstGeom prst="ellipse">
            <a:avLst/>
          </a:prstGeom>
          <a:solidFill>
            <a:srgbClr val="3A4A6B">
              <a:alpha val="45000"/>
            </a:srgbClr>
          </a:solidFill>
          <a:ln/>
        </p:spPr>
      </p:sp>
      <p:sp>
        <p:nvSpPr>
          <p:cNvPr id="10" name="Shape 8"/>
          <p:cNvSpPr/>
          <p:nvPr/>
        </p:nvSpPr>
        <p:spPr>
          <a:xfrm>
            <a:off x="6856547" y="170450"/>
            <a:ext cx="31016" cy="31016"/>
          </a:xfrm>
          <a:prstGeom prst="ellipse">
            <a:avLst/>
          </a:prstGeom>
          <a:solidFill>
            <a:srgbClr val="3A4A6B">
              <a:alpha val="45000"/>
            </a:srgbClr>
          </a:solidFill>
          <a:ln/>
        </p:spPr>
      </p:sp>
      <p:sp>
        <p:nvSpPr>
          <p:cNvPr id="11" name="Shape 9"/>
          <p:cNvSpPr/>
          <p:nvPr/>
        </p:nvSpPr>
        <p:spPr>
          <a:xfrm>
            <a:off x="289284" y="3106385"/>
            <a:ext cx="32621" cy="32621"/>
          </a:xfrm>
          <a:prstGeom prst="ellipse">
            <a:avLst/>
          </a:prstGeom>
          <a:solidFill>
            <a:srgbClr val="3A4A6B">
              <a:alpha val="45000"/>
            </a:srgbClr>
          </a:solidFill>
          <a:ln/>
        </p:spPr>
      </p:sp>
      <p:sp>
        <p:nvSpPr>
          <p:cNvPr id="12" name="Shape 10"/>
          <p:cNvSpPr/>
          <p:nvPr/>
        </p:nvSpPr>
        <p:spPr>
          <a:xfrm>
            <a:off x="11088472" y="3812763"/>
            <a:ext cx="61131" cy="61131"/>
          </a:xfrm>
          <a:prstGeom prst="ellipse">
            <a:avLst/>
          </a:prstGeom>
          <a:solidFill>
            <a:srgbClr val="3A4A6B">
              <a:alpha val="45000"/>
            </a:srgbClr>
          </a:solidFill>
          <a:ln/>
        </p:spPr>
      </p:sp>
      <p:sp>
        <p:nvSpPr>
          <p:cNvPr id="13" name="Shape 11"/>
          <p:cNvSpPr/>
          <p:nvPr/>
        </p:nvSpPr>
        <p:spPr>
          <a:xfrm>
            <a:off x="10727088" y="1188920"/>
            <a:ext cx="26235" cy="26235"/>
          </a:xfrm>
          <a:prstGeom prst="ellipse">
            <a:avLst/>
          </a:prstGeom>
          <a:solidFill>
            <a:srgbClr val="C8A84B">
              <a:alpha val="45000"/>
            </a:srgbClr>
          </a:solidFill>
          <a:ln/>
        </p:spPr>
      </p:sp>
      <p:sp>
        <p:nvSpPr>
          <p:cNvPr id="14" name="Shape 12"/>
          <p:cNvSpPr/>
          <p:nvPr/>
        </p:nvSpPr>
        <p:spPr>
          <a:xfrm>
            <a:off x="4009684" y="5310188"/>
            <a:ext cx="44209" cy="44209"/>
          </a:xfrm>
          <a:prstGeom prst="ellipse">
            <a:avLst/>
          </a:prstGeom>
          <a:solidFill>
            <a:srgbClr val="3A4A6B">
              <a:alpha val="45000"/>
            </a:srgbClr>
          </a:solidFill>
          <a:ln/>
        </p:spPr>
      </p:sp>
      <p:sp>
        <p:nvSpPr>
          <p:cNvPr id="15" name="Shape 13"/>
          <p:cNvSpPr/>
          <p:nvPr/>
        </p:nvSpPr>
        <p:spPr>
          <a:xfrm>
            <a:off x="11505743" y="4661900"/>
            <a:ext cx="21354" cy="21354"/>
          </a:xfrm>
          <a:prstGeom prst="ellipse">
            <a:avLst/>
          </a:prstGeom>
          <a:solidFill>
            <a:srgbClr val="C8A84B">
              <a:alpha val="45000"/>
            </a:srgbClr>
          </a:solidFill>
          <a:ln/>
        </p:spPr>
      </p:sp>
      <p:sp>
        <p:nvSpPr>
          <p:cNvPr id="16" name="Shape 14"/>
          <p:cNvSpPr/>
          <p:nvPr/>
        </p:nvSpPr>
        <p:spPr>
          <a:xfrm>
            <a:off x="11444643" y="6525389"/>
            <a:ext cx="45160" cy="45160"/>
          </a:xfrm>
          <a:prstGeom prst="ellipse">
            <a:avLst/>
          </a:prstGeom>
          <a:solidFill>
            <a:srgbClr val="3A4A6B">
              <a:alpha val="45000"/>
            </a:srgbClr>
          </a:solidFill>
          <a:ln/>
        </p:spPr>
      </p:sp>
      <p:sp>
        <p:nvSpPr>
          <p:cNvPr id="17" name="Shape 15"/>
          <p:cNvSpPr/>
          <p:nvPr/>
        </p:nvSpPr>
        <p:spPr>
          <a:xfrm>
            <a:off x="11333496" y="6497990"/>
            <a:ext cx="28703" cy="28703"/>
          </a:xfrm>
          <a:prstGeom prst="ellipse">
            <a:avLst/>
          </a:prstGeom>
          <a:solidFill>
            <a:srgbClr val="C8A84B">
              <a:alpha val="45000"/>
            </a:srgbClr>
          </a:solidFill>
          <a:ln/>
        </p:spPr>
      </p:sp>
      <p:sp>
        <p:nvSpPr>
          <p:cNvPr id="18" name="Shape 16"/>
          <p:cNvSpPr/>
          <p:nvPr/>
        </p:nvSpPr>
        <p:spPr>
          <a:xfrm>
            <a:off x="6067466" y="3733036"/>
            <a:ext cx="25604" cy="25604"/>
          </a:xfrm>
          <a:prstGeom prst="ellipse">
            <a:avLst/>
          </a:prstGeom>
          <a:solidFill>
            <a:srgbClr val="3A4A6B">
              <a:alpha val="45000"/>
            </a:srgbClr>
          </a:solidFill>
          <a:ln/>
        </p:spPr>
      </p:sp>
      <p:sp>
        <p:nvSpPr>
          <p:cNvPr id="19" name="Shape 17"/>
          <p:cNvSpPr/>
          <p:nvPr/>
        </p:nvSpPr>
        <p:spPr>
          <a:xfrm>
            <a:off x="4955371" y="177859"/>
            <a:ext cx="26832" cy="26832"/>
          </a:xfrm>
          <a:prstGeom prst="ellipse">
            <a:avLst/>
          </a:prstGeom>
          <a:solidFill>
            <a:srgbClr val="3A4A6B">
              <a:alpha val="45000"/>
            </a:srgbClr>
          </a:solidFill>
          <a:ln/>
        </p:spPr>
      </p:sp>
      <p:sp>
        <p:nvSpPr>
          <p:cNvPr id="20" name="Shape 18"/>
          <p:cNvSpPr/>
          <p:nvPr/>
        </p:nvSpPr>
        <p:spPr>
          <a:xfrm>
            <a:off x="6045362" y="4383793"/>
            <a:ext cx="62304" cy="62304"/>
          </a:xfrm>
          <a:prstGeom prst="ellipse">
            <a:avLst/>
          </a:prstGeom>
          <a:solidFill>
            <a:srgbClr val="C8A84B">
              <a:alpha val="45000"/>
            </a:srgbClr>
          </a:solidFill>
          <a:ln/>
        </p:spPr>
      </p:sp>
      <p:sp>
        <p:nvSpPr>
          <p:cNvPr id="21" name="Shape 19"/>
          <p:cNvSpPr/>
          <p:nvPr/>
        </p:nvSpPr>
        <p:spPr>
          <a:xfrm>
            <a:off x="2881323" y="5598172"/>
            <a:ext cx="58640" cy="58640"/>
          </a:xfrm>
          <a:prstGeom prst="ellipse">
            <a:avLst/>
          </a:prstGeom>
          <a:solidFill>
            <a:srgbClr val="3A4A6B">
              <a:alpha val="45000"/>
            </a:srgbClr>
          </a:solidFill>
          <a:ln/>
        </p:spPr>
      </p:sp>
      <p:sp>
        <p:nvSpPr>
          <p:cNvPr id="22" name="Shape 20"/>
          <p:cNvSpPr/>
          <p:nvPr/>
        </p:nvSpPr>
        <p:spPr>
          <a:xfrm>
            <a:off x="11528472" y="434328"/>
            <a:ext cx="47451" cy="47451"/>
          </a:xfrm>
          <a:prstGeom prst="ellipse">
            <a:avLst/>
          </a:prstGeom>
          <a:solidFill>
            <a:srgbClr val="3A4A6B">
              <a:alpha val="45000"/>
            </a:srgbClr>
          </a:solidFill>
          <a:ln/>
        </p:spPr>
      </p:sp>
      <p:sp>
        <p:nvSpPr>
          <p:cNvPr id="23" name="Shape 21"/>
          <p:cNvSpPr/>
          <p:nvPr/>
        </p:nvSpPr>
        <p:spPr>
          <a:xfrm>
            <a:off x="8414481" y="3539596"/>
            <a:ext cx="38331" cy="38331"/>
          </a:xfrm>
          <a:prstGeom prst="ellipse">
            <a:avLst/>
          </a:prstGeom>
          <a:solidFill>
            <a:srgbClr val="C8A84B">
              <a:alpha val="45000"/>
            </a:srgbClr>
          </a:solidFill>
          <a:ln/>
        </p:spPr>
      </p:sp>
      <p:sp>
        <p:nvSpPr>
          <p:cNvPr id="24" name="Shape 22"/>
          <p:cNvSpPr/>
          <p:nvPr/>
        </p:nvSpPr>
        <p:spPr>
          <a:xfrm>
            <a:off x="566928" y="566928"/>
            <a:ext cx="146304" cy="146304"/>
          </a:xfrm>
          <a:prstGeom prst="ellipse">
            <a:avLst/>
          </a:prstGeom>
          <a:solidFill>
            <a:srgbClr val="C8A84B"/>
          </a:solidFill>
          <a:ln/>
        </p:spPr>
      </p:sp>
      <p:sp>
        <p:nvSpPr>
          <p:cNvPr id="25" name="Shape 23"/>
          <p:cNvSpPr/>
          <p:nvPr/>
        </p:nvSpPr>
        <p:spPr>
          <a:xfrm>
            <a:off x="475488" y="475488"/>
            <a:ext cx="329184" cy="329184"/>
          </a:xfrm>
          <a:prstGeom prst="ellipse">
            <a:avLst/>
          </a:prstGeom>
          <a:ln w="12700">
            <a:solidFill>
              <a:srgbClr val="C8A84B">
                <a:alpha val="60000"/>
              </a:srgbClr>
            </a:solidFill>
            <a:prstDash val="solid"/>
          </a:ln>
        </p:spPr>
      </p:sp>
      <p:sp>
        <p:nvSpPr>
          <p:cNvPr id="26" name="Text 24"/>
          <p:cNvSpPr/>
          <p:nvPr/>
        </p:nvSpPr>
        <p:spPr>
          <a:xfrm>
            <a:off x="914400" y="502920"/>
            <a:ext cx="10058400" cy="320040"/>
          </a:xfrm>
          <a:prstGeom prst="rect">
            <a:avLst/>
          </a:prstGeom>
          <a:noFill/>
          <a:ln/>
        </p:spPr>
        <p:txBody>
          <a:bodyPr wrap="square" lIns="0" tIns="0" rIns="0" bIns="0" rtlCol="0" anchor="ctr"/>
          <a:lstStyle/>
          <a:p>
            <a:pPr algn="l" indent="0" marL="0">
              <a:buNone/>
            </a:pPr>
            <a:r>
              <a:rPr lang="en-US" sz="1300" b="1" spc="300" kern="0" dirty="0">
                <a:solidFill>
                  <a:srgbClr val="C8A84B"/>
                </a:solidFill>
                <a:latin typeface="Arial" pitchFamily="34" charset="0"/>
                <a:ea typeface="Arial" pitchFamily="34" charset="-122"/>
                <a:cs typeface="Arial" pitchFamily="34" charset="-120"/>
              </a:rPr>
              <a:t>WHAT IT ACTUALLY IS</a:t>
            </a:r>
            <a:endParaRPr lang="en-US" sz="1300" dirty="0"/>
          </a:p>
        </p:txBody>
      </p:sp>
      <p:sp>
        <p:nvSpPr>
          <p:cNvPr id="27" name="Text 25"/>
          <p:cNvSpPr/>
          <p:nvPr/>
        </p:nvSpPr>
        <p:spPr>
          <a:xfrm>
            <a:off x="548640" y="932688"/>
            <a:ext cx="11064240" cy="822960"/>
          </a:xfrm>
          <a:prstGeom prst="rect">
            <a:avLst/>
          </a:prstGeom>
          <a:noFill/>
          <a:ln/>
        </p:spPr>
        <p:txBody>
          <a:bodyPr wrap="square" lIns="0" tIns="0" rIns="0" bIns="0" rtlCol="0" anchor="ctr"/>
          <a:lstStyle/>
          <a:p>
            <a:pPr algn="l" indent="0" marL="0">
              <a:buNone/>
            </a:pPr>
            <a:r>
              <a:rPr lang="en-US" sz="3300" b="1" dirty="0">
                <a:solidFill>
                  <a:srgbClr val="EAECF2"/>
                </a:solidFill>
                <a:latin typeface="Arial" pitchFamily="34" charset="0"/>
                <a:ea typeface="Arial" pitchFamily="34" charset="-122"/>
                <a:cs typeface="Arial" pitchFamily="34" charset="-120"/>
              </a:rPr>
              <a:t>It's a sorting problem</a:t>
            </a:r>
            <a:endParaRPr lang="en-US" sz="3300" dirty="0"/>
          </a:p>
        </p:txBody>
      </p:sp>
      <p:sp>
        <p:nvSpPr>
          <p:cNvPr id="28" name="Shape 26"/>
          <p:cNvSpPr/>
          <p:nvPr/>
        </p:nvSpPr>
        <p:spPr>
          <a:xfrm>
            <a:off x="640080" y="2743200"/>
            <a:ext cx="2743200" cy="1600200"/>
          </a:xfrm>
          <a:prstGeom prst="roundRect">
            <a:avLst>
              <a:gd name="adj" fmla="val 5143"/>
            </a:avLst>
          </a:prstGeom>
          <a:solidFill>
            <a:srgbClr val="161F38"/>
          </a:solidFill>
          <a:ln/>
          <a:effectLst>
            <a:outerShdw sx="100000" sy="100000" kx="0" ky="0" algn="bl" rotWithShape="0" blurRad="101600" dist="38100" dir="5400000">
              <a:srgbClr val="000000">
                <a:alpha val="35000"/>
              </a:srgbClr>
            </a:outerShdw>
          </a:effectLst>
        </p:spPr>
      </p:sp>
      <p:sp>
        <p:nvSpPr>
          <p:cNvPr id="29" name="Text 27"/>
          <p:cNvSpPr/>
          <p:nvPr/>
        </p:nvSpPr>
        <p:spPr>
          <a:xfrm>
            <a:off x="822960" y="2907792"/>
            <a:ext cx="2377440" cy="365760"/>
          </a:xfrm>
          <a:prstGeom prst="rect">
            <a:avLst/>
          </a:prstGeom>
          <a:noFill/>
          <a:ln/>
        </p:spPr>
        <p:txBody>
          <a:bodyPr wrap="square" lIns="0" tIns="0" rIns="0" bIns="0" rtlCol="0" anchor="ctr"/>
          <a:lstStyle/>
          <a:p>
            <a:pPr indent="0" marL="0">
              <a:buNone/>
            </a:pPr>
            <a:r>
              <a:rPr lang="en-US" sz="1500" b="1" dirty="0">
                <a:solidFill>
                  <a:srgbClr val="EAECF2"/>
                </a:solidFill>
                <a:latin typeface="Arial" pitchFamily="34" charset="0"/>
                <a:ea typeface="Arial" pitchFamily="34" charset="-122"/>
                <a:cs typeface="Arial" pitchFamily="34" charset="-120"/>
              </a:rPr>
              <a:t>The words</a:t>
            </a:r>
            <a:endParaRPr lang="en-US" sz="1500" dirty="0"/>
          </a:p>
        </p:txBody>
      </p:sp>
      <p:sp>
        <p:nvSpPr>
          <p:cNvPr id="30" name="Text 28"/>
          <p:cNvSpPr/>
          <p:nvPr/>
        </p:nvSpPr>
        <p:spPr>
          <a:xfrm>
            <a:off x="822960" y="3328416"/>
            <a:ext cx="2377440" cy="914400"/>
          </a:xfrm>
          <a:prstGeom prst="rect">
            <a:avLst/>
          </a:prstGeom>
          <a:noFill/>
          <a:ln/>
        </p:spPr>
        <p:txBody>
          <a:bodyPr wrap="square" lIns="0" tIns="0" rIns="0" bIns="0" rtlCol="0" anchor="ctr"/>
          <a:lstStyle/>
          <a:p>
            <a:pPr indent="0" marL="0">
              <a:lnSpc>
                <a:spcPct val="105000"/>
              </a:lnSpc>
              <a:buNone/>
            </a:pPr>
            <a:r>
              <a:rPr lang="en-US" sz="1300" dirty="0">
                <a:solidFill>
                  <a:srgbClr val="9AA6C0"/>
                </a:solidFill>
                <a:latin typeface="Calibri" pitchFamily="34" charset="0"/>
                <a:ea typeface="Calibri" pitchFamily="34" charset="-122"/>
                <a:cs typeface="Calibri" pitchFamily="34" charset="-120"/>
              </a:rPr>
              <a:t>“Dark triangular craft,</a:t>
            </a:r>
            <a:endParaRPr lang="en-US" sz="1300" dirty="0"/>
          </a:p>
          <a:p>
            <a:pPr indent="0" marL="0">
              <a:lnSpc>
                <a:spcPct val="105000"/>
              </a:lnSpc>
              <a:buNone/>
            </a:pPr>
            <a:r>
              <a:rPr lang="en-US" sz="1300" dirty="0">
                <a:solidFill>
                  <a:srgbClr val="9AA6C0"/>
                </a:solidFill>
                <a:latin typeface="Calibri" pitchFamily="34" charset="0"/>
                <a:ea typeface="Calibri" pitchFamily="34" charset="-122"/>
                <a:cs typeface="Calibri" pitchFamily="34" charset="-120"/>
              </a:rPr>
              <a:t>three white lights, one</a:t>
            </a:r>
            <a:endParaRPr lang="en-US" sz="1300" dirty="0"/>
          </a:p>
          <a:p>
            <a:pPr indent="0" marL="0">
              <a:lnSpc>
                <a:spcPct val="105000"/>
              </a:lnSpc>
              <a:buNone/>
            </a:pPr>
            <a:r>
              <a:rPr lang="en-US" sz="1300" dirty="0">
                <a:solidFill>
                  <a:srgbClr val="9AA6C0"/>
                </a:solidFill>
                <a:latin typeface="Calibri" pitchFamily="34" charset="0"/>
                <a:ea typeface="Calibri" pitchFamily="34" charset="-122"/>
                <a:cs typeface="Calibri" pitchFamily="34" charset="-120"/>
              </a:rPr>
              <a:t>at each corner.”</a:t>
            </a:r>
            <a:endParaRPr lang="en-US" sz="1300" dirty="0"/>
          </a:p>
        </p:txBody>
      </p:sp>
      <p:sp>
        <p:nvSpPr>
          <p:cNvPr id="31" name="Shape 29"/>
          <p:cNvSpPr/>
          <p:nvPr/>
        </p:nvSpPr>
        <p:spPr>
          <a:xfrm>
            <a:off x="4892040" y="2743200"/>
            <a:ext cx="2743200" cy="1600200"/>
          </a:xfrm>
          <a:prstGeom prst="roundRect">
            <a:avLst>
              <a:gd name="adj" fmla="val 5143"/>
            </a:avLst>
          </a:prstGeom>
          <a:solidFill>
            <a:srgbClr val="1E2A47"/>
          </a:solidFill>
          <a:ln/>
          <a:effectLst>
            <a:outerShdw sx="100000" sy="100000" kx="0" ky="0" algn="bl" rotWithShape="0" blurRad="101600" dist="38100" dir="5400000">
              <a:srgbClr val="000000">
                <a:alpha val="35000"/>
              </a:srgbClr>
            </a:outerShdw>
          </a:effectLst>
        </p:spPr>
      </p:sp>
      <p:sp>
        <p:nvSpPr>
          <p:cNvPr id="32" name="Text 30"/>
          <p:cNvSpPr/>
          <p:nvPr/>
        </p:nvSpPr>
        <p:spPr>
          <a:xfrm>
            <a:off x="5074920" y="2907792"/>
            <a:ext cx="2377440" cy="365760"/>
          </a:xfrm>
          <a:prstGeom prst="rect">
            <a:avLst/>
          </a:prstGeom>
          <a:noFill/>
          <a:ln/>
        </p:spPr>
        <p:txBody>
          <a:bodyPr wrap="square" lIns="0" tIns="0" rIns="0" bIns="0" rtlCol="0" anchor="ctr"/>
          <a:lstStyle/>
          <a:p>
            <a:pPr indent="0" marL="0">
              <a:buNone/>
            </a:pPr>
            <a:r>
              <a:rPr lang="en-US" sz="1500" b="1" dirty="0">
                <a:solidFill>
                  <a:srgbClr val="5FBFD6"/>
                </a:solidFill>
                <a:latin typeface="Arial" pitchFamily="34" charset="0"/>
                <a:ea typeface="Arial" pitchFamily="34" charset="-122"/>
                <a:cs typeface="Arial" pitchFamily="34" charset="-120"/>
              </a:rPr>
              <a:t>The model</a:t>
            </a:r>
            <a:endParaRPr lang="en-US" sz="1500" dirty="0"/>
          </a:p>
        </p:txBody>
      </p:sp>
      <p:sp>
        <p:nvSpPr>
          <p:cNvPr id="33" name="Text 31"/>
          <p:cNvSpPr/>
          <p:nvPr/>
        </p:nvSpPr>
        <p:spPr>
          <a:xfrm>
            <a:off x="5074920" y="3328416"/>
            <a:ext cx="2377440" cy="914400"/>
          </a:xfrm>
          <a:prstGeom prst="rect">
            <a:avLst/>
          </a:prstGeom>
          <a:noFill/>
          <a:ln/>
        </p:spPr>
        <p:txBody>
          <a:bodyPr wrap="square" lIns="0" tIns="0" rIns="0" bIns="0" rtlCol="0" anchor="ctr"/>
          <a:lstStyle/>
          <a:p>
            <a:pPr indent="0" marL="0">
              <a:lnSpc>
                <a:spcPct val="105000"/>
              </a:lnSpc>
              <a:buNone/>
            </a:pPr>
            <a:r>
              <a:rPr lang="en-US" sz="1300" dirty="0">
                <a:solidFill>
                  <a:srgbClr val="9AA6C0"/>
                </a:solidFill>
                <a:latin typeface="Calibri" pitchFamily="34" charset="0"/>
                <a:ea typeface="Calibri" pitchFamily="34" charset="-122"/>
                <a:cs typeface="Calibri" pitchFamily="34" charset="-120"/>
              </a:rPr>
              <a:t>Learns which words go</a:t>
            </a:r>
            <a:endParaRPr lang="en-US" sz="1300" dirty="0"/>
          </a:p>
          <a:p>
            <a:pPr indent="0" marL="0">
              <a:lnSpc>
                <a:spcPct val="105000"/>
              </a:lnSpc>
              <a:buNone/>
            </a:pPr>
            <a:r>
              <a:rPr lang="en-US" sz="1300" dirty="0">
                <a:solidFill>
                  <a:srgbClr val="9AA6C0"/>
                </a:solidFill>
                <a:latin typeface="Calibri" pitchFamily="34" charset="0"/>
                <a:ea typeface="Calibri" pitchFamily="34" charset="-122"/>
                <a:cs typeface="Calibri" pitchFamily="34" charset="-120"/>
              </a:rPr>
              <a:t>with which shape from</a:t>
            </a:r>
            <a:endParaRPr lang="en-US" sz="1300" dirty="0"/>
          </a:p>
          <a:p>
            <a:pPr indent="0" marL="0">
              <a:lnSpc>
                <a:spcPct val="105000"/>
              </a:lnSpc>
              <a:buNone/>
            </a:pPr>
            <a:r>
              <a:rPr lang="en-US" sz="1300" dirty="0">
                <a:solidFill>
                  <a:srgbClr val="9AA6C0"/>
                </a:solidFill>
                <a:latin typeface="Calibri" pitchFamily="34" charset="0"/>
                <a:ea typeface="Calibri" pitchFamily="34" charset="-122"/>
                <a:cs typeface="Calibri" pitchFamily="34" charset="-120"/>
              </a:rPr>
              <a:t>thousands of examples.</a:t>
            </a:r>
            <a:endParaRPr lang="en-US" sz="1300" dirty="0"/>
          </a:p>
        </p:txBody>
      </p:sp>
      <p:sp>
        <p:nvSpPr>
          <p:cNvPr id="34" name="Shape 32"/>
          <p:cNvSpPr/>
          <p:nvPr/>
        </p:nvSpPr>
        <p:spPr>
          <a:xfrm>
            <a:off x="9144000" y="2743200"/>
            <a:ext cx="2743200" cy="1600200"/>
          </a:xfrm>
          <a:prstGeom prst="roundRect">
            <a:avLst>
              <a:gd name="adj" fmla="val 5143"/>
            </a:avLst>
          </a:prstGeom>
          <a:solidFill>
            <a:srgbClr val="161F38"/>
          </a:solidFill>
          <a:ln/>
          <a:effectLst>
            <a:outerShdw sx="100000" sy="100000" kx="0" ky="0" algn="bl" rotWithShape="0" blurRad="101600" dist="38100" dir="5400000">
              <a:srgbClr val="000000">
                <a:alpha val="35000"/>
              </a:srgbClr>
            </a:outerShdw>
          </a:effectLst>
        </p:spPr>
      </p:sp>
      <p:sp>
        <p:nvSpPr>
          <p:cNvPr id="35" name="Text 33"/>
          <p:cNvSpPr/>
          <p:nvPr/>
        </p:nvSpPr>
        <p:spPr>
          <a:xfrm>
            <a:off x="9326880" y="2907792"/>
            <a:ext cx="2377440" cy="365760"/>
          </a:xfrm>
          <a:prstGeom prst="rect">
            <a:avLst/>
          </a:prstGeom>
          <a:noFill/>
          <a:ln/>
        </p:spPr>
        <p:txBody>
          <a:bodyPr wrap="square" lIns="0" tIns="0" rIns="0" bIns="0" rtlCol="0" anchor="ctr"/>
          <a:lstStyle/>
          <a:p>
            <a:pPr indent="0" marL="0">
              <a:buNone/>
            </a:pPr>
            <a:r>
              <a:rPr lang="en-US" sz="1500" b="1" dirty="0">
                <a:solidFill>
                  <a:srgbClr val="C8A84B"/>
                </a:solidFill>
                <a:latin typeface="Arial" pitchFamily="34" charset="0"/>
                <a:ea typeface="Arial" pitchFamily="34" charset="-122"/>
                <a:cs typeface="Arial" pitchFamily="34" charset="-120"/>
              </a:rPr>
              <a:t>The shape</a:t>
            </a:r>
            <a:endParaRPr lang="en-US" sz="1500" dirty="0"/>
          </a:p>
        </p:txBody>
      </p:sp>
      <p:sp>
        <p:nvSpPr>
          <p:cNvPr id="36" name="Text 34"/>
          <p:cNvSpPr/>
          <p:nvPr/>
        </p:nvSpPr>
        <p:spPr>
          <a:xfrm>
            <a:off x="9326880" y="3328416"/>
            <a:ext cx="2377440" cy="914400"/>
          </a:xfrm>
          <a:prstGeom prst="rect">
            <a:avLst/>
          </a:prstGeom>
          <a:noFill/>
          <a:ln/>
        </p:spPr>
        <p:txBody>
          <a:bodyPr wrap="square" lIns="0" tIns="0" rIns="0" bIns="0" rtlCol="0" anchor="ctr"/>
          <a:lstStyle/>
          <a:p>
            <a:pPr indent="0" marL="0">
              <a:lnSpc>
                <a:spcPct val="105000"/>
              </a:lnSpc>
              <a:buNone/>
            </a:pPr>
            <a:r>
              <a:rPr lang="en-US" sz="1300" b="1" dirty="0">
                <a:solidFill>
                  <a:srgbClr val="C8A84B"/>
                </a:solidFill>
                <a:latin typeface="Calibri" pitchFamily="34" charset="0"/>
                <a:ea typeface="Calibri" pitchFamily="34" charset="-122"/>
                <a:cs typeface="Calibri" pitchFamily="34" charset="-120"/>
              </a:rPr>
              <a:t>TRIANGLE</a:t>
            </a:r>
            <a:endParaRPr lang="en-US" sz="1300" dirty="0"/>
          </a:p>
          <a:p>
            <a:pPr indent="0" marL="0">
              <a:lnSpc>
                <a:spcPct val="105000"/>
              </a:lnSpc>
              <a:buNone/>
            </a:pPr>
            <a:r>
              <a:rPr lang="en-US" sz="1300" b="1" dirty="0">
                <a:solidFill>
                  <a:srgbClr val="C8A84B"/>
                </a:solidFill>
                <a:latin typeface="Calibri" pitchFamily="34" charset="0"/>
                <a:ea typeface="Calibri" pitchFamily="34" charset="-122"/>
                <a:cs typeface="Calibri" pitchFamily="34" charset="-120"/>
              </a:rPr>
              <a:t>99% sure</a:t>
            </a:r>
            <a:endParaRPr lang="en-US" sz="1300" dirty="0"/>
          </a:p>
        </p:txBody>
      </p:sp>
      <p:sp>
        <p:nvSpPr>
          <p:cNvPr id="37" name="Shape 35"/>
          <p:cNvSpPr/>
          <p:nvPr/>
        </p:nvSpPr>
        <p:spPr>
          <a:xfrm>
            <a:off x="3429000" y="3401568"/>
            <a:ext cx="457200" cy="274320"/>
          </a:xfrm>
          <a:prstGeom prst="rightArrow">
            <a:avLst/>
          </a:prstGeom>
          <a:solidFill>
            <a:srgbClr val="C8A84B"/>
          </a:solidFill>
          <a:ln/>
        </p:spPr>
      </p:sp>
      <p:sp>
        <p:nvSpPr>
          <p:cNvPr id="38" name="Shape 36"/>
          <p:cNvSpPr/>
          <p:nvPr/>
        </p:nvSpPr>
        <p:spPr>
          <a:xfrm>
            <a:off x="7680960" y="3401568"/>
            <a:ext cx="457200" cy="274320"/>
          </a:xfrm>
          <a:prstGeom prst="rightArrow">
            <a:avLst/>
          </a:prstGeom>
          <a:solidFill>
            <a:srgbClr val="C8A84B"/>
          </a:solidFill>
          <a:ln/>
        </p:spPr>
      </p:sp>
      <p:sp>
        <p:nvSpPr>
          <p:cNvPr id="39" name="Text 37"/>
          <p:cNvSpPr/>
          <p:nvPr/>
        </p:nvSpPr>
        <p:spPr>
          <a:xfrm>
            <a:off x="640080" y="4892040"/>
            <a:ext cx="10881360" cy="548640"/>
          </a:xfrm>
          <a:prstGeom prst="rect">
            <a:avLst/>
          </a:prstGeom>
          <a:noFill/>
          <a:ln/>
        </p:spPr>
        <p:txBody>
          <a:bodyPr wrap="square" lIns="0" tIns="0" rIns="0" bIns="0" rtlCol="0" anchor="ctr"/>
          <a:lstStyle/>
          <a:p>
            <a:pPr indent="0" marL="0">
              <a:buNone/>
            </a:pPr>
            <a:r>
              <a:rPr lang="en-US" sz="1500" i="1" dirty="0">
                <a:solidFill>
                  <a:srgbClr val="9AA6C0"/>
                </a:solidFill>
                <a:latin typeface="Calibri" pitchFamily="34" charset="0"/>
                <a:ea typeface="Calibri" pitchFamily="34" charset="-122"/>
                <a:cs typeface="Calibri" pitchFamily="34" charset="-120"/>
              </a:rPr>
              <a:t>Show it thousands of report-and-shape pairs, it learns the patterns, then it guesses on a report it's never seen. That's the whole game.</a:t>
            </a:r>
            <a:endParaRPr lang="en-US" sz="1500" dirty="0"/>
          </a:p>
        </p:txBody>
      </p:sp>
      <p:sp>
        <p:nvSpPr>
          <p:cNvPr id="41" name="Text 38"/>
          <p:cNvSpPr/>
          <p:nvPr/>
        </p:nvSpPr>
        <p:spPr>
          <a:xfrm>
            <a:off x="548640" y="6428232"/>
            <a:ext cx="6400800" cy="274320"/>
          </a:xfrm>
          <a:prstGeom prst="rect">
            <a:avLst/>
          </a:prstGeom>
          <a:noFill/>
          <a:ln/>
        </p:spPr>
        <p:txBody>
          <a:bodyPr wrap="square" lIns="0" tIns="0" rIns="0" bIns="0" rtlCol="0" anchor="ctr"/>
          <a:lstStyle/>
          <a:p>
            <a:pPr indent="0" marL="0">
              <a:buNone/>
            </a:pPr>
            <a:r>
              <a:rPr lang="en-US" sz="900" dirty="0">
                <a:solidFill>
                  <a:srgbClr val="9AA6C0"/>
                </a:solidFill>
                <a:latin typeface="Calibri" pitchFamily="34" charset="0"/>
                <a:ea typeface="Calibri" pitchFamily="34" charset="-122"/>
                <a:cs typeface="Calibri" pitchFamily="34" charset="-120"/>
              </a:rPr>
              <a:t>UFO Witness Report Analyzer</a:t>
            </a:r>
            <a:endParaRPr lang="en-US" sz="900" dirty="0"/>
          </a:p>
        </p:txBody>
      </p:sp>
      <p:sp>
        <p:nvSpPr>
          <p:cNvPr id="42" name="Text 39"/>
          <p:cNvSpPr/>
          <p:nvPr/>
        </p:nvSpPr>
        <p:spPr>
          <a:xfrm>
            <a:off x="11430000" y="6428232"/>
            <a:ext cx="365760" cy="274320"/>
          </a:xfrm>
          <a:prstGeom prst="rect">
            <a:avLst/>
          </a:prstGeom>
          <a:noFill/>
          <a:ln/>
        </p:spPr>
        <p:txBody>
          <a:bodyPr wrap="square" lIns="0" tIns="0" rIns="0" bIns="0" rtlCol="0" anchor="ctr"/>
          <a:lstStyle/>
          <a:p>
            <a:pPr algn="r" indent="0" marL="0">
              <a:buNone/>
            </a:pPr>
            <a:r>
              <a:rPr lang="en-US" sz="900" dirty="0">
                <a:solidFill>
                  <a:srgbClr val="9AA6C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0811231" y="3596452"/>
            <a:ext cx="37064" cy="37064"/>
          </a:xfrm>
          <a:prstGeom prst="ellipse">
            <a:avLst/>
          </a:prstGeom>
          <a:solidFill>
            <a:srgbClr val="C8A84B">
              <a:alpha val="45000"/>
            </a:srgbClr>
          </a:solidFill>
          <a:ln/>
        </p:spPr>
      </p:sp>
      <p:sp>
        <p:nvSpPr>
          <p:cNvPr id="3" name="Shape 1"/>
          <p:cNvSpPr/>
          <p:nvPr/>
        </p:nvSpPr>
        <p:spPr>
          <a:xfrm>
            <a:off x="4619324" y="140053"/>
            <a:ext cx="43467" cy="43467"/>
          </a:xfrm>
          <a:prstGeom prst="ellipse">
            <a:avLst/>
          </a:prstGeom>
          <a:solidFill>
            <a:srgbClr val="3A4A6B">
              <a:alpha val="45000"/>
            </a:srgbClr>
          </a:solidFill>
          <a:ln/>
        </p:spPr>
      </p:sp>
      <p:sp>
        <p:nvSpPr>
          <p:cNvPr id="4" name="Shape 2"/>
          <p:cNvSpPr/>
          <p:nvPr/>
        </p:nvSpPr>
        <p:spPr>
          <a:xfrm>
            <a:off x="5434054" y="804098"/>
            <a:ext cx="63228" cy="63228"/>
          </a:xfrm>
          <a:prstGeom prst="ellipse">
            <a:avLst/>
          </a:prstGeom>
          <a:solidFill>
            <a:srgbClr val="C8A84B">
              <a:alpha val="45000"/>
            </a:srgbClr>
          </a:solidFill>
          <a:ln/>
        </p:spPr>
      </p:sp>
      <p:sp>
        <p:nvSpPr>
          <p:cNvPr id="5" name="Shape 3"/>
          <p:cNvSpPr/>
          <p:nvPr/>
        </p:nvSpPr>
        <p:spPr>
          <a:xfrm>
            <a:off x="10402719" y="677921"/>
            <a:ext cx="41596" cy="41596"/>
          </a:xfrm>
          <a:prstGeom prst="ellipse">
            <a:avLst/>
          </a:prstGeom>
          <a:solidFill>
            <a:srgbClr val="C8A84B">
              <a:alpha val="45000"/>
            </a:srgbClr>
          </a:solidFill>
          <a:ln/>
        </p:spPr>
      </p:sp>
      <p:sp>
        <p:nvSpPr>
          <p:cNvPr id="6" name="Shape 4"/>
          <p:cNvSpPr/>
          <p:nvPr/>
        </p:nvSpPr>
        <p:spPr>
          <a:xfrm>
            <a:off x="5411949" y="1454856"/>
            <a:ext cx="54207" cy="54207"/>
          </a:xfrm>
          <a:prstGeom prst="ellipse">
            <a:avLst/>
          </a:prstGeom>
          <a:solidFill>
            <a:srgbClr val="3A4A6B">
              <a:alpha val="45000"/>
            </a:srgbClr>
          </a:solidFill>
          <a:ln/>
        </p:spPr>
      </p:sp>
      <p:sp>
        <p:nvSpPr>
          <p:cNvPr id="7" name="Shape 5"/>
          <p:cNvSpPr/>
          <p:nvPr/>
        </p:nvSpPr>
        <p:spPr>
          <a:xfrm>
            <a:off x="8328671" y="6098234"/>
            <a:ext cx="27684" cy="27684"/>
          </a:xfrm>
          <a:prstGeom prst="ellipse">
            <a:avLst/>
          </a:prstGeom>
          <a:solidFill>
            <a:srgbClr val="C8A84B">
              <a:alpha val="45000"/>
            </a:srgbClr>
          </a:solidFill>
          <a:ln/>
        </p:spPr>
      </p:sp>
      <p:sp>
        <p:nvSpPr>
          <p:cNvPr id="8" name="Shape 6"/>
          <p:cNvSpPr/>
          <p:nvPr/>
        </p:nvSpPr>
        <p:spPr>
          <a:xfrm>
            <a:off x="10895060" y="4363391"/>
            <a:ext cx="39355" cy="39355"/>
          </a:xfrm>
          <a:prstGeom prst="ellipse">
            <a:avLst/>
          </a:prstGeom>
          <a:solidFill>
            <a:srgbClr val="C8A84B">
              <a:alpha val="45000"/>
            </a:srgbClr>
          </a:solidFill>
          <a:ln/>
        </p:spPr>
      </p:sp>
      <p:sp>
        <p:nvSpPr>
          <p:cNvPr id="9" name="Shape 7"/>
          <p:cNvSpPr/>
          <p:nvPr/>
        </p:nvSpPr>
        <p:spPr>
          <a:xfrm>
            <a:off x="1700309" y="4039658"/>
            <a:ext cx="53095" cy="53095"/>
          </a:xfrm>
          <a:prstGeom prst="ellipse">
            <a:avLst/>
          </a:prstGeom>
          <a:solidFill>
            <a:srgbClr val="C8A84B">
              <a:alpha val="45000"/>
            </a:srgbClr>
          </a:solidFill>
          <a:ln/>
        </p:spPr>
      </p:sp>
      <p:sp>
        <p:nvSpPr>
          <p:cNvPr id="10" name="Shape 8"/>
          <p:cNvSpPr/>
          <p:nvPr/>
        </p:nvSpPr>
        <p:spPr>
          <a:xfrm>
            <a:off x="9421581" y="5042370"/>
            <a:ext cx="51407" cy="51407"/>
          </a:xfrm>
          <a:prstGeom prst="ellipse">
            <a:avLst/>
          </a:prstGeom>
          <a:solidFill>
            <a:srgbClr val="C8A84B">
              <a:alpha val="45000"/>
            </a:srgbClr>
          </a:solidFill>
          <a:ln/>
        </p:spPr>
      </p:sp>
      <p:sp>
        <p:nvSpPr>
          <p:cNvPr id="11" name="Shape 9"/>
          <p:cNvSpPr/>
          <p:nvPr/>
        </p:nvSpPr>
        <p:spPr>
          <a:xfrm>
            <a:off x="8234415" y="5508860"/>
            <a:ext cx="60820" cy="60820"/>
          </a:xfrm>
          <a:prstGeom prst="ellipse">
            <a:avLst/>
          </a:prstGeom>
          <a:solidFill>
            <a:srgbClr val="3A4A6B">
              <a:alpha val="45000"/>
            </a:srgbClr>
          </a:solidFill>
          <a:ln/>
        </p:spPr>
      </p:sp>
      <p:sp>
        <p:nvSpPr>
          <p:cNvPr id="12" name="Shape 10"/>
          <p:cNvSpPr/>
          <p:nvPr/>
        </p:nvSpPr>
        <p:spPr>
          <a:xfrm>
            <a:off x="1592081" y="5608461"/>
            <a:ext cx="24889" cy="24889"/>
          </a:xfrm>
          <a:prstGeom prst="ellipse">
            <a:avLst/>
          </a:prstGeom>
          <a:solidFill>
            <a:srgbClr val="3A4A6B">
              <a:alpha val="45000"/>
            </a:srgbClr>
          </a:solidFill>
          <a:ln/>
        </p:spPr>
      </p:sp>
      <p:sp>
        <p:nvSpPr>
          <p:cNvPr id="13" name="Shape 11"/>
          <p:cNvSpPr/>
          <p:nvPr/>
        </p:nvSpPr>
        <p:spPr>
          <a:xfrm>
            <a:off x="4658944" y="2208506"/>
            <a:ext cx="27717" cy="27717"/>
          </a:xfrm>
          <a:prstGeom prst="ellipse">
            <a:avLst/>
          </a:prstGeom>
          <a:solidFill>
            <a:srgbClr val="3A4A6B">
              <a:alpha val="45000"/>
            </a:srgbClr>
          </a:solidFill>
          <a:ln/>
        </p:spPr>
      </p:sp>
      <p:sp>
        <p:nvSpPr>
          <p:cNvPr id="14" name="Shape 12"/>
          <p:cNvSpPr/>
          <p:nvPr/>
        </p:nvSpPr>
        <p:spPr>
          <a:xfrm>
            <a:off x="10528463" y="1828330"/>
            <a:ext cx="45032" cy="45032"/>
          </a:xfrm>
          <a:prstGeom prst="ellipse">
            <a:avLst/>
          </a:prstGeom>
          <a:solidFill>
            <a:srgbClr val="C8A84B">
              <a:alpha val="45000"/>
            </a:srgbClr>
          </a:solidFill>
          <a:ln/>
        </p:spPr>
      </p:sp>
      <p:sp>
        <p:nvSpPr>
          <p:cNvPr id="15" name="Shape 13"/>
          <p:cNvSpPr/>
          <p:nvPr/>
        </p:nvSpPr>
        <p:spPr>
          <a:xfrm>
            <a:off x="1033427" y="3875264"/>
            <a:ext cx="45790" cy="45790"/>
          </a:xfrm>
          <a:prstGeom prst="ellipse">
            <a:avLst/>
          </a:prstGeom>
          <a:solidFill>
            <a:srgbClr val="C8A84B">
              <a:alpha val="45000"/>
            </a:srgbClr>
          </a:solidFill>
          <a:ln/>
        </p:spPr>
      </p:sp>
      <p:sp>
        <p:nvSpPr>
          <p:cNvPr id="16" name="Shape 14"/>
          <p:cNvSpPr/>
          <p:nvPr/>
        </p:nvSpPr>
        <p:spPr>
          <a:xfrm>
            <a:off x="2148441" y="2168643"/>
            <a:ext cx="32813" cy="32813"/>
          </a:xfrm>
          <a:prstGeom prst="ellipse">
            <a:avLst/>
          </a:prstGeom>
          <a:solidFill>
            <a:srgbClr val="3A4A6B">
              <a:alpha val="45000"/>
            </a:srgbClr>
          </a:solidFill>
          <a:ln/>
        </p:spPr>
      </p:sp>
      <p:sp>
        <p:nvSpPr>
          <p:cNvPr id="17" name="Shape 15"/>
          <p:cNvSpPr/>
          <p:nvPr/>
        </p:nvSpPr>
        <p:spPr>
          <a:xfrm>
            <a:off x="1561844" y="4751799"/>
            <a:ext cx="22471" cy="22471"/>
          </a:xfrm>
          <a:prstGeom prst="ellipse">
            <a:avLst/>
          </a:prstGeom>
          <a:solidFill>
            <a:srgbClr val="C8A84B">
              <a:alpha val="45000"/>
            </a:srgbClr>
          </a:solidFill>
          <a:ln/>
        </p:spPr>
      </p:sp>
      <p:sp>
        <p:nvSpPr>
          <p:cNvPr id="18" name="Shape 16"/>
          <p:cNvSpPr/>
          <p:nvPr/>
        </p:nvSpPr>
        <p:spPr>
          <a:xfrm>
            <a:off x="8132026" y="3412067"/>
            <a:ext cx="54838" cy="54838"/>
          </a:xfrm>
          <a:prstGeom prst="ellipse">
            <a:avLst/>
          </a:prstGeom>
          <a:solidFill>
            <a:srgbClr val="C8A84B">
              <a:alpha val="45000"/>
            </a:srgbClr>
          </a:solidFill>
          <a:ln/>
        </p:spPr>
      </p:sp>
      <p:sp>
        <p:nvSpPr>
          <p:cNvPr id="19" name="Shape 17"/>
          <p:cNvSpPr/>
          <p:nvPr/>
        </p:nvSpPr>
        <p:spPr>
          <a:xfrm>
            <a:off x="9997752" y="2636779"/>
            <a:ext cx="51457" cy="51457"/>
          </a:xfrm>
          <a:prstGeom prst="ellipse">
            <a:avLst/>
          </a:prstGeom>
          <a:solidFill>
            <a:srgbClr val="3A4A6B">
              <a:alpha val="45000"/>
            </a:srgbClr>
          </a:solidFill>
          <a:ln/>
        </p:spPr>
      </p:sp>
      <p:sp>
        <p:nvSpPr>
          <p:cNvPr id="20" name="Shape 18"/>
          <p:cNvSpPr/>
          <p:nvPr/>
        </p:nvSpPr>
        <p:spPr>
          <a:xfrm>
            <a:off x="1603759" y="5135269"/>
            <a:ext cx="23616" cy="23616"/>
          </a:xfrm>
          <a:prstGeom prst="ellipse">
            <a:avLst/>
          </a:prstGeom>
          <a:solidFill>
            <a:srgbClr val="C8A84B">
              <a:alpha val="45000"/>
            </a:srgbClr>
          </a:solidFill>
          <a:ln/>
        </p:spPr>
      </p:sp>
      <p:sp>
        <p:nvSpPr>
          <p:cNvPr id="21" name="Shape 19"/>
          <p:cNvSpPr/>
          <p:nvPr/>
        </p:nvSpPr>
        <p:spPr>
          <a:xfrm>
            <a:off x="6672518" y="1932869"/>
            <a:ext cx="36792" cy="36792"/>
          </a:xfrm>
          <a:prstGeom prst="ellipse">
            <a:avLst/>
          </a:prstGeom>
          <a:solidFill>
            <a:srgbClr val="C8A84B">
              <a:alpha val="45000"/>
            </a:srgbClr>
          </a:solidFill>
          <a:ln/>
        </p:spPr>
      </p:sp>
      <p:sp>
        <p:nvSpPr>
          <p:cNvPr id="22" name="Shape 20"/>
          <p:cNvSpPr/>
          <p:nvPr/>
        </p:nvSpPr>
        <p:spPr>
          <a:xfrm>
            <a:off x="566928" y="566928"/>
            <a:ext cx="146304" cy="146304"/>
          </a:xfrm>
          <a:prstGeom prst="ellipse">
            <a:avLst/>
          </a:prstGeom>
          <a:solidFill>
            <a:srgbClr val="C8A84B"/>
          </a:solidFill>
          <a:ln/>
        </p:spPr>
      </p:sp>
      <p:sp>
        <p:nvSpPr>
          <p:cNvPr id="23" name="Shape 21"/>
          <p:cNvSpPr/>
          <p:nvPr/>
        </p:nvSpPr>
        <p:spPr>
          <a:xfrm>
            <a:off x="475488" y="475488"/>
            <a:ext cx="329184" cy="329184"/>
          </a:xfrm>
          <a:prstGeom prst="ellipse">
            <a:avLst/>
          </a:prstGeom>
          <a:ln w="12700">
            <a:solidFill>
              <a:srgbClr val="C8A84B">
                <a:alpha val="60000"/>
              </a:srgbClr>
            </a:solidFill>
            <a:prstDash val="solid"/>
          </a:ln>
        </p:spPr>
      </p:sp>
      <p:sp>
        <p:nvSpPr>
          <p:cNvPr id="24" name="Text 22"/>
          <p:cNvSpPr/>
          <p:nvPr/>
        </p:nvSpPr>
        <p:spPr>
          <a:xfrm>
            <a:off x="914400" y="502920"/>
            <a:ext cx="10058400" cy="320040"/>
          </a:xfrm>
          <a:prstGeom prst="rect">
            <a:avLst/>
          </a:prstGeom>
          <a:noFill/>
          <a:ln/>
        </p:spPr>
        <p:txBody>
          <a:bodyPr wrap="square" lIns="0" tIns="0" rIns="0" bIns="0" rtlCol="0" anchor="ctr"/>
          <a:lstStyle/>
          <a:p>
            <a:pPr algn="l" indent="0" marL="0">
              <a:buNone/>
            </a:pPr>
            <a:r>
              <a:rPr lang="en-US" sz="1300" b="1" spc="300" kern="0" dirty="0">
                <a:solidFill>
                  <a:srgbClr val="C8A84B"/>
                </a:solidFill>
                <a:latin typeface="Arial" pitchFamily="34" charset="0"/>
                <a:ea typeface="Arial" pitchFamily="34" charset="-122"/>
                <a:cs typeface="Arial" pitchFamily="34" charset="-120"/>
              </a:rPr>
              <a:t>THE DATA</a:t>
            </a:r>
            <a:endParaRPr lang="en-US" sz="1300" dirty="0"/>
          </a:p>
        </p:txBody>
      </p:sp>
      <p:sp>
        <p:nvSpPr>
          <p:cNvPr id="25" name="Text 23"/>
          <p:cNvSpPr/>
          <p:nvPr/>
        </p:nvSpPr>
        <p:spPr>
          <a:xfrm>
            <a:off x="548640" y="932688"/>
            <a:ext cx="11064240" cy="822960"/>
          </a:xfrm>
          <a:prstGeom prst="rect">
            <a:avLst/>
          </a:prstGeom>
          <a:noFill/>
          <a:ln/>
        </p:spPr>
        <p:txBody>
          <a:bodyPr wrap="square" lIns="0" tIns="0" rIns="0" bIns="0" rtlCol="0" anchor="ctr"/>
          <a:lstStyle/>
          <a:p>
            <a:pPr algn="l" indent="0" marL="0">
              <a:buNone/>
            </a:pPr>
            <a:r>
              <a:rPr lang="en-US" sz="3300" b="1" dirty="0">
                <a:solidFill>
                  <a:srgbClr val="EAECF2"/>
                </a:solidFill>
                <a:latin typeface="Arial" pitchFamily="34" charset="0"/>
                <a:ea typeface="Arial" pitchFamily="34" charset="-122"/>
                <a:cs typeface="Arial" pitchFamily="34" charset="-120"/>
              </a:rPr>
              <a:t>Real reports, and a lopsided pile</a:t>
            </a:r>
            <a:endParaRPr lang="en-US" sz="3300" dirty="0"/>
          </a:p>
        </p:txBody>
      </p:sp>
      <p:sp>
        <p:nvSpPr>
          <p:cNvPr id="26" name="Shape 24"/>
          <p:cNvSpPr/>
          <p:nvPr/>
        </p:nvSpPr>
        <p:spPr>
          <a:xfrm>
            <a:off x="640080" y="2331720"/>
            <a:ext cx="3566160" cy="2194560"/>
          </a:xfrm>
          <a:prstGeom prst="roundRect">
            <a:avLst>
              <a:gd name="adj" fmla="val 3750"/>
            </a:avLst>
          </a:prstGeom>
          <a:solidFill>
            <a:srgbClr val="161F38"/>
          </a:solidFill>
          <a:ln/>
          <a:effectLst>
            <a:outerShdw sx="100000" sy="100000" kx="0" ky="0" algn="bl" rotWithShape="0" blurRad="101600" dist="38100" dir="5400000">
              <a:srgbClr val="000000">
                <a:alpha val="35000"/>
              </a:srgbClr>
            </a:outerShdw>
          </a:effectLst>
        </p:spPr>
      </p:sp>
      <p:sp>
        <p:nvSpPr>
          <p:cNvPr id="27" name="Text 25"/>
          <p:cNvSpPr/>
          <p:nvPr/>
        </p:nvSpPr>
        <p:spPr>
          <a:xfrm>
            <a:off x="868680" y="2560320"/>
            <a:ext cx="3108960" cy="914400"/>
          </a:xfrm>
          <a:prstGeom prst="rect">
            <a:avLst/>
          </a:prstGeom>
          <a:noFill/>
          <a:ln/>
        </p:spPr>
        <p:txBody>
          <a:bodyPr wrap="square" lIns="0" tIns="0" rIns="0" bIns="0" rtlCol="0" anchor="ctr"/>
          <a:lstStyle/>
          <a:p>
            <a:pPr indent="0" marL="0">
              <a:buNone/>
            </a:pPr>
            <a:r>
              <a:rPr lang="en-US" sz="4400" b="1" dirty="0">
                <a:solidFill>
                  <a:srgbClr val="C8A84B"/>
                </a:solidFill>
                <a:latin typeface="Arial" pitchFamily="34" charset="0"/>
                <a:ea typeface="Arial" pitchFamily="34" charset="-122"/>
                <a:cs typeface="Arial" pitchFamily="34" charset="-120"/>
              </a:rPr>
              <a:t>~80,000</a:t>
            </a:r>
            <a:endParaRPr lang="en-US" sz="4400" dirty="0"/>
          </a:p>
        </p:txBody>
      </p:sp>
      <p:sp>
        <p:nvSpPr>
          <p:cNvPr id="28" name="Text 26"/>
          <p:cNvSpPr/>
          <p:nvPr/>
        </p:nvSpPr>
        <p:spPr>
          <a:xfrm>
            <a:off x="868680" y="3566160"/>
            <a:ext cx="3108960" cy="822960"/>
          </a:xfrm>
          <a:prstGeom prst="rect">
            <a:avLst/>
          </a:prstGeom>
          <a:noFill/>
          <a:ln/>
        </p:spPr>
        <p:txBody>
          <a:bodyPr wrap="square" lIns="0" tIns="0" rIns="0" bIns="0" rtlCol="0" anchor="ctr"/>
          <a:lstStyle/>
          <a:p>
            <a:pPr indent="0" marL="0">
              <a:lnSpc>
                <a:spcPct val="105000"/>
              </a:lnSpc>
              <a:buNone/>
            </a:pPr>
            <a:r>
              <a:rPr lang="en-US" sz="1350" dirty="0">
                <a:solidFill>
                  <a:srgbClr val="9AA6C0"/>
                </a:solidFill>
                <a:latin typeface="Calibri" pitchFamily="34" charset="0"/>
                <a:ea typeface="Calibri" pitchFamily="34" charset="-122"/>
                <a:cs typeface="Calibri" pitchFamily="34" charset="-120"/>
              </a:rPr>
              <a:t>real sighting reports,</a:t>
            </a:r>
            <a:endParaRPr lang="en-US" sz="1350" dirty="0"/>
          </a:p>
          <a:p>
            <a:pPr indent="0" marL="0">
              <a:lnSpc>
                <a:spcPct val="105000"/>
              </a:lnSpc>
              <a:buNone/>
            </a:pPr>
            <a:r>
              <a:rPr lang="en-US" sz="1350" dirty="0">
                <a:solidFill>
                  <a:srgbClr val="9AA6C0"/>
                </a:solidFill>
                <a:latin typeface="Calibri" pitchFamily="34" charset="0"/>
                <a:ea typeface="Calibri" pitchFamily="34" charset="-122"/>
                <a:cs typeface="Calibri" pitchFamily="34" charset="-120"/>
              </a:rPr>
              <a:t>pulled straight off a link</a:t>
            </a:r>
            <a:endParaRPr lang="en-US" sz="1350" dirty="0"/>
          </a:p>
        </p:txBody>
      </p:sp>
      <p:sp>
        <p:nvSpPr>
          <p:cNvPr id="29" name="Shape 27"/>
          <p:cNvSpPr/>
          <p:nvPr/>
        </p:nvSpPr>
        <p:spPr>
          <a:xfrm>
            <a:off x="4480560" y="2331720"/>
            <a:ext cx="3566160" cy="2194560"/>
          </a:xfrm>
          <a:prstGeom prst="roundRect">
            <a:avLst>
              <a:gd name="adj" fmla="val 3750"/>
            </a:avLst>
          </a:prstGeom>
          <a:solidFill>
            <a:srgbClr val="161F38"/>
          </a:solidFill>
          <a:ln/>
          <a:effectLst>
            <a:outerShdw sx="100000" sy="100000" kx="0" ky="0" algn="bl" rotWithShape="0" blurRad="101600" dist="38100" dir="5400000">
              <a:srgbClr val="000000">
                <a:alpha val="35000"/>
              </a:srgbClr>
            </a:outerShdw>
          </a:effectLst>
        </p:spPr>
      </p:sp>
      <p:sp>
        <p:nvSpPr>
          <p:cNvPr id="30" name="Text 28"/>
          <p:cNvSpPr/>
          <p:nvPr/>
        </p:nvSpPr>
        <p:spPr>
          <a:xfrm>
            <a:off x="4709160" y="2560320"/>
            <a:ext cx="3108960" cy="914400"/>
          </a:xfrm>
          <a:prstGeom prst="rect">
            <a:avLst/>
          </a:prstGeom>
          <a:noFill/>
          <a:ln/>
        </p:spPr>
        <p:txBody>
          <a:bodyPr wrap="square" lIns="0" tIns="0" rIns="0" bIns="0" rtlCol="0" anchor="ctr"/>
          <a:lstStyle/>
          <a:p>
            <a:pPr indent="0" marL="0">
              <a:buNone/>
            </a:pPr>
            <a:r>
              <a:rPr lang="en-US" sz="4400" b="1" dirty="0">
                <a:solidFill>
                  <a:srgbClr val="5FBFD6"/>
                </a:solidFill>
                <a:latin typeface="Arial" pitchFamily="34" charset="0"/>
                <a:ea typeface="Arial" pitchFamily="34" charset="-122"/>
                <a:cs typeface="Arial" pitchFamily="34" charset="-120"/>
              </a:rPr>
              <a:t>54,000</a:t>
            </a:r>
            <a:endParaRPr lang="en-US" sz="4400" dirty="0"/>
          </a:p>
        </p:txBody>
      </p:sp>
      <p:sp>
        <p:nvSpPr>
          <p:cNvPr id="31" name="Text 29"/>
          <p:cNvSpPr/>
          <p:nvPr/>
        </p:nvSpPr>
        <p:spPr>
          <a:xfrm>
            <a:off x="4709160" y="3566160"/>
            <a:ext cx="3108960" cy="822960"/>
          </a:xfrm>
          <a:prstGeom prst="rect">
            <a:avLst/>
          </a:prstGeom>
          <a:noFill/>
          <a:ln/>
        </p:spPr>
        <p:txBody>
          <a:bodyPr wrap="square" lIns="0" tIns="0" rIns="0" bIns="0" rtlCol="0" anchor="ctr"/>
          <a:lstStyle/>
          <a:p>
            <a:pPr indent="0" marL="0">
              <a:lnSpc>
                <a:spcPct val="105000"/>
              </a:lnSpc>
              <a:buNone/>
            </a:pPr>
            <a:r>
              <a:rPr lang="en-US" sz="1350" dirty="0">
                <a:solidFill>
                  <a:srgbClr val="9AA6C0"/>
                </a:solidFill>
                <a:latin typeface="Calibri" pitchFamily="34" charset="0"/>
                <a:ea typeface="Calibri" pitchFamily="34" charset="-122"/>
                <a:cs typeface="Calibri" pitchFamily="34" charset="-120"/>
              </a:rPr>
              <a:t>kept after cleaning, across</a:t>
            </a:r>
            <a:endParaRPr lang="en-US" sz="1350" dirty="0"/>
          </a:p>
          <a:p>
            <a:pPr indent="0" marL="0">
              <a:lnSpc>
                <a:spcPct val="105000"/>
              </a:lnSpc>
              <a:buNone/>
            </a:pPr>
            <a:r>
              <a:rPr lang="en-US" sz="1350" dirty="0">
                <a:solidFill>
                  <a:srgbClr val="9AA6C0"/>
                </a:solidFill>
                <a:latin typeface="Calibri" pitchFamily="34" charset="0"/>
                <a:ea typeface="Calibri" pitchFamily="34" charset="-122"/>
                <a:cs typeface="Calibri" pitchFamily="34" charset="-120"/>
              </a:rPr>
              <a:t>eight usable shapes</a:t>
            </a:r>
            <a:endParaRPr lang="en-US" sz="1350" dirty="0"/>
          </a:p>
        </p:txBody>
      </p:sp>
      <p:sp>
        <p:nvSpPr>
          <p:cNvPr id="32" name="Shape 30"/>
          <p:cNvSpPr/>
          <p:nvPr/>
        </p:nvSpPr>
        <p:spPr>
          <a:xfrm>
            <a:off x="8321040" y="2331720"/>
            <a:ext cx="3566160" cy="2194560"/>
          </a:xfrm>
          <a:prstGeom prst="roundRect">
            <a:avLst>
              <a:gd name="adj" fmla="val 3750"/>
            </a:avLst>
          </a:prstGeom>
          <a:solidFill>
            <a:srgbClr val="161F38"/>
          </a:solidFill>
          <a:ln/>
          <a:effectLst>
            <a:outerShdw sx="100000" sy="100000" kx="0" ky="0" algn="bl" rotWithShape="0" blurRad="101600" dist="38100" dir="5400000">
              <a:srgbClr val="000000">
                <a:alpha val="35000"/>
              </a:srgbClr>
            </a:outerShdw>
          </a:effectLst>
        </p:spPr>
      </p:sp>
      <p:sp>
        <p:nvSpPr>
          <p:cNvPr id="33" name="Text 31"/>
          <p:cNvSpPr/>
          <p:nvPr/>
        </p:nvSpPr>
        <p:spPr>
          <a:xfrm>
            <a:off x="8549640" y="2560320"/>
            <a:ext cx="3108960" cy="914400"/>
          </a:xfrm>
          <a:prstGeom prst="rect">
            <a:avLst/>
          </a:prstGeom>
          <a:noFill/>
          <a:ln/>
        </p:spPr>
        <p:txBody>
          <a:bodyPr wrap="square" lIns="0" tIns="0" rIns="0" bIns="0" rtlCol="0" anchor="ctr"/>
          <a:lstStyle/>
          <a:p>
            <a:pPr indent="0" marL="0">
              <a:buNone/>
            </a:pPr>
            <a:r>
              <a:rPr lang="en-US" sz="4000" b="1" dirty="0">
                <a:solidFill>
                  <a:srgbClr val="C8A84B"/>
                </a:solidFill>
                <a:latin typeface="Arial" pitchFamily="34" charset="0"/>
                <a:ea typeface="Arial" pitchFamily="34" charset="-122"/>
                <a:cs typeface="Arial" pitchFamily="34" charset="-120"/>
              </a:rPr>
              <a:t>“light”</a:t>
            </a:r>
            <a:endParaRPr lang="en-US" sz="4000" dirty="0"/>
          </a:p>
        </p:txBody>
      </p:sp>
      <p:sp>
        <p:nvSpPr>
          <p:cNvPr id="34" name="Text 32"/>
          <p:cNvSpPr/>
          <p:nvPr/>
        </p:nvSpPr>
        <p:spPr>
          <a:xfrm>
            <a:off x="8549640" y="3611880"/>
            <a:ext cx="3108960" cy="822960"/>
          </a:xfrm>
          <a:prstGeom prst="rect">
            <a:avLst/>
          </a:prstGeom>
          <a:noFill/>
          <a:ln/>
        </p:spPr>
        <p:txBody>
          <a:bodyPr wrap="square" lIns="0" tIns="0" rIns="0" bIns="0" rtlCol="0" anchor="ctr"/>
          <a:lstStyle/>
          <a:p>
            <a:pPr indent="0" marL="0">
              <a:lnSpc>
                <a:spcPct val="105000"/>
              </a:lnSpc>
              <a:buNone/>
            </a:pPr>
            <a:r>
              <a:rPr lang="en-US" sz="1350" dirty="0">
                <a:solidFill>
                  <a:srgbClr val="9AA6C0"/>
                </a:solidFill>
                <a:latin typeface="Calibri" pitchFamily="34" charset="0"/>
                <a:ea typeface="Calibri" pitchFamily="34" charset="-122"/>
                <a:cs typeface="Calibri" pitchFamily="34" charset="-120"/>
              </a:rPr>
              <a:t>the one shape that swamps</a:t>
            </a:r>
            <a:endParaRPr lang="en-US" sz="1350" dirty="0"/>
          </a:p>
          <a:p>
            <a:pPr indent="0" marL="0">
              <a:lnSpc>
                <a:spcPct val="105000"/>
              </a:lnSpc>
              <a:buNone/>
            </a:pPr>
            <a:r>
              <a:rPr lang="en-US" sz="1350" dirty="0">
                <a:solidFill>
                  <a:srgbClr val="9AA6C0"/>
                </a:solidFill>
                <a:latin typeface="Calibri" pitchFamily="34" charset="0"/>
                <a:ea typeface="Calibri" pitchFamily="34" charset="-122"/>
                <a:cs typeface="Calibri" pitchFamily="34" charset="-120"/>
              </a:rPr>
              <a:t>all the others. Remember it.</a:t>
            </a:r>
            <a:endParaRPr lang="en-US" sz="1350" dirty="0"/>
          </a:p>
        </p:txBody>
      </p:sp>
      <p:sp>
        <p:nvSpPr>
          <p:cNvPr id="35" name="Text 33"/>
          <p:cNvSpPr/>
          <p:nvPr/>
        </p:nvSpPr>
        <p:spPr>
          <a:xfrm>
            <a:off x="640080" y="4937760"/>
            <a:ext cx="10881360" cy="822960"/>
          </a:xfrm>
          <a:prstGeom prst="rect">
            <a:avLst/>
          </a:prstGeom>
          <a:noFill/>
          <a:ln/>
        </p:spPr>
        <p:txBody>
          <a:bodyPr wrap="square" lIns="0" tIns="0" rIns="0" bIns="0" rtlCol="0" anchor="ctr"/>
          <a:lstStyle/>
          <a:p>
            <a:pPr indent="0" marL="0">
              <a:lnSpc>
                <a:spcPct val="110000"/>
              </a:lnSpc>
              <a:buNone/>
            </a:pPr>
            <a:r>
              <a:rPr lang="en-US" sz="1450" b="1" dirty="0">
                <a:solidFill>
                  <a:srgbClr val="EAECF2"/>
                </a:solidFill>
                <a:latin typeface="Calibri" pitchFamily="34" charset="0"/>
                <a:ea typeface="Calibri" pitchFamily="34" charset="-122"/>
                <a:cs typeface="Calibri" pitchFamily="34" charset="-120"/>
              </a:rPr>
              <a:t>Rookie trap:  </a:t>
            </a:r>
            <a:pPr indent="0" marL="0">
              <a:lnSpc>
                <a:spcPct val="110000"/>
              </a:lnSpc>
              <a:buNone/>
            </a:pPr>
            <a:r>
              <a:rPr lang="en-US" sz="1450" dirty="0">
                <a:solidFill>
                  <a:srgbClr val="9AA6C0"/>
                </a:solidFill>
                <a:latin typeface="Calibri" pitchFamily="34" charset="0"/>
                <a:ea typeface="Calibri" pitchFamily="34" charset="-122"/>
                <a:cs typeface="Calibri" pitchFamily="34" charset="-120"/>
              </a:rPr>
              <a:t>the file has no column headers, so if you don't name them yourself the program grabs your first real report and thinks it's the titles. Got me the first time.</a:t>
            </a:r>
            <a:endParaRPr lang="en-US" sz="1450" dirty="0"/>
          </a:p>
        </p:txBody>
      </p:sp>
      <p:sp>
        <p:nvSpPr>
          <p:cNvPr id="37" name="Text 34"/>
          <p:cNvSpPr/>
          <p:nvPr/>
        </p:nvSpPr>
        <p:spPr>
          <a:xfrm>
            <a:off x="548640" y="6428232"/>
            <a:ext cx="6400800" cy="274320"/>
          </a:xfrm>
          <a:prstGeom prst="rect">
            <a:avLst/>
          </a:prstGeom>
          <a:noFill/>
          <a:ln/>
        </p:spPr>
        <p:txBody>
          <a:bodyPr wrap="square" lIns="0" tIns="0" rIns="0" bIns="0" rtlCol="0" anchor="ctr"/>
          <a:lstStyle/>
          <a:p>
            <a:pPr indent="0" marL="0">
              <a:buNone/>
            </a:pPr>
            <a:r>
              <a:rPr lang="en-US" sz="900" dirty="0">
                <a:solidFill>
                  <a:srgbClr val="9AA6C0"/>
                </a:solidFill>
                <a:latin typeface="Calibri" pitchFamily="34" charset="0"/>
                <a:ea typeface="Calibri" pitchFamily="34" charset="-122"/>
                <a:cs typeface="Calibri" pitchFamily="34" charset="-120"/>
              </a:rPr>
              <a:t>UFO Witness Report Analyzer</a:t>
            </a:r>
            <a:endParaRPr lang="en-US" sz="900" dirty="0"/>
          </a:p>
        </p:txBody>
      </p:sp>
      <p:sp>
        <p:nvSpPr>
          <p:cNvPr id="38" name="Text 35"/>
          <p:cNvSpPr/>
          <p:nvPr/>
        </p:nvSpPr>
        <p:spPr>
          <a:xfrm>
            <a:off x="11430000" y="6428232"/>
            <a:ext cx="365760" cy="274320"/>
          </a:xfrm>
          <a:prstGeom prst="rect">
            <a:avLst/>
          </a:prstGeom>
          <a:noFill/>
          <a:ln/>
        </p:spPr>
        <p:txBody>
          <a:bodyPr wrap="square" lIns="0" tIns="0" rIns="0" bIns="0" rtlCol="0" anchor="ctr"/>
          <a:lstStyle/>
          <a:p>
            <a:pPr algn="r" indent="0" marL="0">
              <a:buNone/>
            </a:pPr>
            <a:r>
              <a:rPr lang="en-US" sz="900" dirty="0">
                <a:solidFill>
                  <a:srgbClr val="9AA6C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8815642" y="2194190"/>
            <a:ext cx="38887" cy="38887"/>
          </a:xfrm>
          <a:prstGeom prst="ellipse">
            <a:avLst/>
          </a:prstGeom>
          <a:solidFill>
            <a:srgbClr val="3A4A6B">
              <a:alpha val="45000"/>
            </a:srgbClr>
          </a:solidFill>
          <a:ln/>
        </p:spPr>
      </p:sp>
      <p:sp>
        <p:nvSpPr>
          <p:cNvPr id="3" name="Shape 1"/>
          <p:cNvSpPr/>
          <p:nvPr/>
        </p:nvSpPr>
        <p:spPr>
          <a:xfrm>
            <a:off x="5388855" y="3768402"/>
            <a:ext cx="41009" cy="41009"/>
          </a:xfrm>
          <a:prstGeom prst="ellipse">
            <a:avLst/>
          </a:prstGeom>
          <a:solidFill>
            <a:srgbClr val="3A4A6B">
              <a:alpha val="45000"/>
            </a:srgbClr>
          </a:solidFill>
          <a:ln/>
        </p:spPr>
      </p:sp>
      <p:sp>
        <p:nvSpPr>
          <p:cNvPr id="4" name="Shape 2"/>
          <p:cNvSpPr/>
          <p:nvPr/>
        </p:nvSpPr>
        <p:spPr>
          <a:xfrm>
            <a:off x="5215148" y="4806391"/>
            <a:ext cx="54232" cy="54232"/>
          </a:xfrm>
          <a:prstGeom prst="ellipse">
            <a:avLst/>
          </a:prstGeom>
          <a:solidFill>
            <a:srgbClr val="C8A84B">
              <a:alpha val="45000"/>
            </a:srgbClr>
          </a:solidFill>
          <a:ln/>
        </p:spPr>
      </p:sp>
      <p:sp>
        <p:nvSpPr>
          <p:cNvPr id="5" name="Shape 3"/>
          <p:cNvSpPr/>
          <p:nvPr/>
        </p:nvSpPr>
        <p:spPr>
          <a:xfrm>
            <a:off x="11747795" y="5477492"/>
            <a:ext cx="22111" cy="22111"/>
          </a:xfrm>
          <a:prstGeom prst="ellipse">
            <a:avLst/>
          </a:prstGeom>
          <a:solidFill>
            <a:srgbClr val="C8A84B">
              <a:alpha val="45000"/>
            </a:srgbClr>
          </a:solidFill>
          <a:ln/>
        </p:spPr>
      </p:sp>
      <p:sp>
        <p:nvSpPr>
          <p:cNvPr id="6" name="Shape 4"/>
          <p:cNvSpPr/>
          <p:nvPr/>
        </p:nvSpPr>
        <p:spPr>
          <a:xfrm>
            <a:off x="3666598" y="2649038"/>
            <a:ext cx="28749" cy="28749"/>
          </a:xfrm>
          <a:prstGeom prst="ellipse">
            <a:avLst/>
          </a:prstGeom>
          <a:solidFill>
            <a:srgbClr val="C8A84B">
              <a:alpha val="45000"/>
            </a:srgbClr>
          </a:solidFill>
          <a:ln/>
        </p:spPr>
      </p:sp>
      <p:sp>
        <p:nvSpPr>
          <p:cNvPr id="7" name="Shape 5"/>
          <p:cNvSpPr/>
          <p:nvPr/>
        </p:nvSpPr>
        <p:spPr>
          <a:xfrm>
            <a:off x="10549576" y="2840361"/>
            <a:ext cx="49874" cy="49874"/>
          </a:xfrm>
          <a:prstGeom prst="ellipse">
            <a:avLst/>
          </a:prstGeom>
          <a:solidFill>
            <a:srgbClr val="3A4A6B">
              <a:alpha val="45000"/>
            </a:srgbClr>
          </a:solidFill>
          <a:ln/>
        </p:spPr>
      </p:sp>
      <p:sp>
        <p:nvSpPr>
          <p:cNvPr id="8" name="Shape 6"/>
          <p:cNvSpPr/>
          <p:nvPr/>
        </p:nvSpPr>
        <p:spPr>
          <a:xfrm>
            <a:off x="2068001" y="5458795"/>
            <a:ext cx="54442" cy="54442"/>
          </a:xfrm>
          <a:prstGeom prst="ellipse">
            <a:avLst/>
          </a:prstGeom>
          <a:solidFill>
            <a:srgbClr val="3A4A6B">
              <a:alpha val="45000"/>
            </a:srgbClr>
          </a:solidFill>
          <a:ln/>
        </p:spPr>
      </p:sp>
      <p:sp>
        <p:nvSpPr>
          <p:cNvPr id="9" name="Shape 7"/>
          <p:cNvSpPr/>
          <p:nvPr/>
        </p:nvSpPr>
        <p:spPr>
          <a:xfrm>
            <a:off x="4196475" y="4323674"/>
            <a:ext cx="45275" cy="45275"/>
          </a:xfrm>
          <a:prstGeom prst="ellipse">
            <a:avLst/>
          </a:prstGeom>
          <a:solidFill>
            <a:srgbClr val="3A4A6B">
              <a:alpha val="45000"/>
            </a:srgbClr>
          </a:solidFill>
          <a:ln/>
        </p:spPr>
      </p:sp>
      <p:sp>
        <p:nvSpPr>
          <p:cNvPr id="10" name="Shape 8"/>
          <p:cNvSpPr/>
          <p:nvPr/>
        </p:nvSpPr>
        <p:spPr>
          <a:xfrm>
            <a:off x="4623338" y="620330"/>
            <a:ext cx="38743" cy="38743"/>
          </a:xfrm>
          <a:prstGeom prst="ellipse">
            <a:avLst/>
          </a:prstGeom>
          <a:solidFill>
            <a:srgbClr val="3A4A6B">
              <a:alpha val="45000"/>
            </a:srgbClr>
          </a:solidFill>
          <a:ln/>
        </p:spPr>
      </p:sp>
      <p:sp>
        <p:nvSpPr>
          <p:cNvPr id="11" name="Shape 9"/>
          <p:cNvSpPr/>
          <p:nvPr/>
        </p:nvSpPr>
        <p:spPr>
          <a:xfrm>
            <a:off x="45460" y="6710098"/>
            <a:ext cx="29200" cy="29200"/>
          </a:xfrm>
          <a:prstGeom prst="ellipse">
            <a:avLst/>
          </a:prstGeom>
          <a:solidFill>
            <a:srgbClr val="C8A84B">
              <a:alpha val="45000"/>
            </a:srgbClr>
          </a:solidFill>
          <a:ln/>
        </p:spPr>
      </p:sp>
      <p:sp>
        <p:nvSpPr>
          <p:cNvPr id="12" name="Shape 10"/>
          <p:cNvSpPr/>
          <p:nvPr/>
        </p:nvSpPr>
        <p:spPr>
          <a:xfrm>
            <a:off x="2924645" y="6506310"/>
            <a:ext cx="29628" cy="29628"/>
          </a:xfrm>
          <a:prstGeom prst="ellipse">
            <a:avLst/>
          </a:prstGeom>
          <a:solidFill>
            <a:srgbClr val="3A4A6B">
              <a:alpha val="45000"/>
            </a:srgbClr>
          </a:solidFill>
          <a:ln/>
        </p:spPr>
      </p:sp>
      <p:sp>
        <p:nvSpPr>
          <p:cNvPr id="13" name="Shape 11"/>
          <p:cNvSpPr/>
          <p:nvPr/>
        </p:nvSpPr>
        <p:spPr>
          <a:xfrm>
            <a:off x="7705632" y="2718300"/>
            <a:ext cx="51318" cy="51318"/>
          </a:xfrm>
          <a:prstGeom prst="ellipse">
            <a:avLst/>
          </a:prstGeom>
          <a:solidFill>
            <a:srgbClr val="C8A84B">
              <a:alpha val="45000"/>
            </a:srgbClr>
          </a:solidFill>
          <a:ln/>
        </p:spPr>
      </p:sp>
      <p:sp>
        <p:nvSpPr>
          <p:cNvPr id="14" name="Shape 12"/>
          <p:cNvSpPr/>
          <p:nvPr/>
        </p:nvSpPr>
        <p:spPr>
          <a:xfrm>
            <a:off x="1626332" y="87401"/>
            <a:ext cx="22584" cy="22584"/>
          </a:xfrm>
          <a:prstGeom prst="ellipse">
            <a:avLst/>
          </a:prstGeom>
          <a:solidFill>
            <a:srgbClr val="C8A84B">
              <a:alpha val="45000"/>
            </a:srgbClr>
          </a:solidFill>
          <a:ln/>
        </p:spPr>
      </p:sp>
      <p:sp>
        <p:nvSpPr>
          <p:cNvPr id="15" name="Shape 13"/>
          <p:cNvSpPr/>
          <p:nvPr/>
        </p:nvSpPr>
        <p:spPr>
          <a:xfrm>
            <a:off x="7958789" y="52946"/>
            <a:ext cx="58008" cy="58008"/>
          </a:xfrm>
          <a:prstGeom prst="ellipse">
            <a:avLst/>
          </a:prstGeom>
          <a:solidFill>
            <a:srgbClr val="3A4A6B">
              <a:alpha val="45000"/>
            </a:srgbClr>
          </a:solidFill>
          <a:ln/>
        </p:spPr>
      </p:sp>
      <p:sp>
        <p:nvSpPr>
          <p:cNvPr id="16" name="Shape 14"/>
          <p:cNvSpPr/>
          <p:nvPr/>
        </p:nvSpPr>
        <p:spPr>
          <a:xfrm>
            <a:off x="566928" y="566928"/>
            <a:ext cx="146304" cy="146304"/>
          </a:xfrm>
          <a:prstGeom prst="ellipse">
            <a:avLst/>
          </a:prstGeom>
          <a:solidFill>
            <a:srgbClr val="C8A84B"/>
          </a:solidFill>
          <a:ln/>
        </p:spPr>
      </p:sp>
      <p:sp>
        <p:nvSpPr>
          <p:cNvPr id="17" name="Shape 15"/>
          <p:cNvSpPr/>
          <p:nvPr/>
        </p:nvSpPr>
        <p:spPr>
          <a:xfrm>
            <a:off x="475488" y="475488"/>
            <a:ext cx="329184" cy="329184"/>
          </a:xfrm>
          <a:prstGeom prst="ellipse">
            <a:avLst/>
          </a:prstGeom>
          <a:ln w="12700">
            <a:solidFill>
              <a:srgbClr val="C8A84B">
                <a:alpha val="60000"/>
              </a:srgbClr>
            </a:solidFill>
            <a:prstDash val="solid"/>
          </a:ln>
        </p:spPr>
      </p:sp>
      <p:sp>
        <p:nvSpPr>
          <p:cNvPr id="18" name="Text 16"/>
          <p:cNvSpPr/>
          <p:nvPr/>
        </p:nvSpPr>
        <p:spPr>
          <a:xfrm>
            <a:off x="914400" y="502920"/>
            <a:ext cx="10058400" cy="320040"/>
          </a:xfrm>
          <a:prstGeom prst="rect">
            <a:avLst/>
          </a:prstGeom>
          <a:noFill/>
          <a:ln/>
        </p:spPr>
        <p:txBody>
          <a:bodyPr wrap="square" lIns="0" tIns="0" rIns="0" bIns="0" rtlCol="0" anchor="ctr"/>
          <a:lstStyle/>
          <a:p>
            <a:pPr algn="l" indent="0" marL="0">
              <a:buNone/>
            </a:pPr>
            <a:r>
              <a:rPr lang="en-US" sz="1300" b="1" spc="300" kern="0" dirty="0">
                <a:solidFill>
                  <a:srgbClr val="C8A84B"/>
                </a:solidFill>
                <a:latin typeface="Arial" pitchFamily="34" charset="0"/>
                <a:ea typeface="Arial" pitchFamily="34" charset="-122"/>
                <a:cs typeface="Arial" pitchFamily="34" charset="-120"/>
              </a:rPr>
              <a:t>STEP ONE</a:t>
            </a:r>
            <a:endParaRPr lang="en-US" sz="1300" dirty="0"/>
          </a:p>
        </p:txBody>
      </p:sp>
      <p:sp>
        <p:nvSpPr>
          <p:cNvPr id="19" name="Text 17"/>
          <p:cNvSpPr/>
          <p:nvPr/>
        </p:nvSpPr>
        <p:spPr>
          <a:xfrm>
            <a:off x="548640" y="932688"/>
            <a:ext cx="11064240" cy="822960"/>
          </a:xfrm>
          <a:prstGeom prst="rect">
            <a:avLst/>
          </a:prstGeom>
          <a:noFill/>
          <a:ln/>
        </p:spPr>
        <p:txBody>
          <a:bodyPr wrap="square" lIns="0" tIns="0" rIns="0" bIns="0" rtlCol="0" anchor="ctr"/>
          <a:lstStyle/>
          <a:p>
            <a:pPr algn="l" indent="0" marL="0">
              <a:buNone/>
            </a:pPr>
            <a:r>
              <a:rPr lang="en-US" sz="3300" b="1" dirty="0">
                <a:solidFill>
                  <a:srgbClr val="EAECF2"/>
                </a:solidFill>
                <a:latin typeface="Arial" pitchFamily="34" charset="0"/>
                <a:ea typeface="Arial" pitchFamily="34" charset="-122"/>
                <a:cs typeface="Arial" pitchFamily="34" charset="-120"/>
              </a:rPr>
              <a:t>Turning words into numbers</a:t>
            </a:r>
            <a:endParaRPr lang="en-US" sz="3300" dirty="0"/>
          </a:p>
        </p:txBody>
      </p:sp>
      <p:sp>
        <p:nvSpPr>
          <p:cNvPr id="20" name="Text 18"/>
          <p:cNvSpPr/>
          <p:nvPr/>
        </p:nvSpPr>
        <p:spPr>
          <a:xfrm>
            <a:off x="640080" y="1783080"/>
            <a:ext cx="6309360" cy="822960"/>
          </a:xfrm>
          <a:prstGeom prst="rect">
            <a:avLst/>
          </a:prstGeom>
          <a:noFill/>
          <a:ln/>
        </p:spPr>
        <p:txBody>
          <a:bodyPr wrap="square" lIns="0" tIns="0" rIns="0" bIns="0" rtlCol="0" anchor="ctr"/>
          <a:lstStyle/>
          <a:p>
            <a:pPr indent="0" marL="0">
              <a:lnSpc>
                <a:spcPct val="110000"/>
              </a:lnSpc>
              <a:buNone/>
            </a:pPr>
            <a:r>
              <a:rPr lang="en-US" sz="1600" i="1" dirty="0">
                <a:solidFill>
                  <a:srgbClr val="9AA6C0"/>
                </a:solidFill>
                <a:latin typeface="Calibri" pitchFamily="34" charset="0"/>
                <a:ea typeface="Calibri" pitchFamily="34" charset="-122"/>
                <a:cs typeface="Calibri" pitchFamily="34" charset="-120"/>
              </a:rPr>
              <a:t>A computer can't read English like we do, so TF-IDF scores every word by how useful it is for telling shapes apart.</a:t>
            </a:r>
            <a:endParaRPr lang="en-US" sz="1600" dirty="0"/>
          </a:p>
        </p:txBody>
      </p:sp>
      <p:sp>
        <p:nvSpPr>
          <p:cNvPr id="21" name="Shape 19"/>
          <p:cNvSpPr/>
          <p:nvPr/>
        </p:nvSpPr>
        <p:spPr>
          <a:xfrm>
            <a:off x="640080" y="2788920"/>
            <a:ext cx="6309360" cy="2971800"/>
          </a:xfrm>
          <a:prstGeom prst="roundRect">
            <a:avLst>
              <a:gd name="adj" fmla="val 2769"/>
            </a:avLst>
          </a:prstGeom>
          <a:solidFill>
            <a:srgbClr val="161F38"/>
          </a:solidFill>
          <a:ln/>
          <a:effectLst>
            <a:outerShdw sx="100000" sy="100000" kx="0" ky="0" algn="bl" rotWithShape="0" blurRad="101600" dist="38100" dir="5400000">
              <a:srgbClr val="000000">
                <a:alpha val="35000"/>
              </a:srgbClr>
            </a:outerShdw>
          </a:effectLst>
        </p:spPr>
      </p:sp>
      <p:sp>
        <p:nvSpPr>
          <p:cNvPr id="22" name="Text 20"/>
          <p:cNvSpPr/>
          <p:nvPr/>
        </p:nvSpPr>
        <p:spPr>
          <a:xfrm>
            <a:off x="868680" y="3017520"/>
            <a:ext cx="5852160" cy="822960"/>
          </a:xfrm>
          <a:prstGeom prst="rect">
            <a:avLst/>
          </a:prstGeom>
          <a:noFill/>
          <a:ln/>
        </p:spPr>
        <p:txBody>
          <a:bodyPr wrap="square" lIns="0" tIns="0" rIns="0" bIns="0" rtlCol="0" anchor="ctr"/>
          <a:lstStyle/>
          <a:p>
            <a:pPr indent="0" marL="0">
              <a:lnSpc>
                <a:spcPct val="110000"/>
              </a:lnSpc>
              <a:buNone/>
            </a:pPr>
            <a:r>
              <a:rPr lang="en-US" sz="1450" b="1" dirty="0">
                <a:solidFill>
                  <a:srgbClr val="5FBFD6"/>
                </a:solidFill>
                <a:latin typeface="Calibri" pitchFamily="34" charset="0"/>
                <a:ea typeface="Calibri" pitchFamily="34" charset="-122"/>
                <a:cs typeface="Calibri" pitchFamily="34" charset="-120"/>
              </a:rPr>
              <a:t>Common words </a:t>
            </a:r>
            <a:pPr indent="0" marL="0">
              <a:lnSpc>
                <a:spcPct val="110000"/>
              </a:lnSpc>
              <a:buNone/>
            </a:pPr>
            <a:r>
              <a:rPr lang="en-US" sz="1450" dirty="0">
                <a:solidFill>
                  <a:srgbClr val="EAECF2"/>
                </a:solidFill>
                <a:latin typeface="Calibri" pitchFamily="34" charset="0"/>
                <a:ea typeface="Calibri" pitchFamily="34" charset="-122"/>
                <a:cs typeface="Calibri" pitchFamily="34" charset="-120"/>
              </a:rPr>
              <a:t>like “the” and “and” show up everywhere, so they're useless. Near-zero score.</a:t>
            </a:r>
            <a:endParaRPr lang="en-US" sz="1450" dirty="0"/>
          </a:p>
        </p:txBody>
      </p:sp>
      <p:sp>
        <p:nvSpPr>
          <p:cNvPr id="23" name="Shape 21"/>
          <p:cNvSpPr/>
          <p:nvPr/>
        </p:nvSpPr>
        <p:spPr>
          <a:xfrm>
            <a:off x="868680" y="3977640"/>
            <a:ext cx="5852160" cy="0"/>
          </a:xfrm>
          <a:prstGeom prst="line">
            <a:avLst/>
          </a:prstGeom>
          <a:noFill/>
          <a:ln w="12700">
            <a:solidFill>
              <a:srgbClr val="1E2A47"/>
            </a:solidFill>
            <a:prstDash val="solid"/>
          </a:ln>
        </p:spPr>
      </p:sp>
      <p:sp>
        <p:nvSpPr>
          <p:cNvPr id="24" name="Text 22"/>
          <p:cNvSpPr/>
          <p:nvPr/>
        </p:nvSpPr>
        <p:spPr>
          <a:xfrm>
            <a:off x="868680" y="4114800"/>
            <a:ext cx="5852160" cy="914400"/>
          </a:xfrm>
          <a:prstGeom prst="rect">
            <a:avLst/>
          </a:prstGeom>
          <a:noFill/>
          <a:ln/>
        </p:spPr>
        <p:txBody>
          <a:bodyPr wrap="square" lIns="0" tIns="0" rIns="0" bIns="0" rtlCol="0" anchor="ctr"/>
          <a:lstStyle/>
          <a:p>
            <a:pPr indent="0" marL="0">
              <a:lnSpc>
                <a:spcPct val="110000"/>
              </a:lnSpc>
              <a:buNone/>
            </a:pPr>
            <a:r>
              <a:rPr lang="en-US" sz="1450" b="1" dirty="0">
                <a:solidFill>
                  <a:srgbClr val="C8A84B"/>
                </a:solidFill>
                <a:latin typeface="Calibri" pitchFamily="34" charset="0"/>
                <a:ea typeface="Calibri" pitchFamily="34" charset="-122"/>
                <a:cs typeface="Calibri" pitchFamily="34" charset="-120"/>
              </a:rPr>
              <a:t>Rare, telling words </a:t>
            </a:r>
            <a:pPr indent="0" marL="0">
              <a:lnSpc>
                <a:spcPct val="110000"/>
              </a:lnSpc>
              <a:buNone/>
            </a:pPr>
            <a:r>
              <a:rPr lang="en-US" sz="1450" dirty="0">
                <a:solidFill>
                  <a:srgbClr val="EAECF2"/>
                </a:solidFill>
                <a:latin typeface="Calibri" pitchFamily="34" charset="0"/>
                <a:ea typeface="Calibri" pitchFamily="34" charset="-122"/>
                <a:cs typeface="Calibri" pitchFamily="34" charset="-120"/>
              </a:rPr>
              <a:t>like “triangular” mean something, so they score high. Those are the ones that carry the signal.</a:t>
            </a:r>
            <a:endParaRPr lang="en-US" sz="1450" dirty="0"/>
          </a:p>
        </p:txBody>
      </p:sp>
      <p:sp>
        <p:nvSpPr>
          <p:cNvPr id="25" name="Text 23"/>
          <p:cNvSpPr/>
          <p:nvPr/>
        </p:nvSpPr>
        <p:spPr>
          <a:xfrm>
            <a:off x="868680" y="5120640"/>
            <a:ext cx="5852160" cy="548640"/>
          </a:xfrm>
          <a:prstGeom prst="rect">
            <a:avLst/>
          </a:prstGeom>
          <a:noFill/>
          <a:ln/>
        </p:spPr>
        <p:txBody>
          <a:bodyPr wrap="square" lIns="0" tIns="0" rIns="0" bIns="0" rtlCol="0" anchor="ctr"/>
          <a:lstStyle/>
          <a:p>
            <a:pPr indent="0" marL="0">
              <a:buNone/>
            </a:pPr>
            <a:r>
              <a:rPr lang="en-US" sz="1300" b="1" i="1" dirty="0">
                <a:solidFill>
                  <a:srgbClr val="C8A84B"/>
                </a:solidFill>
                <a:latin typeface="Calibri" pitchFamily="34" charset="0"/>
                <a:ea typeface="Calibri" pitchFamily="34" charset="-122"/>
                <a:cs typeface="Calibri" pitchFamily="34" charset="-120"/>
              </a:rPr>
              <a:t>Like a toolbox: common bolts tell you nothing, but one specialty tool tells you the job.</a:t>
            </a:r>
            <a:endParaRPr lang="en-US" sz="1300" dirty="0"/>
          </a:p>
        </p:txBody>
      </p:sp>
      <p:sp>
        <p:nvSpPr>
          <p:cNvPr id="26" name="Shape 24"/>
          <p:cNvSpPr/>
          <p:nvPr/>
        </p:nvSpPr>
        <p:spPr>
          <a:xfrm>
            <a:off x="7178040" y="2788920"/>
            <a:ext cx="4343400" cy="2971800"/>
          </a:xfrm>
          <a:prstGeom prst="roundRect">
            <a:avLst>
              <a:gd name="adj" fmla="val 2769"/>
            </a:avLst>
          </a:prstGeom>
          <a:solidFill>
            <a:srgbClr val="1E2A47"/>
          </a:solidFill>
          <a:ln/>
          <a:effectLst>
            <a:outerShdw sx="100000" sy="100000" kx="0" ky="0" algn="bl" rotWithShape="0" blurRad="101600" dist="38100" dir="5400000">
              <a:srgbClr val="000000">
                <a:alpha val="35000"/>
              </a:srgbClr>
            </a:outerShdw>
          </a:effectLst>
        </p:spPr>
      </p:sp>
      <p:sp>
        <p:nvSpPr>
          <p:cNvPr id="27" name="Text 25"/>
          <p:cNvSpPr/>
          <p:nvPr/>
        </p:nvSpPr>
        <p:spPr>
          <a:xfrm>
            <a:off x="7406640" y="2971800"/>
            <a:ext cx="3840480" cy="365760"/>
          </a:xfrm>
          <a:prstGeom prst="rect">
            <a:avLst/>
          </a:prstGeom>
          <a:noFill/>
          <a:ln/>
        </p:spPr>
        <p:txBody>
          <a:bodyPr wrap="square" lIns="0" tIns="0" rIns="0" bIns="0" rtlCol="0" anchor="ctr"/>
          <a:lstStyle/>
          <a:p>
            <a:pPr indent="0" marL="0">
              <a:buNone/>
            </a:pPr>
            <a:r>
              <a:rPr lang="en-US" sz="1400" b="1" dirty="0">
                <a:solidFill>
                  <a:srgbClr val="EAECF2"/>
                </a:solidFill>
                <a:latin typeface="Arial" pitchFamily="34" charset="0"/>
                <a:ea typeface="Arial" pitchFamily="34" charset="-122"/>
                <a:cs typeface="Arial" pitchFamily="34" charset="-120"/>
              </a:rPr>
              <a:t>Rough word scores</a:t>
            </a:r>
            <a:endParaRPr lang="en-US" sz="1400" dirty="0"/>
          </a:p>
        </p:txBody>
      </p:sp>
      <p:sp>
        <p:nvSpPr>
          <p:cNvPr id="28" name="Text 26"/>
          <p:cNvSpPr/>
          <p:nvPr/>
        </p:nvSpPr>
        <p:spPr>
          <a:xfrm>
            <a:off x="7406640" y="3456432"/>
            <a:ext cx="1371600" cy="292608"/>
          </a:xfrm>
          <a:prstGeom prst="rect">
            <a:avLst/>
          </a:prstGeom>
          <a:noFill/>
          <a:ln/>
        </p:spPr>
        <p:txBody>
          <a:bodyPr wrap="square" lIns="0" tIns="0" rIns="0" bIns="0" rtlCol="0" anchor="ctr"/>
          <a:lstStyle/>
          <a:p>
            <a:pPr indent="0" marL="0">
              <a:buNone/>
            </a:pPr>
            <a:r>
              <a:rPr lang="en-US" sz="1250" dirty="0">
                <a:solidFill>
                  <a:srgbClr val="EAECF2"/>
                </a:solidFill>
                <a:latin typeface="Calibri" pitchFamily="34" charset="0"/>
                <a:ea typeface="Calibri" pitchFamily="34" charset="-122"/>
                <a:cs typeface="Calibri" pitchFamily="34" charset="-120"/>
              </a:rPr>
              <a:t>triangular</a:t>
            </a:r>
            <a:endParaRPr lang="en-US" sz="1250" dirty="0"/>
          </a:p>
        </p:txBody>
      </p:sp>
      <p:sp>
        <p:nvSpPr>
          <p:cNvPr id="29" name="Shape 27"/>
          <p:cNvSpPr/>
          <p:nvPr/>
        </p:nvSpPr>
        <p:spPr>
          <a:xfrm>
            <a:off x="8869680" y="3483864"/>
            <a:ext cx="2377440" cy="182880"/>
          </a:xfrm>
          <a:prstGeom prst="roundRect">
            <a:avLst>
              <a:gd name="adj" fmla="val 25000"/>
            </a:avLst>
          </a:prstGeom>
          <a:solidFill>
            <a:srgbClr val="161F38"/>
          </a:solidFill>
          <a:ln/>
        </p:spPr>
      </p:sp>
      <p:sp>
        <p:nvSpPr>
          <p:cNvPr id="30" name="Shape 28"/>
          <p:cNvSpPr/>
          <p:nvPr/>
        </p:nvSpPr>
        <p:spPr>
          <a:xfrm>
            <a:off x="8869680" y="3483864"/>
            <a:ext cx="2258568" cy="182880"/>
          </a:xfrm>
          <a:prstGeom prst="roundRect">
            <a:avLst>
              <a:gd name="adj" fmla="val 25000"/>
            </a:avLst>
          </a:prstGeom>
          <a:solidFill>
            <a:srgbClr val="C8A84B"/>
          </a:solidFill>
          <a:ln/>
        </p:spPr>
      </p:sp>
      <p:sp>
        <p:nvSpPr>
          <p:cNvPr id="31" name="Text 29"/>
          <p:cNvSpPr/>
          <p:nvPr/>
        </p:nvSpPr>
        <p:spPr>
          <a:xfrm>
            <a:off x="7406640" y="3895344"/>
            <a:ext cx="1371600" cy="292608"/>
          </a:xfrm>
          <a:prstGeom prst="rect">
            <a:avLst/>
          </a:prstGeom>
          <a:noFill/>
          <a:ln/>
        </p:spPr>
        <p:txBody>
          <a:bodyPr wrap="square" lIns="0" tIns="0" rIns="0" bIns="0" rtlCol="0" anchor="ctr"/>
          <a:lstStyle/>
          <a:p>
            <a:pPr indent="0" marL="0">
              <a:buNone/>
            </a:pPr>
            <a:r>
              <a:rPr lang="en-US" sz="1250" dirty="0">
                <a:solidFill>
                  <a:srgbClr val="EAECF2"/>
                </a:solidFill>
                <a:latin typeface="Calibri" pitchFamily="34" charset="0"/>
                <a:ea typeface="Calibri" pitchFamily="34" charset="-122"/>
                <a:cs typeface="Calibri" pitchFamily="34" charset="-120"/>
              </a:rPr>
              <a:t>cigar</a:t>
            </a:r>
            <a:endParaRPr lang="en-US" sz="1250" dirty="0"/>
          </a:p>
        </p:txBody>
      </p:sp>
      <p:sp>
        <p:nvSpPr>
          <p:cNvPr id="32" name="Shape 30"/>
          <p:cNvSpPr/>
          <p:nvPr/>
        </p:nvSpPr>
        <p:spPr>
          <a:xfrm>
            <a:off x="8869680" y="3922776"/>
            <a:ext cx="2377440" cy="182880"/>
          </a:xfrm>
          <a:prstGeom prst="roundRect">
            <a:avLst>
              <a:gd name="adj" fmla="val 25000"/>
            </a:avLst>
          </a:prstGeom>
          <a:solidFill>
            <a:srgbClr val="161F38"/>
          </a:solidFill>
          <a:ln/>
        </p:spPr>
      </p:sp>
      <p:sp>
        <p:nvSpPr>
          <p:cNvPr id="33" name="Shape 31"/>
          <p:cNvSpPr/>
          <p:nvPr/>
        </p:nvSpPr>
        <p:spPr>
          <a:xfrm>
            <a:off x="8869680" y="3922776"/>
            <a:ext cx="2139696" cy="182880"/>
          </a:xfrm>
          <a:prstGeom prst="roundRect">
            <a:avLst>
              <a:gd name="adj" fmla="val 25000"/>
            </a:avLst>
          </a:prstGeom>
          <a:solidFill>
            <a:srgbClr val="C8A84B"/>
          </a:solidFill>
          <a:ln/>
        </p:spPr>
      </p:sp>
      <p:sp>
        <p:nvSpPr>
          <p:cNvPr id="34" name="Text 32"/>
          <p:cNvSpPr/>
          <p:nvPr/>
        </p:nvSpPr>
        <p:spPr>
          <a:xfrm>
            <a:off x="7406640" y="4334256"/>
            <a:ext cx="1371600" cy="292608"/>
          </a:xfrm>
          <a:prstGeom prst="rect">
            <a:avLst/>
          </a:prstGeom>
          <a:noFill/>
          <a:ln/>
        </p:spPr>
        <p:txBody>
          <a:bodyPr wrap="square" lIns="0" tIns="0" rIns="0" bIns="0" rtlCol="0" anchor="ctr"/>
          <a:lstStyle/>
          <a:p>
            <a:pPr indent="0" marL="0">
              <a:buNone/>
            </a:pPr>
            <a:r>
              <a:rPr lang="en-US" sz="1250" dirty="0">
                <a:solidFill>
                  <a:srgbClr val="EAECF2"/>
                </a:solidFill>
                <a:latin typeface="Calibri" pitchFamily="34" charset="0"/>
                <a:ea typeface="Calibri" pitchFamily="34" charset="-122"/>
                <a:cs typeface="Calibri" pitchFamily="34" charset="-120"/>
              </a:rPr>
              <a:t>disc</a:t>
            </a:r>
            <a:endParaRPr lang="en-US" sz="1250" dirty="0"/>
          </a:p>
        </p:txBody>
      </p:sp>
      <p:sp>
        <p:nvSpPr>
          <p:cNvPr id="35" name="Shape 33"/>
          <p:cNvSpPr/>
          <p:nvPr/>
        </p:nvSpPr>
        <p:spPr>
          <a:xfrm>
            <a:off x="8869680" y="4361688"/>
            <a:ext cx="2377440" cy="182880"/>
          </a:xfrm>
          <a:prstGeom prst="roundRect">
            <a:avLst>
              <a:gd name="adj" fmla="val 25000"/>
            </a:avLst>
          </a:prstGeom>
          <a:solidFill>
            <a:srgbClr val="161F38"/>
          </a:solidFill>
          <a:ln/>
        </p:spPr>
      </p:sp>
      <p:sp>
        <p:nvSpPr>
          <p:cNvPr id="36" name="Shape 34"/>
          <p:cNvSpPr/>
          <p:nvPr/>
        </p:nvSpPr>
        <p:spPr>
          <a:xfrm>
            <a:off x="8869680" y="4361688"/>
            <a:ext cx="2044598" cy="182880"/>
          </a:xfrm>
          <a:prstGeom prst="roundRect">
            <a:avLst>
              <a:gd name="adj" fmla="val 25000"/>
            </a:avLst>
          </a:prstGeom>
          <a:solidFill>
            <a:srgbClr val="C8A84B"/>
          </a:solidFill>
          <a:ln/>
        </p:spPr>
      </p:sp>
      <p:sp>
        <p:nvSpPr>
          <p:cNvPr id="37" name="Text 35"/>
          <p:cNvSpPr/>
          <p:nvPr/>
        </p:nvSpPr>
        <p:spPr>
          <a:xfrm>
            <a:off x="7406640" y="4773168"/>
            <a:ext cx="1371600" cy="292608"/>
          </a:xfrm>
          <a:prstGeom prst="rect">
            <a:avLst/>
          </a:prstGeom>
          <a:noFill/>
          <a:ln/>
        </p:spPr>
        <p:txBody>
          <a:bodyPr wrap="square" lIns="0" tIns="0" rIns="0" bIns="0" rtlCol="0" anchor="ctr"/>
          <a:lstStyle/>
          <a:p>
            <a:pPr indent="0" marL="0">
              <a:buNone/>
            </a:pPr>
            <a:r>
              <a:rPr lang="en-US" sz="1250" dirty="0">
                <a:solidFill>
                  <a:srgbClr val="EAECF2"/>
                </a:solidFill>
                <a:latin typeface="Calibri" pitchFamily="34" charset="0"/>
                <a:ea typeface="Calibri" pitchFamily="34" charset="-122"/>
                <a:cs typeface="Calibri" pitchFamily="34" charset="-120"/>
              </a:rPr>
              <a:t>the</a:t>
            </a:r>
            <a:endParaRPr lang="en-US" sz="1250" dirty="0"/>
          </a:p>
        </p:txBody>
      </p:sp>
      <p:sp>
        <p:nvSpPr>
          <p:cNvPr id="38" name="Shape 36"/>
          <p:cNvSpPr/>
          <p:nvPr/>
        </p:nvSpPr>
        <p:spPr>
          <a:xfrm>
            <a:off x="8869680" y="4800600"/>
            <a:ext cx="2377440" cy="182880"/>
          </a:xfrm>
          <a:prstGeom prst="roundRect">
            <a:avLst>
              <a:gd name="adj" fmla="val 25000"/>
            </a:avLst>
          </a:prstGeom>
          <a:solidFill>
            <a:srgbClr val="161F38"/>
          </a:solidFill>
          <a:ln/>
        </p:spPr>
      </p:sp>
      <p:sp>
        <p:nvSpPr>
          <p:cNvPr id="39" name="Shape 37"/>
          <p:cNvSpPr/>
          <p:nvPr/>
        </p:nvSpPr>
        <p:spPr>
          <a:xfrm>
            <a:off x="8869680" y="4800600"/>
            <a:ext cx="190195" cy="182880"/>
          </a:xfrm>
          <a:prstGeom prst="roundRect">
            <a:avLst>
              <a:gd name="adj" fmla="val 25000"/>
            </a:avLst>
          </a:prstGeom>
          <a:solidFill>
            <a:srgbClr val="3A4A6B"/>
          </a:solidFill>
          <a:ln/>
        </p:spPr>
      </p:sp>
      <p:sp>
        <p:nvSpPr>
          <p:cNvPr id="40" name="Text 38"/>
          <p:cNvSpPr/>
          <p:nvPr/>
        </p:nvSpPr>
        <p:spPr>
          <a:xfrm>
            <a:off x="7406640" y="5212080"/>
            <a:ext cx="1371600" cy="292608"/>
          </a:xfrm>
          <a:prstGeom prst="rect">
            <a:avLst/>
          </a:prstGeom>
          <a:noFill/>
          <a:ln/>
        </p:spPr>
        <p:txBody>
          <a:bodyPr wrap="square" lIns="0" tIns="0" rIns="0" bIns="0" rtlCol="0" anchor="ctr"/>
          <a:lstStyle/>
          <a:p>
            <a:pPr indent="0" marL="0">
              <a:buNone/>
            </a:pPr>
            <a:r>
              <a:rPr lang="en-US" sz="1250" dirty="0">
                <a:solidFill>
                  <a:srgbClr val="EAECF2"/>
                </a:solidFill>
                <a:latin typeface="Calibri" pitchFamily="34" charset="0"/>
                <a:ea typeface="Calibri" pitchFamily="34" charset="-122"/>
                <a:cs typeface="Calibri" pitchFamily="34" charset="-120"/>
              </a:rPr>
              <a:t>saw</a:t>
            </a:r>
            <a:endParaRPr lang="en-US" sz="1250" dirty="0"/>
          </a:p>
        </p:txBody>
      </p:sp>
      <p:sp>
        <p:nvSpPr>
          <p:cNvPr id="41" name="Shape 39"/>
          <p:cNvSpPr/>
          <p:nvPr/>
        </p:nvSpPr>
        <p:spPr>
          <a:xfrm>
            <a:off x="8869680" y="5239512"/>
            <a:ext cx="2377440" cy="182880"/>
          </a:xfrm>
          <a:prstGeom prst="roundRect">
            <a:avLst>
              <a:gd name="adj" fmla="val 25000"/>
            </a:avLst>
          </a:prstGeom>
          <a:solidFill>
            <a:srgbClr val="161F38"/>
          </a:solidFill>
          <a:ln/>
        </p:spPr>
      </p:sp>
      <p:sp>
        <p:nvSpPr>
          <p:cNvPr id="42" name="Shape 40"/>
          <p:cNvSpPr/>
          <p:nvPr/>
        </p:nvSpPr>
        <p:spPr>
          <a:xfrm>
            <a:off x="8869680" y="5239512"/>
            <a:ext cx="285293" cy="182880"/>
          </a:xfrm>
          <a:prstGeom prst="roundRect">
            <a:avLst>
              <a:gd name="adj" fmla="val 25000"/>
            </a:avLst>
          </a:prstGeom>
          <a:solidFill>
            <a:srgbClr val="3A4A6B"/>
          </a:solidFill>
          <a:ln/>
        </p:spPr>
      </p:sp>
      <p:sp>
        <p:nvSpPr>
          <p:cNvPr id="44" name="Text 41"/>
          <p:cNvSpPr/>
          <p:nvPr/>
        </p:nvSpPr>
        <p:spPr>
          <a:xfrm>
            <a:off x="548640" y="6428232"/>
            <a:ext cx="6400800" cy="274320"/>
          </a:xfrm>
          <a:prstGeom prst="rect">
            <a:avLst/>
          </a:prstGeom>
          <a:noFill/>
          <a:ln/>
        </p:spPr>
        <p:txBody>
          <a:bodyPr wrap="square" lIns="0" tIns="0" rIns="0" bIns="0" rtlCol="0" anchor="ctr"/>
          <a:lstStyle/>
          <a:p>
            <a:pPr indent="0" marL="0">
              <a:buNone/>
            </a:pPr>
            <a:r>
              <a:rPr lang="en-US" sz="900" dirty="0">
                <a:solidFill>
                  <a:srgbClr val="9AA6C0"/>
                </a:solidFill>
                <a:latin typeface="Calibri" pitchFamily="34" charset="0"/>
                <a:ea typeface="Calibri" pitchFamily="34" charset="-122"/>
                <a:cs typeface="Calibri" pitchFamily="34" charset="-120"/>
              </a:rPr>
              <a:t>UFO Witness Report Analyzer</a:t>
            </a:r>
            <a:endParaRPr lang="en-US" sz="900" dirty="0"/>
          </a:p>
        </p:txBody>
      </p:sp>
      <p:sp>
        <p:nvSpPr>
          <p:cNvPr id="45" name="Text 42"/>
          <p:cNvSpPr/>
          <p:nvPr/>
        </p:nvSpPr>
        <p:spPr>
          <a:xfrm>
            <a:off x="11430000" y="6428232"/>
            <a:ext cx="365760" cy="274320"/>
          </a:xfrm>
          <a:prstGeom prst="rect">
            <a:avLst/>
          </a:prstGeom>
          <a:noFill/>
          <a:ln/>
        </p:spPr>
        <p:txBody>
          <a:bodyPr wrap="square" lIns="0" tIns="0" rIns="0" bIns="0" rtlCol="0" anchor="ctr"/>
          <a:lstStyle/>
          <a:p>
            <a:pPr algn="r" indent="0" marL="0">
              <a:buNone/>
            </a:pPr>
            <a:r>
              <a:rPr lang="en-US" sz="900" dirty="0">
                <a:solidFill>
                  <a:srgbClr val="9AA6C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645299" y="4998714"/>
            <a:ext cx="35241" cy="35241"/>
          </a:xfrm>
          <a:prstGeom prst="ellipse">
            <a:avLst/>
          </a:prstGeom>
          <a:solidFill>
            <a:srgbClr val="3A4A6B">
              <a:alpha val="45000"/>
            </a:srgbClr>
          </a:solidFill>
          <a:ln/>
        </p:spPr>
      </p:sp>
      <p:sp>
        <p:nvSpPr>
          <p:cNvPr id="3" name="Shape 1"/>
          <p:cNvSpPr/>
          <p:nvPr/>
        </p:nvSpPr>
        <p:spPr>
          <a:xfrm>
            <a:off x="3849793" y="3369704"/>
            <a:ext cx="45924" cy="45924"/>
          </a:xfrm>
          <a:prstGeom prst="ellipse">
            <a:avLst/>
          </a:prstGeom>
          <a:solidFill>
            <a:srgbClr val="3A4A6B">
              <a:alpha val="45000"/>
            </a:srgbClr>
          </a:solidFill>
          <a:ln/>
        </p:spPr>
      </p:sp>
      <p:sp>
        <p:nvSpPr>
          <p:cNvPr id="4" name="Shape 2"/>
          <p:cNvSpPr/>
          <p:nvPr/>
        </p:nvSpPr>
        <p:spPr>
          <a:xfrm>
            <a:off x="5652959" y="3659805"/>
            <a:ext cx="26503" cy="26503"/>
          </a:xfrm>
          <a:prstGeom prst="ellipse">
            <a:avLst/>
          </a:prstGeom>
          <a:solidFill>
            <a:srgbClr val="C8A84B">
              <a:alpha val="45000"/>
            </a:srgbClr>
          </a:solidFill>
          <a:ln/>
        </p:spPr>
      </p:sp>
      <p:sp>
        <p:nvSpPr>
          <p:cNvPr id="5" name="Shape 3"/>
          <p:cNvSpPr/>
          <p:nvPr/>
        </p:nvSpPr>
        <p:spPr>
          <a:xfrm>
            <a:off x="9057642" y="2736350"/>
            <a:ext cx="61081" cy="61081"/>
          </a:xfrm>
          <a:prstGeom prst="ellipse">
            <a:avLst/>
          </a:prstGeom>
          <a:solidFill>
            <a:srgbClr val="3A4A6B">
              <a:alpha val="45000"/>
            </a:srgbClr>
          </a:solidFill>
          <a:ln/>
        </p:spPr>
      </p:sp>
      <p:sp>
        <p:nvSpPr>
          <p:cNvPr id="6" name="Shape 4"/>
          <p:cNvSpPr/>
          <p:nvPr/>
        </p:nvSpPr>
        <p:spPr>
          <a:xfrm>
            <a:off x="7157301" y="260673"/>
            <a:ext cx="33946" cy="33946"/>
          </a:xfrm>
          <a:prstGeom prst="ellipse">
            <a:avLst/>
          </a:prstGeom>
          <a:solidFill>
            <a:srgbClr val="C8A84B">
              <a:alpha val="45000"/>
            </a:srgbClr>
          </a:solidFill>
          <a:ln/>
        </p:spPr>
      </p:sp>
      <p:sp>
        <p:nvSpPr>
          <p:cNvPr id="7" name="Shape 5"/>
          <p:cNvSpPr/>
          <p:nvPr/>
        </p:nvSpPr>
        <p:spPr>
          <a:xfrm>
            <a:off x="6107765" y="2498108"/>
            <a:ext cx="51214" cy="51214"/>
          </a:xfrm>
          <a:prstGeom prst="ellipse">
            <a:avLst/>
          </a:prstGeom>
          <a:solidFill>
            <a:srgbClr val="3A4A6B">
              <a:alpha val="45000"/>
            </a:srgbClr>
          </a:solidFill>
          <a:ln/>
        </p:spPr>
      </p:sp>
      <p:sp>
        <p:nvSpPr>
          <p:cNvPr id="8" name="Shape 6"/>
          <p:cNvSpPr/>
          <p:nvPr/>
        </p:nvSpPr>
        <p:spPr>
          <a:xfrm>
            <a:off x="7560599" y="3267986"/>
            <a:ext cx="24267" cy="24267"/>
          </a:xfrm>
          <a:prstGeom prst="ellipse">
            <a:avLst/>
          </a:prstGeom>
          <a:solidFill>
            <a:srgbClr val="3A4A6B">
              <a:alpha val="45000"/>
            </a:srgbClr>
          </a:solidFill>
          <a:ln/>
        </p:spPr>
      </p:sp>
      <p:sp>
        <p:nvSpPr>
          <p:cNvPr id="9" name="Shape 7"/>
          <p:cNvSpPr/>
          <p:nvPr/>
        </p:nvSpPr>
        <p:spPr>
          <a:xfrm>
            <a:off x="11365662" y="3755643"/>
            <a:ext cx="60915" cy="60915"/>
          </a:xfrm>
          <a:prstGeom prst="ellipse">
            <a:avLst/>
          </a:prstGeom>
          <a:solidFill>
            <a:srgbClr val="C8A84B">
              <a:alpha val="45000"/>
            </a:srgbClr>
          </a:solidFill>
          <a:ln/>
        </p:spPr>
      </p:sp>
      <p:sp>
        <p:nvSpPr>
          <p:cNvPr id="10" name="Shape 8"/>
          <p:cNvSpPr/>
          <p:nvPr/>
        </p:nvSpPr>
        <p:spPr>
          <a:xfrm>
            <a:off x="2058304" y="2606410"/>
            <a:ext cx="18352" cy="18352"/>
          </a:xfrm>
          <a:prstGeom prst="ellipse">
            <a:avLst/>
          </a:prstGeom>
          <a:solidFill>
            <a:srgbClr val="3A4A6B">
              <a:alpha val="45000"/>
            </a:srgbClr>
          </a:solidFill>
          <a:ln/>
        </p:spPr>
      </p:sp>
      <p:sp>
        <p:nvSpPr>
          <p:cNvPr id="11" name="Shape 9"/>
          <p:cNvSpPr/>
          <p:nvPr/>
        </p:nvSpPr>
        <p:spPr>
          <a:xfrm>
            <a:off x="4261850" y="4307622"/>
            <a:ext cx="46721" cy="46721"/>
          </a:xfrm>
          <a:prstGeom prst="ellipse">
            <a:avLst/>
          </a:prstGeom>
          <a:solidFill>
            <a:srgbClr val="3A4A6B">
              <a:alpha val="45000"/>
            </a:srgbClr>
          </a:solidFill>
          <a:ln/>
        </p:spPr>
      </p:sp>
      <p:sp>
        <p:nvSpPr>
          <p:cNvPr id="12" name="Shape 10"/>
          <p:cNvSpPr/>
          <p:nvPr/>
        </p:nvSpPr>
        <p:spPr>
          <a:xfrm>
            <a:off x="259517" y="4710612"/>
            <a:ext cx="20150" cy="20150"/>
          </a:xfrm>
          <a:prstGeom prst="ellipse">
            <a:avLst/>
          </a:prstGeom>
          <a:solidFill>
            <a:srgbClr val="C8A84B">
              <a:alpha val="45000"/>
            </a:srgbClr>
          </a:solidFill>
          <a:ln/>
        </p:spPr>
      </p:sp>
      <p:sp>
        <p:nvSpPr>
          <p:cNvPr id="13" name="Shape 11"/>
          <p:cNvSpPr/>
          <p:nvPr/>
        </p:nvSpPr>
        <p:spPr>
          <a:xfrm>
            <a:off x="1612256" y="1698713"/>
            <a:ext cx="49836" cy="49836"/>
          </a:xfrm>
          <a:prstGeom prst="ellipse">
            <a:avLst/>
          </a:prstGeom>
          <a:solidFill>
            <a:srgbClr val="3A4A6B">
              <a:alpha val="45000"/>
            </a:srgbClr>
          </a:solidFill>
          <a:ln/>
        </p:spPr>
      </p:sp>
      <p:sp>
        <p:nvSpPr>
          <p:cNvPr id="14" name="Shape 12"/>
          <p:cNvSpPr/>
          <p:nvPr/>
        </p:nvSpPr>
        <p:spPr>
          <a:xfrm>
            <a:off x="7269073" y="3569259"/>
            <a:ext cx="21760" cy="21760"/>
          </a:xfrm>
          <a:prstGeom prst="ellipse">
            <a:avLst/>
          </a:prstGeom>
          <a:solidFill>
            <a:srgbClr val="C8A84B">
              <a:alpha val="45000"/>
            </a:srgbClr>
          </a:solidFill>
          <a:ln/>
        </p:spPr>
      </p:sp>
      <p:sp>
        <p:nvSpPr>
          <p:cNvPr id="15" name="Shape 13"/>
          <p:cNvSpPr/>
          <p:nvPr/>
        </p:nvSpPr>
        <p:spPr>
          <a:xfrm>
            <a:off x="6269585" y="839582"/>
            <a:ext cx="33572" cy="33572"/>
          </a:xfrm>
          <a:prstGeom prst="ellipse">
            <a:avLst/>
          </a:prstGeom>
          <a:solidFill>
            <a:srgbClr val="C8A84B">
              <a:alpha val="45000"/>
            </a:srgbClr>
          </a:solidFill>
          <a:ln/>
        </p:spPr>
      </p:sp>
      <p:sp>
        <p:nvSpPr>
          <p:cNvPr id="16" name="Shape 14"/>
          <p:cNvSpPr/>
          <p:nvPr/>
        </p:nvSpPr>
        <p:spPr>
          <a:xfrm>
            <a:off x="566928" y="566928"/>
            <a:ext cx="146304" cy="146304"/>
          </a:xfrm>
          <a:prstGeom prst="ellipse">
            <a:avLst/>
          </a:prstGeom>
          <a:solidFill>
            <a:srgbClr val="C8A84B"/>
          </a:solidFill>
          <a:ln/>
        </p:spPr>
      </p:sp>
      <p:sp>
        <p:nvSpPr>
          <p:cNvPr id="17" name="Shape 15"/>
          <p:cNvSpPr/>
          <p:nvPr/>
        </p:nvSpPr>
        <p:spPr>
          <a:xfrm>
            <a:off x="475488" y="475488"/>
            <a:ext cx="329184" cy="329184"/>
          </a:xfrm>
          <a:prstGeom prst="ellipse">
            <a:avLst/>
          </a:prstGeom>
          <a:ln w="12700">
            <a:solidFill>
              <a:srgbClr val="C8A84B">
                <a:alpha val="60000"/>
              </a:srgbClr>
            </a:solidFill>
            <a:prstDash val="solid"/>
          </a:ln>
        </p:spPr>
      </p:sp>
      <p:sp>
        <p:nvSpPr>
          <p:cNvPr id="18" name="Text 16"/>
          <p:cNvSpPr/>
          <p:nvPr/>
        </p:nvSpPr>
        <p:spPr>
          <a:xfrm>
            <a:off x="914400" y="502920"/>
            <a:ext cx="10058400" cy="320040"/>
          </a:xfrm>
          <a:prstGeom prst="rect">
            <a:avLst/>
          </a:prstGeom>
          <a:noFill/>
          <a:ln/>
        </p:spPr>
        <p:txBody>
          <a:bodyPr wrap="square" lIns="0" tIns="0" rIns="0" bIns="0" rtlCol="0" anchor="ctr"/>
          <a:lstStyle/>
          <a:p>
            <a:pPr algn="l" indent="0" marL="0">
              <a:buNone/>
            </a:pPr>
            <a:r>
              <a:rPr lang="en-US" sz="1300" b="1" spc="300" kern="0" dirty="0">
                <a:solidFill>
                  <a:srgbClr val="C8A84B"/>
                </a:solidFill>
                <a:latin typeface="Arial" pitchFamily="34" charset="0"/>
                <a:ea typeface="Arial" pitchFamily="34" charset="-122"/>
                <a:cs typeface="Arial" pitchFamily="34" charset="-120"/>
              </a:rPr>
              <a:t>STEP TWO</a:t>
            </a:r>
            <a:endParaRPr lang="en-US" sz="1300" dirty="0"/>
          </a:p>
        </p:txBody>
      </p:sp>
      <p:sp>
        <p:nvSpPr>
          <p:cNvPr id="19" name="Text 17"/>
          <p:cNvSpPr/>
          <p:nvPr/>
        </p:nvSpPr>
        <p:spPr>
          <a:xfrm>
            <a:off x="548640" y="932688"/>
            <a:ext cx="11064240" cy="822960"/>
          </a:xfrm>
          <a:prstGeom prst="rect">
            <a:avLst/>
          </a:prstGeom>
          <a:noFill/>
          <a:ln/>
        </p:spPr>
        <p:txBody>
          <a:bodyPr wrap="square" lIns="0" tIns="0" rIns="0" bIns="0" rtlCol="0" anchor="ctr"/>
          <a:lstStyle/>
          <a:p>
            <a:pPr algn="l" indent="0" marL="0">
              <a:buNone/>
            </a:pPr>
            <a:r>
              <a:rPr lang="en-US" sz="3300" b="1" dirty="0">
                <a:solidFill>
                  <a:srgbClr val="EAECF2"/>
                </a:solidFill>
                <a:latin typeface="Arial" pitchFamily="34" charset="0"/>
                <a:ea typeface="Arial" pitchFamily="34" charset="-122"/>
                <a:cs typeface="Arial" pitchFamily="34" charset="-120"/>
              </a:rPr>
              <a:t>Making the call</a:t>
            </a:r>
            <a:endParaRPr lang="en-US" sz="3300" dirty="0"/>
          </a:p>
        </p:txBody>
      </p:sp>
      <p:sp>
        <p:nvSpPr>
          <p:cNvPr id="20" name="Text 18"/>
          <p:cNvSpPr/>
          <p:nvPr/>
        </p:nvSpPr>
        <p:spPr>
          <a:xfrm>
            <a:off x="640080" y="1783080"/>
            <a:ext cx="10607040" cy="457200"/>
          </a:xfrm>
          <a:prstGeom prst="rect">
            <a:avLst/>
          </a:prstGeom>
          <a:noFill/>
          <a:ln/>
        </p:spPr>
        <p:txBody>
          <a:bodyPr wrap="square" lIns="0" tIns="0" rIns="0" bIns="0" rtlCol="0" anchor="ctr"/>
          <a:lstStyle/>
          <a:p>
            <a:pPr indent="0" marL="0">
              <a:buNone/>
            </a:pPr>
            <a:r>
              <a:rPr lang="en-US" sz="1600" i="1" dirty="0">
                <a:solidFill>
                  <a:srgbClr val="9AA6C0"/>
                </a:solidFill>
                <a:latin typeface="Calibri" pitchFamily="34" charset="0"/>
                <a:ea typeface="Calibri" pitchFamily="34" charset="-122"/>
                <a:cs typeface="Calibri" pitchFamily="34" charset="-120"/>
              </a:rPr>
              <a:t>Naive Bayes is basically a detective. It stacks up small clues from every word into one best guess.</a:t>
            </a:r>
            <a:endParaRPr lang="en-US" sz="1600" dirty="0"/>
          </a:p>
        </p:txBody>
      </p:sp>
      <p:sp>
        <p:nvSpPr>
          <p:cNvPr id="21" name="Shape 19"/>
          <p:cNvSpPr/>
          <p:nvPr/>
        </p:nvSpPr>
        <p:spPr>
          <a:xfrm>
            <a:off x="640080" y="2514600"/>
            <a:ext cx="3566160" cy="2651760"/>
          </a:xfrm>
          <a:prstGeom prst="roundRect">
            <a:avLst>
              <a:gd name="adj" fmla="val 3103"/>
            </a:avLst>
          </a:prstGeom>
          <a:solidFill>
            <a:srgbClr val="161F38"/>
          </a:solidFill>
          <a:ln/>
          <a:effectLst>
            <a:outerShdw sx="100000" sy="100000" kx="0" ky="0" algn="bl" rotWithShape="0" blurRad="101600" dist="38100" dir="5400000">
              <a:srgbClr val="000000">
                <a:alpha val="35000"/>
              </a:srgbClr>
            </a:outerShdw>
          </a:effectLst>
        </p:spPr>
      </p:sp>
      <p:sp>
        <p:nvSpPr>
          <p:cNvPr id="22" name="Text 20"/>
          <p:cNvSpPr/>
          <p:nvPr/>
        </p:nvSpPr>
        <p:spPr>
          <a:xfrm>
            <a:off x="896112" y="2743200"/>
            <a:ext cx="3063240" cy="457200"/>
          </a:xfrm>
          <a:prstGeom prst="rect">
            <a:avLst/>
          </a:prstGeom>
          <a:noFill/>
          <a:ln/>
        </p:spPr>
        <p:txBody>
          <a:bodyPr wrap="square" lIns="0" tIns="0" rIns="0" bIns="0" rtlCol="0" anchor="ctr"/>
          <a:lstStyle/>
          <a:p>
            <a:pPr indent="0" marL="0">
              <a:buNone/>
            </a:pPr>
            <a:r>
              <a:rPr lang="en-US" sz="1900" b="1" dirty="0">
                <a:solidFill>
                  <a:srgbClr val="C8A84B"/>
                </a:solidFill>
                <a:latin typeface="Arial" pitchFamily="34" charset="0"/>
                <a:ea typeface="Arial" pitchFamily="34" charset="-122"/>
                <a:cs typeface="Arial" pitchFamily="34" charset="-120"/>
              </a:rPr>
              <a:t>Learn</a:t>
            </a:r>
            <a:endParaRPr lang="en-US" sz="1900" dirty="0"/>
          </a:p>
        </p:txBody>
      </p:sp>
      <p:sp>
        <p:nvSpPr>
          <p:cNvPr id="23" name="Text 21"/>
          <p:cNvSpPr/>
          <p:nvPr/>
        </p:nvSpPr>
        <p:spPr>
          <a:xfrm>
            <a:off x="896112" y="3291840"/>
            <a:ext cx="3063240" cy="1737360"/>
          </a:xfrm>
          <a:prstGeom prst="rect">
            <a:avLst/>
          </a:prstGeom>
          <a:noFill/>
          <a:ln/>
        </p:spPr>
        <p:txBody>
          <a:bodyPr wrap="square" lIns="0" tIns="0" rIns="0" bIns="0" rtlCol="0" anchor="ctr"/>
          <a:lstStyle/>
          <a:p>
            <a:pPr indent="0" marL="0">
              <a:lnSpc>
                <a:spcPct val="115000"/>
              </a:lnSpc>
              <a:buNone/>
            </a:pPr>
            <a:r>
              <a:rPr lang="en-US" sz="1400" dirty="0">
                <a:solidFill>
                  <a:srgbClr val="EAECF2"/>
                </a:solidFill>
                <a:latin typeface="Calibri" pitchFamily="34" charset="0"/>
                <a:ea typeface="Calibri" pitchFamily="34" charset="-122"/>
                <a:cs typeface="Calibri" pitchFamily="34" charset="-120"/>
              </a:rPr>
              <a:t>During training it sees which words show up in triangle reports, in fireball reports, in each shape.</a:t>
            </a:r>
            <a:endParaRPr lang="en-US" sz="1400" dirty="0"/>
          </a:p>
        </p:txBody>
      </p:sp>
      <p:sp>
        <p:nvSpPr>
          <p:cNvPr id="24" name="Shape 22"/>
          <p:cNvSpPr/>
          <p:nvPr/>
        </p:nvSpPr>
        <p:spPr>
          <a:xfrm>
            <a:off x="4480560" y="2514600"/>
            <a:ext cx="3566160" cy="2651760"/>
          </a:xfrm>
          <a:prstGeom prst="roundRect">
            <a:avLst>
              <a:gd name="adj" fmla="val 3103"/>
            </a:avLst>
          </a:prstGeom>
          <a:solidFill>
            <a:srgbClr val="161F38"/>
          </a:solidFill>
          <a:ln/>
          <a:effectLst>
            <a:outerShdw sx="100000" sy="100000" kx="0" ky="0" algn="bl" rotWithShape="0" blurRad="101600" dist="38100" dir="5400000">
              <a:srgbClr val="000000">
                <a:alpha val="35000"/>
              </a:srgbClr>
            </a:outerShdw>
          </a:effectLst>
        </p:spPr>
      </p:sp>
      <p:sp>
        <p:nvSpPr>
          <p:cNvPr id="25" name="Text 23"/>
          <p:cNvSpPr/>
          <p:nvPr/>
        </p:nvSpPr>
        <p:spPr>
          <a:xfrm>
            <a:off x="4736592" y="2743200"/>
            <a:ext cx="3063240" cy="457200"/>
          </a:xfrm>
          <a:prstGeom prst="rect">
            <a:avLst/>
          </a:prstGeom>
          <a:noFill/>
          <a:ln/>
        </p:spPr>
        <p:txBody>
          <a:bodyPr wrap="square" lIns="0" tIns="0" rIns="0" bIns="0" rtlCol="0" anchor="ctr"/>
          <a:lstStyle/>
          <a:p>
            <a:pPr indent="0" marL="0">
              <a:buNone/>
            </a:pPr>
            <a:r>
              <a:rPr lang="en-US" sz="1900" b="1" dirty="0">
                <a:solidFill>
                  <a:srgbClr val="C8A84B"/>
                </a:solidFill>
                <a:latin typeface="Arial" pitchFamily="34" charset="0"/>
                <a:ea typeface="Arial" pitchFamily="34" charset="-122"/>
                <a:cs typeface="Arial" pitchFamily="34" charset="-120"/>
              </a:rPr>
              <a:t>Weigh</a:t>
            </a:r>
            <a:endParaRPr lang="en-US" sz="1900" dirty="0"/>
          </a:p>
        </p:txBody>
      </p:sp>
      <p:sp>
        <p:nvSpPr>
          <p:cNvPr id="26" name="Text 24"/>
          <p:cNvSpPr/>
          <p:nvPr/>
        </p:nvSpPr>
        <p:spPr>
          <a:xfrm>
            <a:off x="4736592" y="3291840"/>
            <a:ext cx="3063240" cy="1737360"/>
          </a:xfrm>
          <a:prstGeom prst="rect">
            <a:avLst/>
          </a:prstGeom>
          <a:noFill/>
          <a:ln/>
        </p:spPr>
        <p:txBody>
          <a:bodyPr wrap="square" lIns="0" tIns="0" rIns="0" bIns="0" rtlCol="0" anchor="ctr"/>
          <a:lstStyle/>
          <a:p>
            <a:pPr indent="0" marL="0">
              <a:lnSpc>
                <a:spcPct val="115000"/>
              </a:lnSpc>
              <a:buNone/>
            </a:pPr>
            <a:r>
              <a:rPr lang="en-US" sz="1400" dirty="0">
                <a:solidFill>
                  <a:srgbClr val="EAECF2"/>
                </a:solidFill>
                <a:latin typeface="Calibri" pitchFamily="34" charset="0"/>
                <a:ea typeface="Calibri" pitchFamily="34" charset="-122"/>
                <a:cs typeface="Calibri" pitchFamily="34" charset="-120"/>
              </a:rPr>
              <a:t>A new report comes in. “Triangular” pushes hard toward triangle. “Round” pushes toward circle.</a:t>
            </a:r>
            <a:endParaRPr lang="en-US" sz="1400" dirty="0"/>
          </a:p>
        </p:txBody>
      </p:sp>
      <p:sp>
        <p:nvSpPr>
          <p:cNvPr id="27" name="Shape 25"/>
          <p:cNvSpPr/>
          <p:nvPr/>
        </p:nvSpPr>
        <p:spPr>
          <a:xfrm>
            <a:off x="8321040" y="2514600"/>
            <a:ext cx="3566160" cy="2651760"/>
          </a:xfrm>
          <a:prstGeom prst="roundRect">
            <a:avLst>
              <a:gd name="adj" fmla="val 3103"/>
            </a:avLst>
          </a:prstGeom>
          <a:solidFill>
            <a:srgbClr val="1E2A47"/>
          </a:solidFill>
          <a:ln/>
          <a:effectLst>
            <a:outerShdw sx="100000" sy="100000" kx="0" ky="0" algn="bl" rotWithShape="0" blurRad="101600" dist="38100" dir="5400000">
              <a:srgbClr val="000000">
                <a:alpha val="35000"/>
              </a:srgbClr>
            </a:outerShdw>
          </a:effectLst>
        </p:spPr>
      </p:sp>
      <p:sp>
        <p:nvSpPr>
          <p:cNvPr id="28" name="Text 26"/>
          <p:cNvSpPr/>
          <p:nvPr/>
        </p:nvSpPr>
        <p:spPr>
          <a:xfrm>
            <a:off x="8577072" y="2743200"/>
            <a:ext cx="3063240" cy="457200"/>
          </a:xfrm>
          <a:prstGeom prst="rect">
            <a:avLst/>
          </a:prstGeom>
          <a:noFill/>
          <a:ln/>
        </p:spPr>
        <p:txBody>
          <a:bodyPr wrap="square" lIns="0" tIns="0" rIns="0" bIns="0" rtlCol="0" anchor="ctr"/>
          <a:lstStyle/>
          <a:p>
            <a:pPr indent="0" marL="0">
              <a:buNone/>
            </a:pPr>
            <a:r>
              <a:rPr lang="en-US" sz="1900" b="1" dirty="0">
                <a:solidFill>
                  <a:srgbClr val="5FBFD6"/>
                </a:solidFill>
                <a:latin typeface="Arial" pitchFamily="34" charset="0"/>
                <a:ea typeface="Arial" pitchFamily="34" charset="-122"/>
                <a:cs typeface="Arial" pitchFamily="34" charset="-120"/>
              </a:rPr>
              <a:t>Decide</a:t>
            </a:r>
            <a:endParaRPr lang="en-US" sz="1900" dirty="0"/>
          </a:p>
        </p:txBody>
      </p:sp>
      <p:sp>
        <p:nvSpPr>
          <p:cNvPr id="29" name="Text 27"/>
          <p:cNvSpPr/>
          <p:nvPr/>
        </p:nvSpPr>
        <p:spPr>
          <a:xfrm>
            <a:off x="8577072" y="3291840"/>
            <a:ext cx="3063240" cy="1737360"/>
          </a:xfrm>
          <a:prstGeom prst="rect">
            <a:avLst/>
          </a:prstGeom>
          <a:noFill/>
          <a:ln/>
        </p:spPr>
        <p:txBody>
          <a:bodyPr wrap="square" lIns="0" tIns="0" rIns="0" bIns="0" rtlCol="0" anchor="ctr"/>
          <a:lstStyle/>
          <a:p>
            <a:pPr indent="0" marL="0">
              <a:lnSpc>
                <a:spcPct val="115000"/>
              </a:lnSpc>
              <a:buNone/>
            </a:pPr>
            <a:r>
              <a:rPr lang="en-US" sz="1400" dirty="0">
                <a:solidFill>
                  <a:srgbClr val="EAECF2"/>
                </a:solidFill>
                <a:latin typeface="Calibri" pitchFamily="34" charset="0"/>
                <a:ea typeface="Calibri" pitchFamily="34" charset="-122"/>
                <a:cs typeface="Calibri" pitchFamily="34" charset="-120"/>
              </a:rPr>
              <a:t>It adds up all the little nudges, gets a score for each shape, and picks the winner.</a:t>
            </a:r>
            <a:endParaRPr lang="en-US" sz="1400" dirty="0"/>
          </a:p>
        </p:txBody>
      </p:sp>
      <p:sp>
        <p:nvSpPr>
          <p:cNvPr id="30" name="Text 28"/>
          <p:cNvSpPr/>
          <p:nvPr/>
        </p:nvSpPr>
        <p:spPr>
          <a:xfrm>
            <a:off x="640080" y="5394960"/>
            <a:ext cx="10881360" cy="457200"/>
          </a:xfrm>
          <a:prstGeom prst="rect">
            <a:avLst/>
          </a:prstGeom>
          <a:noFill/>
          <a:ln/>
        </p:spPr>
        <p:txBody>
          <a:bodyPr wrap="square" lIns="0" tIns="0" rIns="0" bIns="0" rtlCol="0" anchor="ctr"/>
          <a:lstStyle/>
          <a:p>
            <a:pPr indent="0" marL="0">
              <a:buNone/>
            </a:pPr>
            <a:r>
              <a:rPr lang="en-US" sz="1450" i="1" dirty="0">
                <a:solidFill>
                  <a:srgbClr val="9AA6C0"/>
                </a:solidFill>
                <a:latin typeface="Calibri" pitchFamily="34" charset="0"/>
                <a:ea typeface="Calibri" pitchFamily="34" charset="-122"/>
                <a:cs typeface="Calibri" pitchFamily="34" charset="-120"/>
              </a:rPr>
              <a:t>Nothing fancy. But it's fast, and I can explain every step, which is exactly what I wanted.</a:t>
            </a:r>
            <a:endParaRPr lang="en-US" sz="1450" dirty="0"/>
          </a:p>
        </p:txBody>
      </p:sp>
      <p:sp>
        <p:nvSpPr>
          <p:cNvPr id="32" name="Text 29"/>
          <p:cNvSpPr/>
          <p:nvPr/>
        </p:nvSpPr>
        <p:spPr>
          <a:xfrm>
            <a:off x="548640" y="6428232"/>
            <a:ext cx="6400800" cy="274320"/>
          </a:xfrm>
          <a:prstGeom prst="rect">
            <a:avLst/>
          </a:prstGeom>
          <a:noFill/>
          <a:ln/>
        </p:spPr>
        <p:txBody>
          <a:bodyPr wrap="square" lIns="0" tIns="0" rIns="0" bIns="0" rtlCol="0" anchor="ctr"/>
          <a:lstStyle/>
          <a:p>
            <a:pPr indent="0" marL="0">
              <a:buNone/>
            </a:pPr>
            <a:r>
              <a:rPr lang="en-US" sz="900" dirty="0">
                <a:solidFill>
                  <a:srgbClr val="9AA6C0"/>
                </a:solidFill>
                <a:latin typeface="Calibri" pitchFamily="34" charset="0"/>
                <a:ea typeface="Calibri" pitchFamily="34" charset="-122"/>
                <a:cs typeface="Calibri" pitchFamily="34" charset="-120"/>
              </a:rPr>
              <a:t>UFO Witness Report Analyzer</a:t>
            </a:r>
            <a:endParaRPr lang="en-US" sz="900" dirty="0"/>
          </a:p>
        </p:txBody>
      </p:sp>
      <p:sp>
        <p:nvSpPr>
          <p:cNvPr id="33" name="Text 30"/>
          <p:cNvSpPr/>
          <p:nvPr/>
        </p:nvSpPr>
        <p:spPr>
          <a:xfrm>
            <a:off x="11430000" y="6428232"/>
            <a:ext cx="365760" cy="274320"/>
          </a:xfrm>
          <a:prstGeom prst="rect">
            <a:avLst/>
          </a:prstGeom>
          <a:noFill/>
          <a:ln/>
        </p:spPr>
        <p:txBody>
          <a:bodyPr wrap="square" lIns="0" tIns="0" rIns="0" bIns="0" rtlCol="0" anchor="ctr"/>
          <a:lstStyle/>
          <a:p>
            <a:pPr algn="r" indent="0" marL="0">
              <a:buNone/>
            </a:pPr>
            <a:r>
              <a:rPr lang="en-US" sz="900" dirty="0">
                <a:solidFill>
                  <a:srgbClr val="9AA6C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7008045" y="6094354"/>
            <a:ext cx="51647" cy="51647"/>
          </a:xfrm>
          <a:prstGeom prst="ellipse">
            <a:avLst/>
          </a:prstGeom>
          <a:solidFill>
            <a:srgbClr val="3A4A6B">
              <a:alpha val="45000"/>
            </a:srgbClr>
          </a:solidFill>
          <a:ln/>
        </p:spPr>
      </p:sp>
      <p:sp>
        <p:nvSpPr>
          <p:cNvPr id="3" name="Shape 1"/>
          <p:cNvSpPr/>
          <p:nvPr/>
        </p:nvSpPr>
        <p:spPr>
          <a:xfrm>
            <a:off x="10775572" y="1734844"/>
            <a:ext cx="23807" cy="23807"/>
          </a:xfrm>
          <a:prstGeom prst="ellipse">
            <a:avLst/>
          </a:prstGeom>
          <a:solidFill>
            <a:srgbClr val="3A4A6B">
              <a:alpha val="45000"/>
            </a:srgbClr>
          </a:solidFill>
          <a:ln/>
        </p:spPr>
      </p:sp>
      <p:sp>
        <p:nvSpPr>
          <p:cNvPr id="4" name="Shape 2"/>
          <p:cNvSpPr/>
          <p:nvPr/>
        </p:nvSpPr>
        <p:spPr>
          <a:xfrm>
            <a:off x="3682811" y="5390444"/>
            <a:ext cx="36982" cy="36982"/>
          </a:xfrm>
          <a:prstGeom prst="ellipse">
            <a:avLst/>
          </a:prstGeom>
          <a:solidFill>
            <a:srgbClr val="C8A84B">
              <a:alpha val="45000"/>
            </a:srgbClr>
          </a:solidFill>
          <a:ln/>
        </p:spPr>
      </p:sp>
      <p:sp>
        <p:nvSpPr>
          <p:cNvPr id="5" name="Shape 3"/>
          <p:cNvSpPr/>
          <p:nvPr/>
        </p:nvSpPr>
        <p:spPr>
          <a:xfrm>
            <a:off x="9001808" y="4784490"/>
            <a:ext cx="22877" cy="22877"/>
          </a:xfrm>
          <a:prstGeom prst="ellipse">
            <a:avLst/>
          </a:prstGeom>
          <a:solidFill>
            <a:srgbClr val="3A4A6B">
              <a:alpha val="45000"/>
            </a:srgbClr>
          </a:solidFill>
          <a:ln/>
        </p:spPr>
      </p:sp>
      <p:sp>
        <p:nvSpPr>
          <p:cNvPr id="6" name="Shape 4"/>
          <p:cNvSpPr/>
          <p:nvPr/>
        </p:nvSpPr>
        <p:spPr>
          <a:xfrm>
            <a:off x="3610660" y="4150313"/>
            <a:ext cx="33419" cy="33419"/>
          </a:xfrm>
          <a:prstGeom prst="ellipse">
            <a:avLst/>
          </a:prstGeom>
          <a:solidFill>
            <a:srgbClr val="C8A84B">
              <a:alpha val="45000"/>
            </a:srgbClr>
          </a:solidFill>
          <a:ln/>
        </p:spPr>
      </p:sp>
      <p:sp>
        <p:nvSpPr>
          <p:cNvPr id="7" name="Shape 5"/>
          <p:cNvSpPr/>
          <p:nvPr/>
        </p:nvSpPr>
        <p:spPr>
          <a:xfrm>
            <a:off x="1772877" y="609247"/>
            <a:ext cx="22323" cy="22323"/>
          </a:xfrm>
          <a:prstGeom prst="ellipse">
            <a:avLst/>
          </a:prstGeom>
          <a:solidFill>
            <a:srgbClr val="3A4A6B">
              <a:alpha val="45000"/>
            </a:srgbClr>
          </a:solidFill>
          <a:ln/>
        </p:spPr>
      </p:sp>
      <p:sp>
        <p:nvSpPr>
          <p:cNvPr id="8" name="Shape 6"/>
          <p:cNvSpPr/>
          <p:nvPr/>
        </p:nvSpPr>
        <p:spPr>
          <a:xfrm>
            <a:off x="1086185" y="6268626"/>
            <a:ext cx="22893" cy="22893"/>
          </a:xfrm>
          <a:prstGeom prst="ellipse">
            <a:avLst/>
          </a:prstGeom>
          <a:solidFill>
            <a:srgbClr val="C8A84B">
              <a:alpha val="45000"/>
            </a:srgbClr>
          </a:solidFill>
          <a:ln/>
        </p:spPr>
      </p:sp>
      <p:sp>
        <p:nvSpPr>
          <p:cNvPr id="9" name="Shape 7"/>
          <p:cNvSpPr/>
          <p:nvPr/>
        </p:nvSpPr>
        <p:spPr>
          <a:xfrm>
            <a:off x="9508121" y="6311782"/>
            <a:ext cx="36257" cy="36257"/>
          </a:xfrm>
          <a:prstGeom prst="ellipse">
            <a:avLst/>
          </a:prstGeom>
          <a:solidFill>
            <a:srgbClr val="3A4A6B">
              <a:alpha val="45000"/>
            </a:srgbClr>
          </a:solidFill>
          <a:ln/>
        </p:spPr>
      </p:sp>
      <p:sp>
        <p:nvSpPr>
          <p:cNvPr id="10" name="Shape 8"/>
          <p:cNvSpPr/>
          <p:nvPr/>
        </p:nvSpPr>
        <p:spPr>
          <a:xfrm>
            <a:off x="7520196" y="3956050"/>
            <a:ext cx="41531" cy="41531"/>
          </a:xfrm>
          <a:prstGeom prst="ellipse">
            <a:avLst/>
          </a:prstGeom>
          <a:solidFill>
            <a:srgbClr val="3A4A6B">
              <a:alpha val="45000"/>
            </a:srgbClr>
          </a:solidFill>
          <a:ln/>
        </p:spPr>
      </p:sp>
      <p:sp>
        <p:nvSpPr>
          <p:cNvPr id="11" name="Shape 9"/>
          <p:cNvSpPr/>
          <p:nvPr/>
        </p:nvSpPr>
        <p:spPr>
          <a:xfrm>
            <a:off x="3530375" y="1402762"/>
            <a:ext cx="36456" cy="36456"/>
          </a:xfrm>
          <a:prstGeom prst="ellipse">
            <a:avLst/>
          </a:prstGeom>
          <a:solidFill>
            <a:srgbClr val="C8A84B">
              <a:alpha val="45000"/>
            </a:srgbClr>
          </a:solidFill>
          <a:ln/>
        </p:spPr>
      </p:sp>
      <p:sp>
        <p:nvSpPr>
          <p:cNvPr id="12" name="Shape 10"/>
          <p:cNvSpPr/>
          <p:nvPr/>
        </p:nvSpPr>
        <p:spPr>
          <a:xfrm>
            <a:off x="91076" y="5933252"/>
            <a:ext cx="62803" cy="62803"/>
          </a:xfrm>
          <a:prstGeom prst="ellipse">
            <a:avLst/>
          </a:prstGeom>
          <a:solidFill>
            <a:srgbClr val="3A4A6B">
              <a:alpha val="45000"/>
            </a:srgbClr>
          </a:solidFill>
          <a:ln/>
        </p:spPr>
      </p:sp>
      <p:sp>
        <p:nvSpPr>
          <p:cNvPr id="13" name="Shape 11"/>
          <p:cNvSpPr/>
          <p:nvPr/>
        </p:nvSpPr>
        <p:spPr>
          <a:xfrm>
            <a:off x="4709409" y="6286853"/>
            <a:ext cx="33645" cy="33645"/>
          </a:xfrm>
          <a:prstGeom prst="ellipse">
            <a:avLst/>
          </a:prstGeom>
          <a:solidFill>
            <a:srgbClr val="C8A84B">
              <a:alpha val="45000"/>
            </a:srgbClr>
          </a:solidFill>
          <a:ln/>
        </p:spPr>
      </p:sp>
      <p:sp>
        <p:nvSpPr>
          <p:cNvPr id="14" name="Shape 12"/>
          <p:cNvSpPr/>
          <p:nvPr/>
        </p:nvSpPr>
        <p:spPr>
          <a:xfrm>
            <a:off x="119019" y="1616898"/>
            <a:ext cx="48326" cy="48326"/>
          </a:xfrm>
          <a:prstGeom prst="ellipse">
            <a:avLst/>
          </a:prstGeom>
          <a:solidFill>
            <a:srgbClr val="3A4A6B">
              <a:alpha val="45000"/>
            </a:srgbClr>
          </a:solidFill>
          <a:ln/>
        </p:spPr>
      </p:sp>
      <p:sp>
        <p:nvSpPr>
          <p:cNvPr id="15" name="Shape 13"/>
          <p:cNvSpPr/>
          <p:nvPr/>
        </p:nvSpPr>
        <p:spPr>
          <a:xfrm>
            <a:off x="7790244" y="728721"/>
            <a:ext cx="52095" cy="52095"/>
          </a:xfrm>
          <a:prstGeom prst="ellipse">
            <a:avLst/>
          </a:prstGeom>
          <a:solidFill>
            <a:srgbClr val="3A4A6B">
              <a:alpha val="45000"/>
            </a:srgbClr>
          </a:solidFill>
          <a:ln/>
        </p:spPr>
      </p:sp>
      <p:sp>
        <p:nvSpPr>
          <p:cNvPr id="16" name="Shape 14"/>
          <p:cNvSpPr/>
          <p:nvPr/>
        </p:nvSpPr>
        <p:spPr>
          <a:xfrm>
            <a:off x="566928" y="566928"/>
            <a:ext cx="146304" cy="146304"/>
          </a:xfrm>
          <a:prstGeom prst="ellipse">
            <a:avLst/>
          </a:prstGeom>
          <a:solidFill>
            <a:srgbClr val="C8A84B"/>
          </a:solidFill>
          <a:ln/>
        </p:spPr>
      </p:sp>
      <p:sp>
        <p:nvSpPr>
          <p:cNvPr id="17" name="Shape 15"/>
          <p:cNvSpPr/>
          <p:nvPr/>
        </p:nvSpPr>
        <p:spPr>
          <a:xfrm>
            <a:off x="475488" y="475488"/>
            <a:ext cx="329184" cy="329184"/>
          </a:xfrm>
          <a:prstGeom prst="ellipse">
            <a:avLst/>
          </a:prstGeom>
          <a:ln w="12700">
            <a:solidFill>
              <a:srgbClr val="C8A84B">
                <a:alpha val="60000"/>
              </a:srgbClr>
            </a:solidFill>
            <a:prstDash val="solid"/>
          </a:ln>
        </p:spPr>
      </p:sp>
      <p:sp>
        <p:nvSpPr>
          <p:cNvPr id="18" name="Text 16"/>
          <p:cNvSpPr/>
          <p:nvPr/>
        </p:nvSpPr>
        <p:spPr>
          <a:xfrm>
            <a:off x="914400" y="502920"/>
            <a:ext cx="10058400" cy="320040"/>
          </a:xfrm>
          <a:prstGeom prst="rect">
            <a:avLst/>
          </a:prstGeom>
          <a:noFill/>
          <a:ln/>
        </p:spPr>
        <p:txBody>
          <a:bodyPr wrap="square" lIns="0" tIns="0" rIns="0" bIns="0" rtlCol="0" anchor="ctr"/>
          <a:lstStyle/>
          <a:p>
            <a:pPr algn="l" indent="0" marL="0">
              <a:buNone/>
            </a:pPr>
            <a:r>
              <a:rPr lang="en-US" sz="1300" b="1" spc="300" kern="0" dirty="0">
                <a:solidFill>
                  <a:srgbClr val="C8A84B"/>
                </a:solidFill>
                <a:latin typeface="Arial" pitchFamily="34" charset="0"/>
                <a:ea typeface="Arial" pitchFamily="34" charset="-122"/>
                <a:cs typeface="Arial" pitchFamily="34" charset="-120"/>
              </a:rPr>
              <a:t>THE HONEST PART</a:t>
            </a:r>
            <a:endParaRPr lang="en-US" sz="1300" dirty="0"/>
          </a:p>
        </p:txBody>
      </p:sp>
      <p:sp>
        <p:nvSpPr>
          <p:cNvPr id="19" name="Text 17"/>
          <p:cNvSpPr/>
          <p:nvPr/>
        </p:nvSpPr>
        <p:spPr>
          <a:xfrm>
            <a:off x="548640" y="932688"/>
            <a:ext cx="11064240" cy="822960"/>
          </a:xfrm>
          <a:prstGeom prst="rect">
            <a:avLst/>
          </a:prstGeom>
          <a:noFill/>
          <a:ln/>
        </p:spPr>
        <p:txBody>
          <a:bodyPr wrap="square" lIns="0" tIns="0" rIns="0" bIns="0" rtlCol="0" anchor="ctr"/>
          <a:lstStyle/>
          <a:p>
            <a:pPr algn="l" indent="0" marL="0">
              <a:buNone/>
            </a:pPr>
            <a:r>
              <a:rPr lang="en-US" sz="3300" b="1" dirty="0">
                <a:solidFill>
                  <a:srgbClr val="EAECF2"/>
                </a:solidFill>
                <a:latin typeface="Arial" pitchFamily="34" charset="0"/>
                <a:ea typeface="Arial" pitchFamily="34" charset="-122"/>
                <a:cs typeface="Arial" pitchFamily="34" charset="-120"/>
              </a:rPr>
              <a:t>The number, and why it isn't the whole story</a:t>
            </a:r>
            <a:endParaRPr lang="en-US" sz="3300" dirty="0"/>
          </a:p>
        </p:txBody>
      </p:sp>
      <p:sp>
        <p:nvSpPr>
          <p:cNvPr id="20" name="Shape 18"/>
          <p:cNvSpPr/>
          <p:nvPr/>
        </p:nvSpPr>
        <p:spPr>
          <a:xfrm>
            <a:off x="640080" y="2286000"/>
            <a:ext cx="3017520" cy="3566160"/>
          </a:xfrm>
          <a:prstGeom prst="roundRect">
            <a:avLst>
              <a:gd name="adj" fmla="val 2727"/>
            </a:avLst>
          </a:prstGeom>
          <a:solidFill>
            <a:srgbClr val="1E2A47"/>
          </a:solidFill>
          <a:ln/>
          <a:effectLst>
            <a:outerShdw sx="100000" sy="100000" kx="0" ky="0" algn="bl" rotWithShape="0" blurRad="101600" dist="38100" dir="5400000">
              <a:srgbClr val="000000">
                <a:alpha val="35000"/>
              </a:srgbClr>
            </a:outerShdw>
          </a:effectLst>
        </p:spPr>
      </p:sp>
      <p:sp>
        <p:nvSpPr>
          <p:cNvPr id="21" name="Text 19"/>
          <p:cNvSpPr/>
          <p:nvPr/>
        </p:nvSpPr>
        <p:spPr>
          <a:xfrm>
            <a:off x="822960" y="2697480"/>
            <a:ext cx="2651760" cy="1005840"/>
          </a:xfrm>
          <a:prstGeom prst="rect">
            <a:avLst/>
          </a:prstGeom>
          <a:noFill/>
          <a:ln/>
        </p:spPr>
        <p:txBody>
          <a:bodyPr wrap="square" lIns="0" tIns="0" rIns="0" bIns="0" rtlCol="0" anchor="ctr"/>
          <a:lstStyle/>
          <a:p>
            <a:pPr indent="0" marL="0">
              <a:buNone/>
            </a:pPr>
            <a:r>
              <a:rPr lang="en-US" sz="6000" b="1" dirty="0">
                <a:solidFill>
                  <a:srgbClr val="C8A84B"/>
                </a:solidFill>
                <a:latin typeface="Arial" pitchFamily="34" charset="0"/>
                <a:ea typeface="Arial" pitchFamily="34" charset="-122"/>
                <a:cs typeface="Arial" pitchFamily="34" charset="-120"/>
              </a:rPr>
              <a:t>57%</a:t>
            </a:r>
            <a:endParaRPr lang="en-US" sz="6000" dirty="0"/>
          </a:p>
        </p:txBody>
      </p:sp>
      <p:sp>
        <p:nvSpPr>
          <p:cNvPr id="22" name="Text 20"/>
          <p:cNvSpPr/>
          <p:nvPr/>
        </p:nvSpPr>
        <p:spPr>
          <a:xfrm>
            <a:off x="822960" y="3703320"/>
            <a:ext cx="2651760" cy="640080"/>
          </a:xfrm>
          <a:prstGeom prst="rect">
            <a:avLst/>
          </a:prstGeom>
          <a:noFill/>
          <a:ln/>
        </p:spPr>
        <p:txBody>
          <a:bodyPr wrap="square" lIns="0" tIns="0" rIns="0" bIns="0" rtlCol="0" anchor="ctr"/>
          <a:lstStyle/>
          <a:p>
            <a:pPr indent="0" marL="0">
              <a:lnSpc>
                <a:spcPct val="105000"/>
              </a:lnSpc>
              <a:buNone/>
            </a:pPr>
            <a:r>
              <a:rPr lang="en-US" sz="1400" dirty="0">
                <a:solidFill>
                  <a:srgbClr val="EAECF2"/>
                </a:solidFill>
                <a:latin typeface="Calibri" pitchFamily="34" charset="0"/>
                <a:ea typeface="Calibri" pitchFamily="34" charset="-122"/>
                <a:cs typeface="Calibri" pitchFamily="34" charset="-120"/>
              </a:rPr>
              <a:t>right, across all</a:t>
            </a:r>
            <a:endParaRPr lang="en-US" sz="1400" dirty="0"/>
          </a:p>
          <a:p>
            <a:pPr indent="0" marL="0">
              <a:lnSpc>
                <a:spcPct val="105000"/>
              </a:lnSpc>
              <a:buNone/>
            </a:pPr>
            <a:r>
              <a:rPr lang="en-US" sz="1400" dirty="0">
                <a:solidFill>
                  <a:srgbClr val="EAECF2"/>
                </a:solidFill>
                <a:latin typeface="Calibri" pitchFamily="34" charset="0"/>
                <a:ea typeface="Calibri" pitchFamily="34" charset="-122"/>
                <a:cs typeface="Calibri" pitchFamily="34" charset="-120"/>
              </a:rPr>
              <a:t>eight shapes</a:t>
            </a:r>
            <a:endParaRPr lang="en-US" sz="1400" dirty="0"/>
          </a:p>
        </p:txBody>
      </p:sp>
      <p:sp>
        <p:nvSpPr>
          <p:cNvPr id="23" name="Shape 21"/>
          <p:cNvSpPr/>
          <p:nvPr/>
        </p:nvSpPr>
        <p:spPr>
          <a:xfrm>
            <a:off x="868680" y="4480560"/>
            <a:ext cx="2606040" cy="0"/>
          </a:xfrm>
          <a:prstGeom prst="line">
            <a:avLst/>
          </a:prstGeom>
          <a:noFill/>
          <a:ln w="12700">
            <a:solidFill>
              <a:srgbClr val="161F38"/>
            </a:solidFill>
            <a:prstDash val="solid"/>
          </a:ln>
        </p:spPr>
      </p:sp>
      <p:sp>
        <p:nvSpPr>
          <p:cNvPr id="24" name="Text 22"/>
          <p:cNvSpPr/>
          <p:nvPr/>
        </p:nvSpPr>
        <p:spPr>
          <a:xfrm>
            <a:off x="822960" y="4617720"/>
            <a:ext cx="2651760" cy="1097280"/>
          </a:xfrm>
          <a:prstGeom prst="rect">
            <a:avLst/>
          </a:prstGeom>
          <a:noFill/>
          <a:ln/>
        </p:spPr>
        <p:txBody>
          <a:bodyPr wrap="square" lIns="0" tIns="0" rIns="0" bIns="0" rtlCol="0" anchor="ctr"/>
          <a:lstStyle/>
          <a:p>
            <a:pPr indent="0" marL="0">
              <a:lnSpc>
                <a:spcPct val="110000"/>
              </a:lnSpc>
              <a:buNone/>
            </a:pPr>
            <a:r>
              <a:rPr lang="en-US" sz="1250" b="1" dirty="0">
                <a:solidFill>
                  <a:srgbClr val="5FBFD6"/>
                </a:solidFill>
                <a:latin typeface="Calibri" pitchFamily="34" charset="0"/>
                <a:ea typeface="Calibri" pitchFamily="34" charset="-122"/>
                <a:cs typeface="Calibri" pitchFamily="34" charset="-120"/>
              </a:rPr>
              <a:t>Guessing “light” every time </a:t>
            </a:r>
            <a:pPr indent="0" marL="0">
              <a:lnSpc>
                <a:spcPct val="110000"/>
              </a:lnSpc>
              <a:buNone/>
            </a:pPr>
            <a:r>
              <a:rPr lang="en-US" sz="1250" dirty="0">
                <a:solidFill>
                  <a:srgbClr val="9AA6C0"/>
                </a:solidFill>
                <a:latin typeface="Calibri" pitchFamily="34" charset="0"/>
                <a:ea typeface="Calibri" pitchFamily="34" charset="-122"/>
                <a:cs typeface="Calibri" pitchFamily="34" charset="-120"/>
              </a:rPr>
              <a:t>scores ~30% and is useless. That's why accuracy alone lies.</a:t>
            </a:r>
            <a:endParaRPr lang="en-US" sz="1250" dirty="0"/>
          </a:p>
        </p:txBody>
      </p:sp>
      <p:graphicFrame>
        <p:nvGraphicFramePr>
          <p:cNvPr id="25" name="Chart 0" descr=""/>
          <p:cNvGraphicFramePr/>
          <p:nvPr/>
        </p:nvGraphicFramePr>
        <p:xfrm>
          <a:off x="3840480" y="2286000"/>
          <a:ext cx="7680960" cy="3566160"/>
        </p:xfrm>
        <a:graphic xmlns:a="http://schemas.openxmlformats.org/drawingml/2006/main">
          <a:graphicData uri="http://schemas.openxmlformats.org/drawingml/2006/chart">
            <c:chart xmlns:c="http://schemas.openxmlformats.org/drawingml/2006/chart" r:id="rId1"/>
          </a:graphicData>
        </a:graphic>
      </p:graphicFrame>
      <p:sp>
        <p:nvSpPr>
          <p:cNvPr id="27" name="Text 23"/>
          <p:cNvSpPr/>
          <p:nvPr/>
        </p:nvSpPr>
        <p:spPr>
          <a:xfrm>
            <a:off x="548640" y="6428232"/>
            <a:ext cx="6400800" cy="274320"/>
          </a:xfrm>
          <a:prstGeom prst="rect">
            <a:avLst/>
          </a:prstGeom>
          <a:noFill/>
          <a:ln/>
        </p:spPr>
        <p:txBody>
          <a:bodyPr wrap="square" lIns="0" tIns="0" rIns="0" bIns="0" rtlCol="0" anchor="ctr"/>
          <a:lstStyle/>
          <a:p>
            <a:pPr indent="0" marL="0">
              <a:buNone/>
            </a:pPr>
            <a:r>
              <a:rPr lang="en-US" sz="900" dirty="0">
                <a:solidFill>
                  <a:srgbClr val="9AA6C0"/>
                </a:solidFill>
                <a:latin typeface="Calibri" pitchFamily="34" charset="0"/>
                <a:ea typeface="Calibri" pitchFamily="34" charset="-122"/>
                <a:cs typeface="Calibri" pitchFamily="34" charset="-120"/>
              </a:rPr>
              <a:t>UFO Witness Report Analyzer</a:t>
            </a:r>
            <a:endParaRPr lang="en-US" sz="900" dirty="0"/>
          </a:p>
        </p:txBody>
      </p:sp>
      <p:sp>
        <p:nvSpPr>
          <p:cNvPr id="28" name="Text 24"/>
          <p:cNvSpPr/>
          <p:nvPr/>
        </p:nvSpPr>
        <p:spPr>
          <a:xfrm>
            <a:off x="11430000" y="6428232"/>
            <a:ext cx="365760" cy="274320"/>
          </a:xfrm>
          <a:prstGeom prst="rect">
            <a:avLst/>
          </a:prstGeom>
          <a:noFill/>
          <a:ln/>
        </p:spPr>
        <p:txBody>
          <a:bodyPr wrap="square" lIns="0" tIns="0" rIns="0" bIns="0" rtlCol="0" anchor="ctr"/>
          <a:lstStyle/>
          <a:p>
            <a:pPr algn="r" indent="0" marL="0">
              <a:buNone/>
            </a:pPr>
            <a:r>
              <a:rPr lang="en-US" sz="900" dirty="0">
                <a:solidFill>
                  <a:srgbClr val="9AA6C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4824466" y="6247665"/>
            <a:ext cx="42533" cy="42533"/>
          </a:xfrm>
          <a:prstGeom prst="ellipse">
            <a:avLst/>
          </a:prstGeom>
          <a:solidFill>
            <a:srgbClr val="3A4A6B">
              <a:alpha val="45000"/>
            </a:srgbClr>
          </a:solidFill>
          <a:ln/>
        </p:spPr>
      </p:sp>
      <p:sp>
        <p:nvSpPr>
          <p:cNvPr id="3" name="Shape 1"/>
          <p:cNvSpPr/>
          <p:nvPr/>
        </p:nvSpPr>
        <p:spPr>
          <a:xfrm>
            <a:off x="6927917" y="4167099"/>
            <a:ext cx="36094" cy="36094"/>
          </a:xfrm>
          <a:prstGeom prst="ellipse">
            <a:avLst/>
          </a:prstGeom>
          <a:solidFill>
            <a:srgbClr val="C8A84B">
              <a:alpha val="45000"/>
            </a:srgbClr>
          </a:solidFill>
          <a:ln/>
        </p:spPr>
      </p:sp>
      <p:sp>
        <p:nvSpPr>
          <p:cNvPr id="4" name="Shape 2"/>
          <p:cNvSpPr/>
          <p:nvPr/>
        </p:nvSpPr>
        <p:spPr>
          <a:xfrm>
            <a:off x="4777338" y="5952978"/>
            <a:ext cx="36241" cy="36241"/>
          </a:xfrm>
          <a:prstGeom prst="ellipse">
            <a:avLst/>
          </a:prstGeom>
          <a:solidFill>
            <a:srgbClr val="C8A84B">
              <a:alpha val="45000"/>
            </a:srgbClr>
          </a:solidFill>
          <a:ln/>
        </p:spPr>
      </p:sp>
      <p:sp>
        <p:nvSpPr>
          <p:cNvPr id="5" name="Shape 3"/>
          <p:cNvSpPr/>
          <p:nvPr/>
        </p:nvSpPr>
        <p:spPr>
          <a:xfrm>
            <a:off x="2276427" y="1360634"/>
            <a:ext cx="28861" cy="28861"/>
          </a:xfrm>
          <a:prstGeom prst="ellipse">
            <a:avLst/>
          </a:prstGeom>
          <a:solidFill>
            <a:srgbClr val="3A4A6B">
              <a:alpha val="45000"/>
            </a:srgbClr>
          </a:solidFill>
          <a:ln/>
        </p:spPr>
      </p:sp>
      <p:sp>
        <p:nvSpPr>
          <p:cNvPr id="6" name="Shape 4"/>
          <p:cNvSpPr/>
          <p:nvPr/>
        </p:nvSpPr>
        <p:spPr>
          <a:xfrm>
            <a:off x="175896" y="5037402"/>
            <a:ext cx="23552" cy="23552"/>
          </a:xfrm>
          <a:prstGeom prst="ellipse">
            <a:avLst/>
          </a:prstGeom>
          <a:solidFill>
            <a:srgbClr val="3A4A6B">
              <a:alpha val="45000"/>
            </a:srgbClr>
          </a:solidFill>
          <a:ln/>
        </p:spPr>
      </p:sp>
      <p:sp>
        <p:nvSpPr>
          <p:cNvPr id="7" name="Shape 5"/>
          <p:cNvSpPr/>
          <p:nvPr/>
        </p:nvSpPr>
        <p:spPr>
          <a:xfrm>
            <a:off x="2829868" y="3182614"/>
            <a:ext cx="48534" cy="48534"/>
          </a:xfrm>
          <a:prstGeom prst="ellipse">
            <a:avLst/>
          </a:prstGeom>
          <a:solidFill>
            <a:srgbClr val="3A4A6B">
              <a:alpha val="45000"/>
            </a:srgbClr>
          </a:solidFill>
          <a:ln/>
        </p:spPr>
      </p:sp>
      <p:sp>
        <p:nvSpPr>
          <p:cNvPr id="8" name="Shape 6"/>
          <p:cNvSpPr/>
          <p:nvPr/>
        </p:nvSpPr>
        <p:spPr>
          <a:xfrm>
            <a:off x="8736922" y="791604"/>
            <a:ext cx="38897" cy="38897"/>
          </a:xfrm>
          <a:prstGeom prst="ellipse">
            <a:avLst/>
          </a:prstGeom>
          <a:solidFill>
            <a:srgbClr val="C8A84B">
              <a:alpha val="45000"/>
            </a:srgbClr>
          </a:solidFill>
          <a:ln/>
        </p:spPr>
      </p:sp>
      <p:sp>
        <p:nvSpPr>
          <p:cNvPr id="9" name="Shape 7"/>
          <p:cNvSpPr/>
          <p:nvPr/>
        </p:nvSpPr>
        <p:spPr>
          <a:xfrm>
            <a:off x="9188808" y="4891705"/>
            <a:ext cx="29636" cy="29636"/>
          </a:xfrm>
          <a:prstGeom prst="ellipse">
            <a:avLst/>
          </a:prstGeom>
          <a:solidFill>
            <a:srgbClr val="3A4A6B">
              <a:alpha val="45000"/>
            </a:srgbClr>
          </a:solidFill>
          <a:ln/>
        </p:spPr>
      </p:sp>
      <p:sp>
        <p:nvSpPr>
          <p:cNvPr id="10" name="Shape 8"/>
          <p:cNvSpPr/>
          <p:nvPr/>
        </p:nvSpPr>
        <p:spPr>
          <a:xfrm>
            <a:off x="7188372" y="5492250"/>
            <a:ext cx="59134" cy="59134"/>
          </a:xfrm>
          <a:prstGeom prst="ellipse">
            <a:avLst/>
          </a:prstGeom>
          <a:solidFill>
            <a:srgbClr val="C8A84B">
              <a:alpha val="45000"/>
            </a:srgbClr>
          </a:solidFill>
          <a:ln/>
        </p:spPr>
      </p:sp>
      <p:sp>
        <p:nvSpPr>
          <p:cNvPr id="11" name="Shape 9"/>
          <p:cNvSpPr/>
          <p:nvPr/>
        </p:nvSpPr>
        <p:spPr>
          <a:xfrm>
            <a:off x="7990590" y="2254573"/>
            <a:ext cx="57399" cy="57399"/>
          </a:xfrm>
          <a:prstGeom prst="ellipse">
            <a:avLst/>
          </a:prstGeom>
          <a:solidFill>
            <a:srgbClr val="C8A84B">
              <a:alpha val="45000"/>
            </a:srgbClr>
          </a:solidFill>
          <a:ln/>
        </p:spPr>
      </p:sp>
      <p:sp>
        <p:nvSpPr>
          <p:cNvPr id="12" name="Shape 10"/>
          <p:cNvSpPr/>
          <p:nvPr/>
        </p:nvSpPr>
        <p:spPr>
          <a:xfrm>
            <a:off x="5589774" y="1444008"/>
            <a:ext cx="39107" cy="39107"/>
          </a:xfrm>
          <a:prstGeom prst="ellipse">
            <a:avLst/>
          </a:prstGeom>
          <a:solidFill>
            <a:srgbClr val="C8A84B">
              <a:alpha val="45000"/>
            </a:srgbClr>
          </a:solidFill>
          <a:ln/>
        </p:spPr>
      </p:sp>
      <p:sp>
        <p:nvSpPr>
          <p:cNvPr id="13" name="Shape 11"/>
          <p:cNvSpPr/>
          <p:nvPr/>
        </p:nvSpPr>
        <p:spPr>
          <a:xfrm>
            <a:off x="1637489" y="3737886"/>
            <a:ext cx="52800" cy="52800"/>
          </a:xfrm>
          <a:prstGeom prst="ellipse">
            <a:avLst/>
          </a:prstGeom>
          <a:solidFill>
            <a:srgbClr val="C8A84B">
              <a:alpha val="45000"/>
            </a:srgbClr>
          </a:solidFill>
          <a:ln/>
        </p:spPr>
      </p:sp>
      <p:sp>
        <p:nvSpPr>
          <p:cNvPr id="14" name="Shape 12"/>
          <p:cNvSpPr/>
          <p:nvPr/>
        </p:nvSpPr>
        <p:spPr>
          <a:xfrm>
            <a:off x="8145111" y="3463543"/>
            <a:ext cx="23407" cy="23407"/>
          </a:xfrm>
          <a:prstGeom prst="ellipse">
            <a:avLst/>
          </a:prstGeom>
          <a:solidFill>
            <a:srgbClr val="3A4A6B">
              <a:alpha val="45000"/>
            </a:srgbClr>
          </a:solidFill>
          <a:ln/>
        </p:spPr>
      </p:sp>
      <p:sp>
        <p:nvSpPr>
          <p:cNvPr id="15" name="Shape 13"/>
          <p:cNvSpPr/>
          <p:nvPr/>
        </p:nvSpPr>
        <p:spPr>
          <a:xfrm>
            <a:off x="9647993" y="6124310"/>
            <a:ext cx="36724" cy="36724"/>
          </a:xfrm>
          <a:prstGeom prst="ellipse">
            <a:avLst/>
          </a:prstGeom>
          <a:solidFill>
            <a:srgbClr val="3A4A6B">
              <a:alpha val="45000"/>
            </a:srgbClr>
          </a:solidFill>
          <a:ln/>
        </p:spPr>
      </p:sp>
      <p:sp>
        <p:nvSpPr>
          <p:cNvPr id="16" name="Shape 14"/>
          <p:cNvSpPr/>
          <p:nvPr/>
        </p:nvSpPr>
        <p:spPr>
          <a:xfrm>
            <a:off x="6446419" y="2491522"/>
            <a:ext cx="60013" cy="60013"/>
          </a:xfrm>
          <a:prstGeom prst="ellipse">
            <a:avLst/>
          </a:prstGeom>
          <a:solidFill>
            <a:srgbClr val="3A4A6B">
              <a:alpha val="45000"/>
            </a:srgbClr>
          </a:solidFill>
          <a:ln/>
        </p:spPr>
      </p:sp>
      <p:sp>
        <p:nvSpPr>
          <p:cNvPr id="17" name="Shape 15"/>
          <p:cNvSpPr/>
          <p:nvPr/>
        </p:nvSpPr>
        <p:spPr>
          <a:xfrm>
            <a:off x="5146646" y="2132512"/>
            <a:ext cx="58843" cy="58843"/>
          </a:xfrm>
          <a:prstGeom prst="ellipse">
            <a:avLst/>
          </a:prstGeom>
          <a:solidFill>
            <a:srgbClr val="3A4A6B">
              <a:alpha val="45000"/>
            </a:srgbClr>
          </a:solidFill>
          <a:ln/>
        </p:spPr>
      </p:sp>
      <p:sp>
        <p:nvSpPr>
          <p:cNvPr id="18" name="Shape 16"/>
          <p:cNvSpPr/>
          <p:nvPr/>
        </p:nvSpPr>
        <p:spPr>
          <a:xfrm>
            <a:off x="566928" y="566928"/>
            <a:ext cx="146304" cy="146304"/>
          </a:xfrm>
          <a:prstGeom prst="ellipse">
            <a:avLst/>
          </a:prstGeom>
          <a:solidFill>
            <a:srgbClr val="C8A84B"/>
          </a:solidFill>
          <a:ln/>
        </p:spPr>
      </p:sp>
      <p:sp>
        <p:nvSpPr>
          <p:cNvPr id="19" name="Shape 17"/>
          <p:cNvSpPr/>
          <p:nvPr/>
        </p:nvSpPr>
        <p:spPr>
          <a:xfrm>
            <a:off x="475488" y="475488"/>
            <a:ext cx="329184" cy="329184"/>
          </a:xfrm>
          <a:prstGeom prst="ellipse">
            <a:avLst/>
          </a:prstGeom>
          <a:ln w="12700">
            <a:solidFill>
              <a:srgbClr val="C8A84B">
                <a:alpha val="60000"/>
              </a:srgbClr>
            </a:solidFill>
            <a:prstDash val="solid"/>
          </a:ln>
        </p:spPr>
      </p:sp>
      <p:sp>
        <p:nvSpPr>
          <p:cNvPr id="20" name="Text 18"/>
          <p:cNvSpPr/>
          <p:nvPr/>
        </p:nvSpPr>
        <p:spPr>
          <a:xfrm>
            <a:off x="914400" y="502920"/>
            <a:ext cx="10058400" cy="320040"/>
          </a:xfrm>
          <a:prstGeom prst="rect">
            <a:avLst/>
          </a:prstGeom>
          <a:noFill/>
          <a:ln/>
        </p:spPr>
        <p:txBody>
          <a:bodyPr wrap="square" lIns="0" tIns="0" rIns="0" bIns="0" rtlCol="0" anchor="ctr"/>
          <a:lstStyle/>
          <a:p>
            <a:pPr algn="l" indent="0" marL="0">
              <a:buNone/>
            </a:pPr>
            <a:r>
              <a:rPr lang="en-US" sz="1300" b="1" spc="300" kern="0" dirty="0">
                <a:solidFill>
                  <a:srgbClr val="C8A84B"/>
                </a:solidFill>
                <a:latin typeface="Arial" pitchFamily="34" charset="0"/>
                <a:ea typeface="Arial" pitchFamily="34" charset="-122"/>
                <a:cs typeface="Arial" pitchFamily="34" charset="-120"/>
              </a:rPr>
              <a:t>THE TOOL PART</a:t>
            </a:r>
            <a:endParaRPr lang="en-US" sz="1300" dirty="0"/>
          </a:p>
        </p:txBody>
      </p:sp>
      <p:sp>
        <p:nvSpPr>
          <p:cNvPr id="21" name="Text 19"/>
          <p:cNvSpPr/>
          <p:nvPr/>
        </p:nvSpPr>
        <p:spPr>
          <a:xfrm>
            <a:off x="548640" y="932688"/>
            <a:ext cx="11064240" cy="822960"/>
          </a:xfrm>
          <a:prstGeom prst="rect">
            <a:avLst/>
          </a:prstGeom>
          <a:noFill/>
          <a:ln/>
        </p:spPr>
        <p:txBody>
          <a:bodyPr wrap="square" lIns="0" tIns="0" rIns="0" bIns="0" rtlCol="0" anchor="ctr"/>
          <a:lstStyle/>
          <a:p>
            <a:pPr algn="l" indent="0" marL="0">
              <a:buNone/>
            </a:pPr>
            <a:r>
              <a:rPr lang="en-US" sz="3300" b="1" dirty="0">
                <a:solidFill>
                  <a:srgbClr val="EAECF2"/>
                </a:solidFill>
                <a:latin typeface="Arial" pitchFamily="34" charset="0"/>
                <a:ea typeface="Arial" pitchFamily="34" charset="-122"/>
                <a:cs typeface="Arial" pitchFamily="34" charset="-120"/>
              </a:rPr>
              <a:t>Not a black box</a:t>
            </a:r>
            <a:endParaRPr lang="en-US" sz="3300" dirty="0"/>
          </a:p>
        </p:txBody>
      </p:sp>
      <p:sp>
        <p:nvSpPr>
          <p:cNvPr id="22" name="Text 20"/>
          <p:cNvSpPr/>
          <p:nvPr/>
        </p:nvSpPr>
        <p:spPr>
          <a:xfrm>
            <a:off x="640080" y="1783080"/>
            <a:ext cx="10607040" cy="548640"/>
          </a:xfrm>
          <a:prstGeom prst="rect">
            <a:avLst/>
          </a:prstGeom>
          <a:noFill/>
          <a:ln/>
        </p:spPr>
        <p:txBody>
          <a:bodyPr wrap="square" lIns="0" tIns="0" rIns="0" bIns="0" rtlCol="0" anchor="ctr"/>
          <a:lstStyle/>
          <a:p>
            <a:pPr indent="0" marL="0">
              <a:buNone/>
            </a:pPr>
            <a:r>
              <a:rPr lang="en-US" sz="1600" i="1" dirty="0">
                <a:solidFill>
                  <a:srgbClr val="9AA6C0"/>
                </a:solidFill>
                <a:latin typeface="Calibri" pitchFamily="34" charset="0"/>
                <a:ea typeface="Calibri" pitchFamily="34" charset="-122"/>
                <a:cs typeface="Calibri" pitchFamily="34" charset="-120"/>
              </a:rPr>
              <a:t>On top of the model, the analyzer shows three things for every report, so you can see why it decided what it did:</a:t>
            </a:r>
            <a:endParaRPr lang="en-US" sz="1600" dirty="0"/>
          </a:p>
        </p:txBody>
      </p:sp>
      <p:sp>
        <p:nvSpPr>
          <p:cNvPr id="23" name="Shape 21"/>
          <p:cNvSpPr/>
          <p:nvPr/>
        </p:nvSpPr>
        <p:spPr>
          <a:xfrm>
            <a:off x="640080" y="2514600"/>
            <a:ext cx="3566160" cy="2468880"/>
          </a:xfrm>
          <a:prstGeom prst="roundRect">
            <a:avLst>
              <a:gd name="adj" fmla="val 3333"/>
            </a:avLst>
          </a:prstGeom>
          <a:solidFill>
            <a:srgbClr val="161F38"/>
          </a:solidFill>
          <a:ln/>
          <a:effectLst>
            <a:outerShdw sx="100000" sy="100000" kx="0" ky="0" algn="bl" rotWithShape="0" blurRad="101600" dist="38100" dir="5400000">
              <a:srgbClr val="000000">
                <a:alpha val="35000"/>
              </a:srgbClr>
            </a:outerShdw>
          </a:effectLst>
        </p:spPr>
      </p:sp>
      <p:sp>
        <p:nvSpPr>
          <p:cNvPr id="24" name="Shape 22"/>
          <p:cNvSpPr/>
          <p:nvPr/>
        </p:nvSpPr>
        <p:spPr>
          <a:xfrm>
            <a:off x="896112" y="2761488"/>
            <a:ext cx="548640" cy="548640"/>
          </a:xfrm>
          <a:prstGeom prst="ellipse">
            <a:avLst/>
          </a:prstGeom>
          <a:solidFill>
            <a:srgbClr val="1E2A47"/>
          </a:solidFill>
          <a:ln w="15875">
            <a:solidFill>
              <a:srgbClr val="C8A84B"/>
            </a:solidFill>
            <a:prstDash val="solid"/>
          </a:ln>
        </p:spPr>
      </p:sp>
      <p:sp>
        <p:nvSpPr>
          <p:cNvPr id="25" name="Text 23"/>
          <p:cNvSpPr/>
          <p:nvPr/>
        </p:nvSpPr>
        <p:spPr>
          <a:xfrm>
            <a:off x="896112" y="2779776"/>
            <a:ext cx="548640" cy="512064"/>
          </a:xfrm>
          <a:prstGeom prst="rect">
            <a:avLst/>
          </a:prstGeom>
          <a:noFill/>
          <a:ln/>
        </p:spPr>
        <p:txBody>
          <a:bodyPr wrap="square" lIns="0" tIns="0" rIns="0" bIns="0" rtlCol="0" anchor="ctr"/>
          <a:lstStyle/>
          <a:p>
            <a:pPr algn="ctr" indent="0" marL="0">
              <a:buNone/>
            </a:pPr>
            <a:r>
              <a:rPr lang="en-US" sz="2000" b="1" dirty="0">
                <a:solidFill>
                  <a:srgbClr val="C8A84B"/>
                </a:solidFill>
                <a:latin typeface="Arial" pitchFamily="34" charset="0"/>
                <a:ea typeface="Arial" pitchFamily="34" charset="-122"/>
                <a:cs typeface="Arial" pitchFamily="34" charset="-120"/>
              </a:rPr>
              <a:t>1</a:t>
            </a:r>
            <a:endParaRPr lang="en-US" sz="2000" dirty="0"/>
          </a:p>
        </p:txBody>
      </p:sp>
      <p:sp>
        <p:nvSpPr>
          <p:cNvPr id="26" name="Text 24"/>
          <p:cNvSpPr/>
          <p:nvPr/>
        </p:nvSpPr>
        <p:spPr>
          <a:xfrm>
            <a:off x="896112" y="3429000"/>
            <a:ext cx="3063240" cy="457200"/>
          </a:xfrm>
          <a:prstGeom prst="rect">
            <a:avLst/>
          </a:prstGeom>
          <a:noFill/>
          <a:ln/>
        </p:spPr>
        <p:txBody>
          <a:bodyPr wrap="square" lIns="0" tIns="0" rIns="0" bIns="0" rtlCol="0" anchor="ctr"/>
          <a:lstStyle/>
          <a:p>
            <a:pPr indent="0" marL="0">
              <a:buNone/>
            </a:pPr>
            <a:r>
              <a:rPr lang="en-US" sz="1700" b="1" dirty="0">
                <a:solidFill>
                  <a:srgbClr val="EAECF2"/>
                </a:solidFill>
                <a:latin typeface="Arial" pitchFamily="34" charset="0"/>
                <a:ea typeface="Arial" pitchFamily="34" charset="-122"/>
                <a:cs typeface="Arial" pitchFamily="34" charset="-120"/>
              </a:rPr>
              <a:t>The shape</a:t>
            </a:r>
            <a:endParaRPr lang="en-US" sz="1700" dirty="0"/>
          </a:p>
        </p:txBody>
      </p:sp>
      <p:sp>
        <p:nvSpPr>
          <p:cNvPr id="27" name="Text 25"/>
          <p:cNvSpPr/>
          <p:nvPr/>
        </p:nvSpPr>
        <p:spPr>
          <a:xfrm>
            <a:off x="896112" y="3858768"/>
            <a:ext cx="3063240" cy="1051560"/>
          </a:xfrm>
          <a:prstGeom prst="rect">
            <a:avLst/>
          </a:prstGeom>
          <a:noFill/>
          <a:ln/>
        </p:spPr>
        <p:txBody>
          <a:bodyPr wrap="square" lIns="0" tIns="0" rIns="0" bIns="0" rtlCol="0" anchor="ctr"/>
          <a:lstStyle/>
          <a:p>
            <a:pPr indent="0" marL="0">
              <a:lnSpc>
                <a:spcPct val="105000"/>
              </a:lnSpc>
              <a:buNone/>
            </a:pPr>
            <a:r>
              <a:rPr lang="en-US" sz="1350" dirty="0">
                <a:solidFill>
                  <a:srgbClr val="9AA6C0"/>
                </a:solidFill>
                <a:latin typeface="Calibri" pitchFamily="34" charset="0"/>
                <a:ea typeface="Calibri" pitchFamily="34" charset="-122"/>
                <a:cs typeface="Calibri" pitchFamily="34" charset="-120"/>
              </a:rPr>
              <a:t>Its best guess out of the eight.</a:t>
            </a:r>
            <a:endParaRPr lang="en-US" sz="1350" dirty="0"/>
          </a:p>
        </p:txBody>
      </p:sp>
      <p:sp>
        <p:nvSpPr>
          <p:cNvPr id="28" name="Shape 26"/>
          <p:cNvSpPr/>
          <p:nvPr/>
        </p:nvSpPr>
        <p:spPr>
          <a:xfrm>
            <a:off x="4480560" y="2514600"/>
            <a:ext cx="3566160" cy="2468880"/>
          </a:xfrm>
          <a:prstGeom prst="roundRect">
            <a:avLst>
              <a:gd name="adj" fmla="val 3333"/>
            </a:avLst>
          </a:prstGeom>
          <a:solidFill>
            <a:srgbClr val="161F38"/>
          </a:solidFill>
          <a:ln/>
          <a:effectLst>
            <a:outerShdw sx="100000" sy="100000" kx="0" ky="0" algn="bl" rotWithShape="0" blurRad="101600" dist="38100" dir="5400000">
              <a:srgbClr val="000000">
                <a:alpha val="35000"/>
              </a:srgbClr>
            </a:outerShdw>
          </a:effectLst>
        </p:spPr>
      </p:sp>
      <p:sp>
        <p:nvSpPr>
          <p:cNvPr id="29" name="Shape 27"/>
          <p:cNvSpPr/>
          <p:nvPr/>
        </p:nvSpPr>
        <p:spPr>
          <a:xfrm>
            <a:off x="4736592" y="2761488"/>
            <a:ext cx="548640" cy="548640"/>
          </a:xfrm>
          <a:prstGeom prst="ellipse">
            <a:avLst/>
          </a:prstGeom>
          <a:solidFill>
            <a:srgbClr val="1E2A47"/>
          </a:solidFill>
          <a:ln w="15875">
            <a:solidFill>
              <a:srgbClr val="C8A84B"/>
            </a:solidFill>
            <a:prstDash val="solid"/>
          </a:ln>
        </p:spPr>
      </p:sp>
      <p:sp>
        <p:nvSpPr>
          <p:cNvPr id="30" name="Text 28"/>
          <p:cNvSpPr/>
          <p:nvPr/>
        </p:nvSpPr>
        <p:spPr>
          <a:xfrm>
            <a:off x="4736592" y="2779776"/>
            <a:ext cx="548640" cy="512064"/>
          </a:xfrm>
          <a:prstGeom prst="rect">
            <a:avLst/>
          </a:prstGeom>
          <a:noFill/>
          <a:ln/>
        </p:spPr>
        <p:txBody>
          <a:bodyPr wrap="square" lIns="0" tIns="0" rIns="0" bIns="0" rtlCol="0" anchor="ctr"/>
          <a:lstStyle/>
          <a:p>
            <a:pPr algn="ctr" indent="0" marL="0">
              <a:buNone/>
            </a:pPr>
            <a:r>
              <a:rPr lang="en-US" sz="2000" b="1" dirty="0">
                <a:solidFill>
                  <a:srgbClr val="C8A84B"/>
                </a:solidFill>
                <a:latin typeface="Arial" pitchFamily="34" charset="0"/>
                <a:ea typeface="Arial" pitchFamily="34" charset="-122"/>
                <a:cs typeface="Arial" pitchFamily="34" charset="-120"/>
              </a:rPr>
              <a:t>2</a:t>
            </a:r>
            <a:endParaRPr lang="en-US" sz="2000" dirty="0"/>
          </a:p>
        </p:txBody>
      </p:sp>
      <p:sp>
        <p:nvSpPr>
          <p:cNvPr id="31" name="Text 29"/>
          <p:cNvSpPr/>
          <p:nvPr/>
        </p:nvSpPr>
        <p:spPr>
          <a:xfrm>
            <a:off x="4736592" y="3429000"/>
            <a:ext cx="3063240" cy="457200"/>
          </a:xfrm>
          <a:prstGeom prst="rect">
            <a:avLst/>
          </a:prstGeom>
          <a:noFill/>
          <a:ln/>
        </p:spPr>
        <p:txBody>
          <a:bodyPr wrap="square" lIns="0" tIns="0" rIns="0" bIns="0" rtlCol="0" anchor="ctr"/>
          <a:lstStyle/>
          <a:p>
            <a:pPr indent="0" marL="0">
              <a:buNone/>
            </a:pPr>
            <a:r>
              <a:rPr lang="en-US" sz="1700" b="1" dirty="0">
                <a:solidFill>
                  <a:srgbClr val="EAECF2"/>
                </a:solidFill>
                <a:latin typeface="Arial" pitchFamily="34" charset="0"/>
                <a:ea typeface="Arial" pitchFamily="34" charset="-122"/>
                <a:cs typeface="Arial" pitchFamily="34" charset="-120"/>
              </a:rPr>
              <a:t>How confident</a:t>
            </a:r>
            <a:endParaRPr lang="en-US" sz="1700" dirty="0"/>
          </a:p>
        </p:txBody>
      </p:sp>
      <p:sp>
        <p:nvSpPr>
          <p:cNvPr id="32" name="Text 30"/>
          <p:cNvSpPr/>
          <p:nvPr/>
        </p:nvSpPr>
        <p:spPr>
          <a:xfrm>
            <a:off x="4736592" y="3858768"/>
            <a:ext cx="3063240" cy="1051560"/>
          </a:xfrm>
          <a:prstGeom prst="rect">
            <a:avLst/>
          </a:prstGeom>
          <a:noFill/>
          <a:ln/>
        </p:spPr>
        <p:txBody>
          <a:bodyPr wrap="square" lIns="0" tIns="0" rIns="0" bIns="0" rtlCol="0" anchor="ctr"/>
          <a:lstStyle/>
          <a:p>
            <a:pPr indent="0" marL="0">
              <a:lnSpc>
                <a:spcPct val="105000"/>
              </a:lnSpc>
              <a:buNone/>
            </a:pPr>
            <a:r>
              <a:rPr lang="en-US" sz="1350" dirty="0">
                <a:solidFill>
                  <a:srgbClr val="9AA6C0"/>
                </a:solidFill>
                <a:latin typeface="Calibri" pitchFamily="34" charset="0"/>
                <a:ea typeface="Calibri" pitchFamily="34" charset="-122"/>
                <a:cs typeface="Calibri" pitchFamily="34" charset="-120"/>
              </a:rPr>
              <a:t>A percent, so you know when it's sure and when it's split.</a:t>
            </a:r>
            <a:endParaRPr lang="en-US" sz="1350" dirty="0"/>
          </a:p>
        </p:txBody>
      </p:sp>
      <p:sp>
        <p:nvSpPr>
          <p:cNvPr id="33" name="Shape 31"/>
          <p:cNvSpPr/>
          <p:nvPr/>
        </p:nvSpPr>
        <p:spPr>
          <a:xfrm>
            <a:off x="8321040" y="2514600"/>
            <a:ext cx="3566160" cy="2468880"/>
          </a:xfrm>
          <a:prstGeom prst="roundRect">
            <a:avLst>
              <a:gd name="adj" fmla="val 3333"/>
            </a:avLst>
          </a:prstGeom>
          <a:solidFill>
            <a:srgbClr val="161F38"/>
          </a:solidFill>
          <a:ln/>
          <a:effectLst>
            <a:outerShdw sx="100000" sy="100000" kx="0" ky="0" algn="bl" rotWithShape="0" blurRad="101600" dist="38100" dir="5400000">
              <a:srgbClr val="000000">
                <a:alpha val="35000"/>
              </a:srgbClr>
            </a:outerShdw>
          </a:effectLst>
        </p:spPr>
      </p:sp>
      <p:sp>
        <p:nvSpPr>
          <p:cNvPr id="34" name="Shape 32"/>
          <p:cNvSpPr/>
          <p:nvPr/>
        </p:nvSpPr>
        <p:spPr>
          <a:xfrm>
            <a:off x="8577072" y="2761488"/>
            <a:ext cx="548640" cy="548640"/>
          </a:xfrm>
          <a:prstGeom prst="ellipse">
            <a:avLst/>
          </a:prstGeom>
          <a:solidFill>
            <a:srgbClr val="1E2A47"/>
          </a:solidFill>
          <a:ln w="15875">
            <a:solidFill>
              <a:srgbClr val="C8A84B"/>
            </a:solidFill>
            <a:prstDash val="solid"/>
          </a:ln>
        </p:spPr>
      </p:sp>
      <p:sp>
        <p:nvSpPr>
          <p:cNvPr id="35" name="Text 33"/>
          <p:cNvSpPr/>
          <p:nvPr/>
        </p:nvSpPr>
        <p:spPr>
          <a:xfrm>
            <a:off x="8577072" y="2779776"/>
            <a:ext cx="548640" cy="512064"/>
          </a:xfrm>
          <a:prstGeom prst="rect">
            <a:avLst/>
          </a:prstGeom>
          <a:noFill/>
          <a:ln/>
        </p:spPr>
        <p:txBody>
          <a:bodyPr wrap="square" lIns="0" tIns="0" rIns="0" bIns="0" rtlCol="0" anchor="ctr"/>
          <a:lstStyle/>
          <a:p>
            <a:pPr algn="ctr" indent="0" marL="0">
              <a:buNone/>
            </a:pPr>
            <a:r>
              <a:rPr lang="en-US" sz="2000" b="1" dirty="0">
                <a:solidFill>
                  <a:srgbClr val="C8A84B"/>
                </a:solidFill>
                <a:latin typeface="Arial" pitchFamily="34" charset="0"/>
                <a:ea typeface="Arial" pitchFamily="34" charset="-122"/>
                <a:cs typeface="Arial" pitchFamily="34" charset="-120"/>
              </a:rPr>
              <a:t>3</a:t>
            </a:r>
            <a:endParaRPr lang="en-US" sz="2000" dirty="0"/>
          </a:p>
        </p:txBody>
      </p:sp>
      <p:sp>
        <p:nvSpPr>
          <p:cNvPr id="36" name="Text 34"/>
          <p:cNvSpPr/>
          <p:nvPr/>
        </p:nvSpPr>
        <p:spPr>
          <a:xfrm>
            <a:off x="8577072" y="3429000"/>
            <a:ext cx="3063240" cy="457200"/>
          </a:xfrm>
          <a:prstGeom prst="rect">
            <a:avLst/>
          </a:prstGeom>
          <a:noFill/>
          <a:ln/>
        </p:spPr>
        <p:txBody>
          <a:bodyPr wrap="square" lIns="0" tIns="0" rIns="0" bIns="0" rtlCol="0" anchor="ctr"/>
          <a:lstStyle/>
          <a:p>
            <a:pPr indent="0" marL="0">
              <a:buNone/>
            </a:pPr>
            <a:r>
              <a:rPr lang="en-US" sz="1700" b="1" dirty="0">
                <a:solidFill>
                  <a:srgbClr val="EAECF2"/>
                </a:solidFill>
                <a:latin typeface="Arial" pitchFamily="34" charset="0"/>
                <a:ea typeface="Arial" pitchFamily="34" charset="-122"/>
                <a:cs typeface="Arial" pitchFamily="34" charset="-120"/>
              </a:rPr>
              <a:t>The keywords</a:t>
            </a:r>
            <a:endParaRPr lang="en-US" sz="1700" dirty="0"/>
          </a:p>
        </p:txBody>
      </p:sp>
      <p:sp>
        <p:nvSpPr>
          <p:cNvPr id="37" name="Text 35"/>
          <p:cNvSpPr/>
          <p:nvPr/>
        </p:nvSpPr>
        <p:spPr>
          <a:xfrm>
            <a:off x="8577072" y="3858768"/>
            <a:ext cx="3063240" cy="1051560"/>
          </a:xfrm>
          <a:prstGeom prst="rect">
            <a:avLst/>
          </a:prstGeom>
          <a:noFill/>
          <a:ln/>
        </p:spPr>
        <p:txBody>
          <a:bodyPr wrap="square" lIns="0" tIns="0" rIns="0" bIns="0" rtlCol="0" anchor="ctr"/>
          <a:lstStyle/>
          <a:p>
            <a:pPr indent="0" marL="0">
              <a:lnSpc>
                <a:spcPct val="105000"/>
              </a:lnSpc>
              <a:buNone/>
            </a:pPr>
            <a:r>
              <a:rPr lang="en-US" sz="1350" dirty="0">
                <a:solidFill>
                  <a:srgbClr val="9AA6C0"/>
                </a:solidFill>
                <a:latin typeface="Calibri" pitchFamily="34" charset="0"/>
                <a:ea typeface="Calibri" pitchFamily="34" charset="-122"/>
                <a:cs typeface="Calibri" pitchFamily="34" charset="-120"/>
              </a:rPr>
              <a:t>The words in your report that tipped it. The peek inside.</a:t>
            </a:r>
            <a:endParaRPr lang="en-US" sz="1350" dirty="0"/>
          </a:p>
        </p:txBody>
      </p:sp>
      <p:sp>
        <p:nvSpPr>
          <p:cNvPr id="39" name="Text 36"/>
          <p:cNvSpPr/>
          <p:nvPr/>
        </p:nvSpPr>
        <p:spPr>
          <a:xfrm>
            <a:off x="548640" y="6428232"/>
            <a:ext cx="6400800" cy="274320"/>
          </a:xfrm>
          <a:prstGeom prst="rect">
            <a:avLst/>
          </a:prstGeom>
          <a:noFill/>
          <a:ln/>
        </p:spPr>
        <p:txBody>
          <a:bodyPr wrap="square" lIns="0" tIns="0" rIns="0" bIns="0" rtlCol="0" anchor="ctr"/>
          <a:lstStyle/>
          <a:p>
            <a:pPr indent="0" marL="0">
              <a:buNone/>
            </a:pPr>
            <a:r>
              <a:rPr lang="en-US" sz="900" dirty="0">
                <a:solidFill>
                  <a:srgbClr val="9AA6C0"/>
                </a:solidFill>
                <a:latin typeface="Calibri" pitchFamily="34" charset="0"/>
                <a:ea typeface="Calibri" pitchFamily="34" charset="-122"/>
                <a:cs typeface="Calibri" pitchFamily="34" charset="-120"/>
              </a:rPr>
              <a:t>UFO Witness Report Analyzer</a:t>
            </a:r>
            <a:endParaRPr lang="en-US" sz="900" dirty="0"/>
          </a:p>
        </p:txBody>
      </p:sp>
      <p:sp>
        <p:nvSpPr>
          <p:cNvPr id="40" name="Text 37"/>
          <p:cNvSpPr/>
          <p:nvPr/>
        </p:nvSpPr>
        <p:spPr>
          <a:xfrm>
            <a:off x="11430000" y="6428232"/>
            <a:ext cx="365760" cy="274320"/>
          </a:xfrm>
          <a:prstGeom prst="rect">
            <a:avLst/>
          </a:prstGeom>
          <a:noFill/>
          <a:ln/>
        </p:spPr>
        <p:txBody>
          <a:bodyPr wrap="square" lIns="0" tIns="0" rIns="0" bIns="0" rtlCol="0" anchor="ctr"/>
          <a:lstStyle/>
          <a:p>
            <a:pPr algn="r" indent="0" marL="0">
              <a:buNone/>
            </a:pPr>
            <a:r>
              <a:rPr lang="en-US" sz="900" dirty="0">
                <a:solidFill>
                  <a:srgbClr val="9AA6C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3016868" y="3289829"/>
            <a:ext cx="55293" cy="55293"/>
          </a:xfrm>
          <a:prstGeom prst="ellipse">
            <a:avLst/>
          </a:prstGeom>
          <a:solidFill>
            <a:srgbClr val="C8A84B">
              <a:alpha val="45000"/>
            </a:srgbClr>
          </a:solidFill>
          <a:ln/>
        </p:spPr>
      </p:sp>
      <p:sp>
        <p:nvSpPr>
          <p:cNvPr id="3" name="Shape 1"/>
          <p:cNvSpPr/>
          <p:nvPr/>
        </p:nvSpPr>
        <p:spPr>
          <a:xfrm>
            <a:off x="153114" y="2133541"/>
            <a:ext cx="18892" cy="18892"/>
          </a:xfrm>
          <a:prstGeom prst="ellipse">
            <a:avLst/>
          </a:prstGeom>
          <a:solidFill>
            <a:srgbClr val="C8A84B">
              <a:alpha val="45000"/>
            </a:srgbClr>
          </a:solidFill>
          <a:ln/>
        </p:spPr>
      </p:sp>
      <p:sp>
        <p:nvSpPr>
          <p:cNvPr id="4" name="Shape 2"/>
          <p:cNvSpPr/>
          <p:nvPr/>
        </p:nvSpPr>
        <p:spPr>
          <a:xfrm>
            <a:off x="3245001" y="6537031"/>
            <a:ext cx="18991" cy="18991"/>
          </a:xfrm>
          <a:prstGeom prst="ellipse">
            <a:avLst/>
          </a:prstGeom>
          <a:solidFill>
            <a:srgbClr val="C8A84B">
              <a:alpha val="45000"/>
            </a:srgbClr>
          </a:solidFill>
          <a:ln/>
        </p:spPr>
      </p:sp>
      <p:sp>
        <p:nvSpPr>
          <p:cNvPr id="5" name="Shape 3"/>
          <p:cNvSpPr/>
          <p:nvPr/>
        </p:nvSpPr>
        <p:spPr>
          <a:xfrm>
            <a:off x="11691961" y="667632"/>
            <a:ext cx="29627" cy="29627"/>
          </a:xfrm>
          <a:prstGeom prst="ellipse">
            <a:avLst/>
          </a:prstGeom>
          <a:solidFill>
            <a:srgbClr val="C8A84B">
              <a:alpha val="45000"/>
            </a:srgbClr>
          </a:solidFill>
          <a:ln/>
        </p:spPr>
      </p:sp>
      <p:sp>
        <p:nvSpPr>
          <p:cNvPr id="6" name="Shape 4"/>
          <p:cNvSpPr/>
          <p:nvPr/>
        </p:nvSpPr>
        <p:spPr>
          <a:xfrm>
            <a:off x="119957" y="6538677"/>
            <a:ext cx="28221" cy="28221"/>
          </a:xfrm>
          <a:prstGeom prst="ellipse">
            <a:avLst/>
          </a:prstGeom>
          <a:solidFill>
            <a:srgbClr val="3A4A6B">
              <a:alpha val="45000"/>
            </a:srgbClr>
          </a:solidFill>
          <a:ln/>
        </p:spPr>
      </p:sp>
      <p:sp>
        <p:nvSpPr>
          <p:cNvPr id="7" name="Shape 5"/>
          <p:cNvSpPr/>
          <p:nvPr/>
        </p:nvSpPr>
        <p:spPr>
          <a:xfrm>
            <a:off x="6214689" y="951500"/>
            <a:ext cx="20983" cy="20983"/>
          </a:xfrm>
          <a:prstGeom prst="ellipse">
            <a:avLst/>
          </a:prstGeom>
          <a:solidFill>
            <a:srgbClr val="C8A84B">
              <a:alpha val="45000"/>
            </a:srgbClr>
          </a:solidFill>
          <a:ln/>
        </p:spPr>
      </p:sp>
      <p:sp>
        <p:nvSpPr>
          <p:cNvPr id="8" name="Shape 6"/>
          <p:cNvSpPr/>
          <p:nvPr/>
        </p:nvSpPr>
        <p:spPr>
          <a:xfrm>
            <a:off x="7755106" y="1601435"/>
            <a:ext cx="53068" cy="53068"/>
          </a:xfrm>
          <a:prstGeom prst="ellipse">
            <a:avLst/>
          </a:prstGeom>
          <a:solidFill>
            <a:srgbClr val="3A4A6B">
              <a:alpha val="45000"/>
            </a:srgbClr>
          </a:solidFill>
          <a:ln/>
        </p:spPr>
      </p:sp>
      <p:sp>
        <p:nvSpPr>
          <p:cNvPr id="9" name="Shape 7"/>
          <p:cNvSpPr/>
          <p:nvPr/>
        </p:nvSpPr>
        <p:spPr>
          <a:xfrm>
            <a:off x="2338934" y="21813"/>
            <a:ext cx="20618" cy="20618"/>
          </a:xfrm>
          <a:prstGeom prst="ellipse">
            <a:avLst/>
          </a:prstGeom>
          <a:solidFill>
            <a:srgbClr val="C8A84B">
              <a:alpha val="45000"/>
            </a:srgbClr>
          </a:solidFill>
          <a:ln/>
        </p:spPr>
      </p:sp>
      <p:sp>
        <p:nvSpPr>
          <p:cNvPr id="10" name="Shape 8"/>
          <p:cNvSpPr/>
          <p:nvPr/>
        </p:nvSpPr>
        <p:spPr>
          <a:xfrm>
            <a:off x="10085230" y="1969970"/>
            <a:ext cx="61922" cy="61922"/>
          </a:xfrm>
          <a:prstGeom prst="ellipse">
            <a:avLst/>
          </a:prstGeom>
          <a:solidFill>
            <a:srgbClr val="C8A84B">
              <a:alpha val="45000"/>
            </a:srgbClr>
          </a:solidFill>
          <a:ln/>
        </p:spPr>
      </p:sp>
      <p:sp>
        <p:nvSpPr>
          <p:cNvPr id="11" name="Shape 9"/>
          <p:cNvSpPr/>
          <p:nvPr/>
        </p:nvSpPr>
        <p:spPr>
          <a:xfrm>
            <a:off x="11475506" y="3805238"/>
            <a:ext cx="18936" cy="18936"/>
          </a:xfrm>
          <a:prstGeom prst="ellipse">
            <a:avLst/>
          </a:prstGeom>
          <a:solidFill>
            <a:srgbClr val="C8A84B">
              <a:alpha val="45000"/>
            </a:srgbClr>
          </a:solidFill>
          <a:ln/>
        </p:spPr>
      </p:sp>
      <p:sp>
        <p:nvSpPr>
          <p:cNvPr id="12" name="Shape 10"/>
          <p:cNvSpPr/>
          <p:nvPr/>
        </p:nvSpPr>
        <p:spPr>
          <a:xfrm>
            <a:off x="2756205" y="870950"/>
            <a:ext cx="26561" cy="26561"/>
          </a:xfrm>
          <a:prstGeom prst="ellipse">
            <a:avLst/>
          </a:prstGeom>
          <a:solidFill>
            <a:srgbClr val="3A4A6B">
              <a:alpha val="45000"/>
            </a:srgbClr>
          </a:solidFill>
          <a:ln/>
        </p:spPr>
      </p:sp>
      <p:sp>
        <p:nvSpPr>
          <p:cNvPr id="13" name="Shape 11"/>
          <p:cNvSpPr/>
          <p:nvPr/>
        </p:nvSpPr>
        <p:spPr>
          <a:xfrm>
            <a:off x="10802785" y="448439"/>
            <a:ext cx="35127" cy="35127"/>
          </a:xfrm>
          <a:prstGeom prst="ellipse">
            <a:avLst/>
          </a:prstGeom>
          <a:solidFill>
            <a:srgbClr val="3A4A6B">
              <a:alpha val="45000"/>
            </a:srgbClr>
          </a:solidFill>
          <a:ln/>
        </p:spPr>
      </p:sp>
      <p:sp>
        <p:nvSpPr>
          <p:cNvPr id="14" name="Shape 12"/>
          <p:cNvSpPr/>
          <p:nvPr/>
        </p:nvSpPr>
        <p:spPr>
          <a:xfrm>
            <a:off x="6637798" y="4993040"/>
            <a:ext cx="49150" cy="49150"/>
          </a:xfrm>
          <a:prstGeom prst="ellipse">
            <a:avLst/>
          </a:prstGeom>
          <a:solidFill>
            <a:srgbClr val="C8A84B">
              <a:alpha val="45000"/>
            </a:srgbClr>
          </a:solidFill>
          <a:ln/>
        </p:spPr>
      </p:sp>
      <p:sp>
        <p:nvSpPr>
          <p:cNvPr id="15" name="Shape 13"/>
          <p:cNvSpPr/>
          <p:nvPr/>
        </p:nvSpPr>
        <p:spPr>
          <a:xfrm>
            <a:off x="9479448" y="6800086"/>
            <a:ext cx="30811" cy="30811"/>
          </a:xfrm>
          <a:prstGeom prst="ellipse">
            <a:avLst/>
          </a:prstGeom>
          <a:solidFill>
            <a:srgbClr val="C8A84B">
              <a:alpha val="45000"/>
            </a:srgbClr>
          </a:solidFill>
          <a:ln/>
        </p:spPr>
      </p:sp>
      <p:sp>
        <p:nvSpPr>
          <p:cNvPr id="16" name="Shape 14"/>
          <p:cNvSpPr/>
          <p:nvPr/>
        </p:nvSpPr>
        <p:spPr>
          <a:xfrm>
            <a:off x="566928" y="566928"/>
            <a:ext cx="146304" cy="146304"/>
          </a:xfrm>
          <a:prstGeom prst="ellipse">
            <a:avLst/>
          </a:prstGeom>
          <a:solidFill>
            <a:srgbClr val="C8A84B"/>
          </a:solidFill>
          <a:ln/>
        </p:spPr>
      </p:sp>
      <p:sp>
        <p:nvSpPr>
          <p:cNvPr id="17" name="Shape 15"/>
          <p:cNvSpPr/>
          <p:nvPr/>
        </p:nvSpPr>
        <p:spPr>
          <a:xfrm>
            <a:off x="475488" y="475488"/>
            <a:ext cx="329184" cy="329184"/>
          </a:xfrm>
          <a:prstGeom prst="ellipse">
            <a:avLst/>
          </a:prstGeom>
          <a:ln w="12700">
            <a:solidFill>
              <a:srgbClr val="C8A84B">
                <a:alpha val="60000"/>
              </a:srgbClr>
            </a:solidFill>
            <a:prstDash val="solid"/>
          </a:ln>
        </p:spPr>
      </p:sp>
      <p:sp>
        <p:nvSpPr>
          <p:cNvPr id="18" name="Text 16"/>
          <p:cNvSpPr/>
          <p:nvPr/>
        </p:nvSpPr>
        <p:spPr>
          <a:xfrm>
            <a:off x="914400" y="502920"/>
            <a:ext cx="10058400" cy="320040"/>
          </a:xfrm>
          <a:prstGeom prst="rect">
            <a:avLst/>
          </a:prstGeom>
          <a:noFill/>
          <a:ln/>
        </p:spPr>
        <p:txBody>
          <a:bodyPr wrap="square" lIns="0" tIns="0" rIns="0" bIns="0" rtlCol="0" anchor="ctr"/>
          <a:lstStyle/>
          <a:p>
            <a:pPr algn="l" indent="0" marL="0">
              <a:buNone/>
            </a:pPr>
            <a:r>
              <a:rPr lang="en-US" sz="1300" b="1" spc="300" kern="0" dirty="0">
                <a:solidFill>
                  <a:srgbClr val="C8A84B"/>
                </a:solidFill>
                <a:latin typeface="Arial" pitchFamily="34" charset="0"/>
                <a:ea typeface="Arial" pitchFamily="34" charset="-122"/>
                <a:cs typeface="Arial" pitchFamily="34" charset="-120"/>
              </a:rPr>
              <a:t>DEMO</a:t>
            </a:r>
            <a:endParaRPr lang="en-US" sz="1300" dirty="0"/>
          </a:p>
        </p:txBody>
      </p:sp>
      <p:sp>
        <p:nvSpPr>
          <p:cNvPr id="19" name="Text 17"/>
          <p:cNvSpPr/>
          <p:nvPr/>
        </p:nvSpPr>
        <p:spPr>
          <a:xfrm>
            <a:off x="548640" y="932688"/>
            <a:ext cx="11064240" cy="822960"/>
          </a:xfrm>
          <a:prstGeom prst="rect">
            <a:avLst/>
          </a:prstGeom>
          <a:noFill/>
          <a:ln/>
        </p:spPr>
        <p:txBody>
          <a:bodyPr wrap="square" lIns="0" tIns="0" rIns="0" bIns="0" rtlCol="0" anchor="ctr"/>
          <a:lstStyle/>
          <a:p>
            <a:pPr algn="l" indent="0" marL="0">
              <a:buNone/>
            </a:pPr>
            <a:r>
              <a:rPr lang="en-US" sz="3300" b="1" dirty="0">
                <a:solidFill>
                  <a:srgbClr val="EAECF2"/>
                </a:solidFill>
                <a:latin typeface="Arial" pitchFamily="34" charset="0"/>
                <a:ea typeface="Arial" pitchFamily="34" charset="-122"/>
                <a:cs typeface="Arial" pitchFamily="34" charset="-120"/>
              </a:rPr>
              <a:t>Let's see it work</a:t>
            </a:r>
            <a:endParaRPr lang="en-US" sz="3300" dirty="0"/>
          </a:p>
        </p:txBody>
      </p:sp>
      <p:sp>
        <p:nvSpPr>
          <p:cNvPr id="20" name="Shape 18"/>
          <p:cNvSpPr/>
          <p:nvPr/>
        </p:nvSpPr>
        <p:spPr>
          <a:xfrm>
            <a:off x="640080" y="2331720"/>
            <a:ext cx="8138160" cy="868680"/>
          </a:xfrm>
          <a:prstGeom prst="roundRect">
            <a:avLst>
              <a:gd name="adj" fmla="val 9474"/>
            </a:avLst>
          </a:prstGeom>
          <a:solidFill>
            <a:srgbClr val="161F38"/>
          </a:solidFill>
          <a:ln/>
          <a:effectLst>
            <a:outerShdw sx="100000" sy="100000" kx="0" ky="0" algn="bl" rotWithShape="0" blurRad="101600" dist="38100" dir="5400000">
              <a:srgbClr val="000000">
                <a:alpha val="35000"/>
              </a:srgbClr>
            </a:outerShdw>
          </a:effectLst>
        </p:spPr>
      </p:sp>
      <p:sp>
        <p:nvSpPr>
          <p:cNvPr id="21" name="Text 19"/>
          <p:cNvSpPr/>
          <p:nvPr/>
        </p:nvSpPr>
        <p:spPr>
          <a:xfrm>
            <a:off x="868680" y="2459736"/>
            <a:ext cx="7680960" cy="603504"/>
          </a:xfrm>
          <a:prstGeom prst="rect">
            <a:avLst/>
          </a:prstGeom>
          <a:noFill/>
          <a:ln/>
        </p:spPr>
        <p:txBody>
          <a:bodyPr wrap="square" lIns="0" tIns="0" rIns="0" bIns="0" rtlCol="0" anchor="ctr"/>
          <a:lstStyle/>
          <a:p>
            <a:pPr indent="0" marL="0">
              <a:buNone/>
            </a:pPr>
            <a:r>
              <a:rPr lang="en-US" sz="1350" i="1" dirty="0">
                <a:solidFill>
                  <a:srgbClr val="EAECF2"/>
                </a:solidFill>
                <a:latin typeface="Calibri" pitchFamily="34" charset="0"/>
                <a:ea typeface="Calibri" pitchFamily="34" charset="-122"/>
                <a:cs typeface="Calibri" pitchFamily="34" charset="-120"/>
              </a:rPr>
              <a:t>“Dark triangular craft, three white lights, one at each corner.”</a:t>
            </a:r>
            <a:endParaRPr lang="en-US" sz="1350" dirty="0"/>
          </a:p>
        </p:txBody>
      </p:sp>
      <p:sp>
        <p:nvSpPr>
          <p:cNvPr id="22" name="Shape 20"/>
          <p:cNvSpPr/>
          <p:nvPr/>
        </p:nvSpPr>
        <p:spPr>
          <a:xfrm>
            <a:off x="8915400" y="2331720"/>
            <a:ext cx="2606040" cy="868680"/>
          </a:xfrm>
          <a:prstGeom prst="roundRect">
            <a:avLst>
              <a:gd name="adj" fmla="val 9474"/>
            </a:avLst>
          </a:prstGeom>
          <a:solidFill>
            <a:srgbClr val="1E2A47"/>
          </a:solidFill>
          <a:ln/>
          <a:effectLst>
            <a:outerShdw sx="100000" sy="100000" kx="0" ky="0" algn="bl" rotWithShape="0" blurRad="101600" dist="38100" dir="5400000">
              <a:srgbClr val="000000">
                <a:alpha val="35000"/>
              </a:srgbClr>
            </a:outerShdw>
          </a:effectLst>
        </p:spPr>
      </p:sp>
      <p:sp>
        <p:nvSpPr>
          <p:cNvPr id="23" name="Text 21"/>
          <p:cNvSpPr/>
          <p:nvPr/>
        </p:nvSpPr>
        <p:spPr>
          <a:xfrm>
            <a:off x="9052560" y="2459736"/>
            <a:ext cx="2377440" cy="603504"/>
          </a:xfrm>
          <a:prstGeom prst="rect">
            <a:avLst/>
          </a:prstGeom>
          <a:noFill/>
          <a:ln/>
        </p:spPr>
        <p:txBody>
          <a:bodyPr wrap="square" lIns="0" tIns="0" rIns="0" bIns="0" rtlCol="0" anchor="ctr"/>
          <a:lstStyle/>
          <a:p>
            <a:pPr indent="0" marL="0">
              <a:buNone/>
            </a:pPr>
            <a:r>
              <a:rPr lang="en-US" sz="1600" b="1" dirty="0">
                <a:solidFill>
                  <a:srgbClr val="C8A84B"/>
                </a:solidFill>
                <a:latin typeface="Arial" pitchFamily="34" charset="0"/>
                <a:ea typeface="Arial" pitchFamily="34" charset="-122"/>
                <a:cs typeface="Arial" pitchFamily="34" charset="-120"/>
              </a:rPr>
              <a:t>TRIANGLE  </a:t>
            </a:r>
            <a:pPr indent="0" marL="0">
              <a:buNone/>
            </a:pPr>
            <a:r>
              <a:rPr lang="en-US" sz="1300" dirty="0">
                <a:solidFill>
                  <a:srgbClr val="5FBFD6"/>
                </a:solidFill>
                <a:latin typeface="Arial" pitchFamily="34" charset="0"/>
                <a:ea typeface="Arial" pitchFamily="34" charset="-122"/>
                <a:cs typeface="Arial" pitchFamily="34" charset="-120"/>
              </a:rPr>
              <a:t>99%</a:t>
            </a:r>
            <a:endParaRPr lang="en-US" sz="1600" dirty="0"/>
          </a:p>
        </p:txBody>
      </p:sp>
      <p:sp>
        <p:nvSpPr>
          <p:cNvPr id="24" name="Shape 22"/>
          <p:cNvSpPr/>
          <p:nvPr/>
        </p:nvSpPr>
        <p:spPr>
          <a:xfrm>
            <a:off x="640080" y="3383280"/>
            <a:ext cx="8138160" cy="868680"/>
          </a:xfrm>
          <a:prstGeom prst="roundRect">
            <a:avLst>
              <a:gd name="adj" fmla="val 9474"/>
            </a:avLst>
          </a:prstGeom>
          <a:solidFill>
            <a:srgbClr val="161F38"/>
          </a:solidFill>
          <a:ln/>
          <a:effectLst>
            <a:outerShdw sx="100000" sy="100000" kx="0" ky="0" algn="bl" rotWithShape="0" blurRad="101600" dist="38100" dir="5400000">
              <a:srgbClr val="000000">
                <a:alpha val="35000"/>
              </a:srgbClr>
            </a:outerShdw>
          </a:effectLst>
        </p:spPr>
      </p:sp>
      <p:sp>
        <p:nvSpPr>
          <p:cNvPr id="25" name="Text 23"/>
          <p:cNvSpPr/>
          <p:nvPr/>
        </p:nvSpPr>
        <p:spPr>
          <a:xfrm>
            <a:off x="868680" y="3511296"/>
            <a:ext cx="7680960" cy="603504"/>
          </a:xfrm>
          <a:prstGeom prst="rect">
            <a:avLst/>
          </a:prstGeom>
          <a:noFill/>
          <a:ln/>
        </p:spPr>
        <p:txBody>
          <a:bodyPr wrap="square" lIns="0" tIns="0" rIns="0" bIns="0" rtlCol="0" anchor="ctr"/>
          <a:lstStyle/>
          <a:p>
            <a:pPr indent="0" marL="0">
              <a:buNone/>
            </a:pPr>
            <a:r>
              <a:rPr lang="en-US" sz="1350" i="1" dirty="0">
                <a:solidFill>
                  <a:srgbClr val="EAECF2"/>
                </a:solidFill>
                <a:latin typeface="Calibri" pitchFamily="34" charset="0"/>
                <a:ea typeface="Calibri" pitchFamily="34" charset="-122"/>
                <a:cs typeface="Calibri" pitchFamily="34" charset="-120"/>
              </a:rPr>
              <a:t>“An orange ball of fire streaked across the sky and broke apart.”</a:t>
            </a:r>
            <a:endParaRPr lang="en-US" sz="1350" dirty="0"/>
          </a:p>
        </p:txBody>
      </p:sp>
      <p:sp>
        <p:nvSpPr>
          <p:cNvPr id="26" name="Shape 24"/>
          <p:cNvSpPr/>
          <p:nvPr/>
        </p:nvSpPr>
        <p:spPr>
          <a:xfrm>
            <a:off x="8915400" y="3383280"/>
            <a:ext cx="2606040" cy="868680"/>
          </a:xfrm>
          <a:prstGeom prst="roundRect">
            <a:avLst>
              <a:gd name="adj" fmla="val 9474"/>
            </a:avLst>
          </a:prstGeom>
          <a:solidFill>
            <a:srgbClr val="1E2A47"/>
          </a:solidFill>
          <a:ln/>
          <a:effectLst>
            <a:outerShdw sx="100000" sy="100000" kx="0" ky="0" algn="bl" rotWithShape="0" blurRad="101600" dist="38100" dir="5400000">
              <a:srgbClr val="000000">
                <a:alpha val="35000"/>
              </a:srgbClr>
            </a:outerShdw>
          </a:effectLst>
        </p:spPr>
      </p:sp>
      <p:sp>
        <p:nvSpPr>
          <p:cNvPr id="27" name="Text 25"/>
          <p:cNvSpPr/>
          <p:nvPr/>
        </p:nvSpPr>
        <p:spPr>
          <a:xfrm>
            <a:off x="9052560" y="3511296"/>
            <a:ext cx="2377440" cy="603504"/>
          </a:xfrm>
          <a:prstGeom prst="rect">
            <a:avLst/>
          </a:prstGeom>
          <a:noFill/>
          <a:ln/>
        </p:spPr>
        <p:txBody>
          <a:bodyPr wrap="square" lIns="0" tIns="0" rIns="0" bIns="0" rtlCol="0" anchor="ctr"/>
          <a:lstStyle/>
          <a:p>
            <a:pPr indent="0" marL="0">
              <a:buNone/>
            </a:pPr>
            <a:r>
              <a:rPr lang="en-US" sz="1600" b="1" dirty="0">
                <a:solidFill>
                  <a:srgbClr val="C8A84B"/>
                </a:solidFill>
                <a:latin typeface="Arial" pitchFamily="34" charset="0"/>
                <a:ea typeface="Arial" pitchFamily="34" charset="-122"/>
                <a:cs typeface="Arial" pitchFamily="34" charset="-120"/>
              </a:rPr>
              <a:t>FIREBALL  </a:t>
            </a:r>
            <a:pPr indent="0" marL="0">
              <a:buNone/>
            </a:pPr>
            <a:r>
              <a:rPr lang="en-US" sz="1300" dirty="0">
                <a:solidFill>
                  <a:srgbClr val="5FBFD6"/>
                </a:solidFill>
                <a:latin typeface="Arial" pitchFamily="34" charset="0"/>
                <a:ea typeface="Arial" pitchFamily="34" charset="-122"/>
                <a:cs typeface="Arial" pitchFamily="34" charset="-120"/>
              </a:rPr>
              <a:t>54%</a:t>
            </a:r>
            <a:endParaRPr lang="en-US" sz="1600" dirty="0"/>
          </a:p>
        </p:txBody>
      </p:sp>
      <p:sp>
        <p:nvSpPr>
          <p:cNvPr id="28" name="Shape 26"/>
          <p:cNvSpPr/>
          <p:nvPr/>
        </p:nvSpPr>
        <p:spPr>
          <a:xfrm>
            <a:off x="640080" y="4434840"/>
            <a:ext cx="8138160" cy="868680"/>
          </a:xfrm>
          <a:prstGeom prst="roundRect">
            <a:avLst>
              <a:gd name="adj" fmla="val 9474"/>
            </a:avLst>
          </a:prstGeom>
          <a:solidFill>
            <a:srgbClr val="161F38"/>
          </a:solidFill>
          <a:ln/>
          <a:effectLst>
            <a:outerShdw sx="100000" sy="100000" kx="0" ky="0" algn="bl" rotWithShape="0" blurRad="101600" dist="38100" dir="5400000">
              <a:srgbClr val="000000">
                <a:alpha val="35000"/>
              </a:srgbClr>
            </a:outerShdw>
          </a:effectLst>
        </p:spPr>
      </p:sp>
      <p:sp>
        <p:nvSpPr>
          <p:cNvPr id="29" name="Text 27"/>
          <p:cNvSpPr/>
          <p:nvPr/>
        </p:nvSpPr>
        <p:spPr>
          <a:xfrm>
            <a:off x="868680" y="4562856"/>
            <a:ext cx="7680960" cy="603504"/>
          </a:xfrm>
          <a:prstGeom prst="rect">
            <a:avLst/>
          </a:prstGeom>
          <a:noFill/>
          <a:ln/>
        </p:spPr>
        <p:txBody>
          <a:bodyPr wrap="square" lIns="0" tIns="0" rIns="0" bIns="0" rtlCol="0" anchor="ctr"/>
          <a:lstStyle/>
          <a:p>
            <a:pPr indent="0" marL="0">
              <a:buNone/>
            </a:pPr>
            <a:r>
              <a:rPr lang="en-US" sz="1350" i="1" dirty="0">
                <a:solidFill>
                  <a:srgbClr val="EAECF2"/>
                </a:solidFill>
                <a:latin typeface="Calibri" pitchFamily="34" charset="0"/>
                <a:ea typeface="Calibri" pitchFamily="34" charset="-122"/>
                <a:cs typeface="Calibri" pitchFamily="34" charset="-120"/>
              </a:rPr>
              <a:t>“Three orbs of yellow blinking light came over the mountains.”</a:t>
            </a:r>
            <a:endParaRPr lang="en-US" sz="1350" dirty="0"/>
          </a:p>
        </p:txBody>
      </p:sp>
      <p:sp>
        <p:nvSpPr>
          <p:cNvPr id="30" name="Shape 28"/>
          <p:cNvSpPr/>
          <p:nvPr/>
        </p:nvSpPr>
        <p:spPr>
          <a:xfrm>
            <a:off x="8915400" y="4434840"/>
            <a:ext cx="2606040" cy="868680"/>
          </a:xfrm>
          <a:prstGeom prst="roundRect">
            <a:avLst>
              <a:gd name="adj" fmla="val 9474"/>
            </a:avLst>
          </a:prstGeom>
          <a:solidFill>
            <a:srgbClr val="1E2A47"/>
          </a:solidFill>
          <a:ln/>
          <a:effectLst>
            <a:outerShdw sx="100000" sy="100000" kx="0" ky="0" algn="bl" rotWithShape="0" blurRad="101600" dist="38100" dir="5400000">
              <a:srgbClr val="000000">
                <a:alpha val="35000"/>
              </a:srgbClr>
            </a:outerShdw>
          </a:effectLst>
        </p:spPr>
      </p:sp>
      <p:sp>
        <p:nvSpPr>
          <p:cNvPr id="31" name="Text 29"/>
          <p:cNvSpPr/>
          <p:nvPr/>
        </p:nvSpPr>
        <p:spPr>
          <a:xfrm>
            <a:off x="9052560" y="4562856"/>
            <a:ext cx="2377440" cy="603504"/>
          </a:xfrm>
          <a:prstGeom prst="rect">
            <a:avLst/>
          </a:prstGeom>
          <a:noFill/>
          <a:ln/>
        </p:spPr>
        <p:txBody>
          <a:bodyPr wrap="square" lIns="0" tIns="0" rIns="0" bIns="0" rtlCol="0" anchor="ctr"/>
          <a:lstStyle/>
          <a:p>
            <a:pPr indent="0" marL="0">
              <a:buNone/>
            </a:pPr>
            <a:r>
              <a:rPr lang="en-US" sz="1600" b="1" dirty="0">
                <a:solidFill>
                  <a:srgbClr val="C8A84B"/>
                </a:solidFill>
                <a:latin typeface="Arial" pitchFamily="34" charset="0"/>
                <a:ea typeface="Arial" pitchFamily="34" charset="-122"/>
                <a:cs typeface="Arial" pitchFamily="34" charset="-120"/>
              </a:rPr>
              <a:t>LIGHT  </a:t>
            </a:r>
            <a:pPr indent="0" marL="0">
              <a:buNone/>
            </a:pPr>
            <a:r>
              <a:rPr lang="en-US" sz="1300" dirty="0">
                <a:solidFill>
                  <a:srgbClr val="5FBFD6"/>
                </a:solidFill>
                <a:latin typeface="Arial" pitchFamily="34" charset="0"/>
                <a:ea typeface="Arial" pitchFamily="34" charset="-122"/>
                <a:cs typeface="Arial" pitchFamily="34" charset="-120"/>
              </a:rPr>
              <a:t>82%</a:t>
            </a:r>
            <a:endParaRPr lang="en-US" sz="1600" dirty="0"/>
          </a:p>
        </p:txBody>
      </p:sp>
      <p:sp>
        <p:nvSpPr>
          <p:cNvPr id="32" name="Text 30"/>
          <p:cNvSpPr/>
          <p:nvPr/>
        </p:nvSpPr>
        <p:spPr>
          <a:xfrm>
            <a:off x="640080" y="5806440"/>
            <a:ext cx="10881360" cy="457200"/>
          </a:xfrm>
          <a:prstGeom prst="rect">
            <a:avLst/>
          </a:prstGeom>
          <a:noFill/>
          <a:ln/>
        </p:spPr>
        <p:txBody>
          <a:bodyPr wrap="square" lIns="0" tIns="0" rIns="0" bIns="0" rtlCol="0" anchor="ctr"/>
          <a:lstStyle/>
          <a:p>
            <a:pPr indent="0" marL="0">
              <a:buNone/>
            </a:pPr>
            <a:r>
              <a:rPr lang="en-US" sz="1400" i="1" dirty="0">
                <a:solidFill>
                  <a:srgbClr val="9AA6C0"/>
                </a:solidFill>
                <a:latin typeface="Calibri" pitchFamily="34" charset="0"/>
                <a:ea typeface="Calibri" pitchFamily="34" charset="-122"/>
                <a:cs typeface="Calibri" pitchFamily="34" charset="-120"/>
              </a:rPr>
              <a:t>Watch the vague one fall back to “light.” No shape word in it, so the model has nothing to grab. Honest, not broken.</a:t>
            </a:r>
            <a:endParaRPr lang="en-US" sz="1400" dirty="0"/>
          </a:p>
        </p:txBody>
      </p:sp>
      <p:sp>
        <p:nvSpPr>
          <p:cNvPr id="34" name="Text 31"/>
          <p:cNvSpPr/>
          <p:nvPr/>
        </p:nvSpPr>
        <p:spPr>
          <a:xfrm>
            <a:off x="548640" y="6428232"/>
            <a:ext cx="6400800" cy="274320"/>
          </a:xfrm>
          <a:prstGeom prst="rect">
            <a:avLst/>
          </a:prstGeom>
          <a:noFill/>
          <a:ln/>
        </p:spPr>
        <p:txBody>
          <a:bodyPr wrap="square" lIns="0" tIns="0" rIns="0" bIns="0" rtlCol="0" anchor="ctr"/>
          <a:lstStyle/>
          <a:p>
            <a:pPr indent="0" marL="0">
              <a:buNone/>
            </a:pPr>
            <a:r>
              <a:rPr lang="en-US" sz="900" dirty="0">
                <a:solidFill>
                  <a:srgbClr val="9AA6C0"/>
                </a:solidFill>
                <a:latin typeface="Calibri" pitchFamily="34" charset="0"/>
                <a:ea typeface="Calibri" pitchFamily="34" charset="-122"/>
                <a:cs typeface="Calibri" pitchFamily="34" charset="-120"/>
              </a:rPr>
              <a:t>UFO Witness Report Analyzer</a:t>
            </a:r>
            <a:endParaRPr lang="en-US" sz="900" dirty="0"/>
          </a:p>
        </p:txBody>
      </p:sp>
      <p:sp>
        <p:nvSpPr>
          <p:cNvPr id="35" name="Text 32"/>
          <p:cNvSpPr/>
          <p:nvPr/>
        </p:nvSpPr>
        <p:spPr>
          <a:xfrm>
            <a:off x="11430000" y="6428232"/>
            <a:ext cx="365760" cy="274320"/>
          </a:xfrm>
          <a:prstGeom prst="rect">
            <a:avLst/>
          </a:prstGeom>
          <a:noFill/>
          <a:ln/>
        </p:spPr>
        <p:txBody>
          <a:bodyPr wrap="square" lIns="0" tIns="0" rIns="0" bIns="0" rtlCol="0" anchor="ctr"/>
          <a:lstStyle/>
          <a:p>
            <a:pPr algn="r" indent="0" marL="0">
              <a:buNone/>
            </a:pPr>
            <a:r>
              <a:rPr lang="en-US" sz="900" dirty="0">
                <a:solidFill>
                  <a:srgbClr val="9AA6C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11187212" y="485305"/>
            <a:ext cx="58939" cy="58939"/>
          </a:xfrm>
          <a:prstGeom prst="ellipse">
            <a:avLst/>
          </a:prstGeom>
          <a:solidFill>
            <a:srgbClr val="3A4A6B">
              <a:alpha val="45000"/>
            </a:srgbClr>
          </a:solidFill>
          <a:ln/>
        </p:spPr>
      </p:sp>
      <p:sp>
        <p:nvSpPr>
          <p:cNvPr id="3" name="Shape 1"/>
          <p:cNvSpPr/>
          <p:nvPr/>
        </p:nvSpPr>
        <p:spPr>
          <a:xfrm>
            <a:off x="1692176" y="2532239"/>
            <a:ext cx="59697" cy="59697"/>
          </a:xfrm>
          <a:prstGeom prst="ellipse">
            <a:avLst/>
          </a:prstGeom>
          <a:solidFill>
            <a:srgbClr val="3A4A6B">
              <a:alpha val="45000"/>
            </a:srgbClr>
          </a:solidFill>
          <a:ln/>
        </p:spPr>
      </p:sp>
      <p:sp>
        <p:nvSpPr>
          <p:cNvPr id="4" name="Shape 2"/>
          <p:cNvSpPr/>
          <p:nvPr/>
        </p:nvSpPr>
        <p:spPr>
          <a:xfrm>
            <a:off x="2807190" y="825618"/>
            <a:ext cx="46720" cy="46720"/>
          </a:xfrm>
          <a:prstGeom prst="ellipse">
            <a:avLst/>
          </a:prstGeom>
          <a:solidFill>
            <a:srgbClr val="C8A84B">
              <a:alpha val="45000"/>
            </a:srgbClr>
          </a:solidFill>
          <a:ln/>
        </p:spPr>
      </p:sp>
      <p:sp>
        <p:nvSpPr>
          <p:cNvPr id="5" name="Shape 3"/>
          <p:cNvSpPr/>
          <p:nvPr/>
        </p:nvSpPr>
        <p:spPr>
          <a:xfrm>
            <a:off x="2220593" y="3408774"/>
            <a:ext cx="36377" cy="36377"/>
          </a:xfrm>
          <a:prstGeom prst="ellipse">
            <a:avLst/>
          </a:prstGeom>
          <a:solidFill>
            <a:srgbClr val="3A4A6B">
              <a:alpha val="45000"/>
            </a:srgbClr>
          </a:solidFill>
          <a:ln/>
        </p:spPr>
      </p:sp>
      <p:sp>
        <p:nvSpPr>
          <p:cNvPr id="6" name="Shape 4"/>
          <p:cNvSpPr/>
          <p:nvPr/>
        </p:nvSpPr>
        <p:spPr>
          <a:xfrm>
            <a:off x="8790775" y="2069042"/>
            <a:ext cx="23024" cy="23024"/>
          </a:xfrm>
          <a:prstGeom prst="ellipse">
            <a:avLst/>
          </a:prstGeom>
          <a:solidFill>
            <a:srgbClr val="3A4A6B">
              <a:alpha val="45000"/>
            </a:srgbClr>
          </a:solidFill>
          <a:ln/>
        </p:spPr>
      </p:sp>
      <p:sp>
        <p:nvSpPr>
          <p:cNvPr id="7" name="Shape 5"/>
          <p:cNvSpPr/>
          <p:nvPr/>
        </p:nvSpPr>
        <p:spPr>
          <a:xfrm>
            <a:off x="10656501" y="1293754"/>
            <a:ext cx="19643" cy="19643"/>
          </a:xfrm>
          <a:prstGeom prst="ellipse">
            <a:avLst/>
          </a:prstGeom>
          <a:solidFill>
            <a:srgbClr val="C8A84B">
              <a:alpha val="45000"/>
            </a:srgbClr>
          </a:solidFill>
          <a:ln/>
        </p:spPr>
      </p:sp>
      <p:sp>
        <p:nvSpPr>
          <p:cNvPr id="8" name="Shape 6"/>
          <p:cNvSpPr/>
          <p:nvPr/>
        </p:nvSpPr>
        <p:spPr>
          <a:xfrm>
            <a:off x="2262508" y="3792244"/>
            <a:ext cx="37523" cy="37523"/>
          </a:xfrm>
          <a:prstGeom prst="ellipse">
            <a:avLst/>
          </a:prstGeom>
          <a:solidFill>
            <a:srgbClr val="3A4A6B">
              <a:alpha val="45000"/>
            </a:srgbClr>
          </a:solidFill>
          <a:ln/>
        </p:spPr>
      </p:sp>
      <p:sp>
        <p:nvSpPr>
          <p:cNvPr id="9" name="Shape 7"/>
          <p:cNvSpPr/>
          <p:nvPr/>
        </p:nvSpPr>
        <p:spPr>
          <a:xfrm>
            <a:off x="7331267" y="589844"/>
            <a:ext cx="50698" cy="50698"/>
          </a:xfrm>
          <a:prstGeom prst="ellipse">
            <a:avLst/>
          </a:prstGeom>
          <a:solidFill>
            <a:srgbClr val="3A4A6B">
              <a:alpha val="45000"/>
            </a:srgbClr>
          </a:solidFill>
          <a:ln/>
        </p:spPr>
      </p:sp>
      <p:sp>
        <p:nvSpPr>
          <p:cNvPr id="10" name="Shape 8"/>
          <p:cNvSpPr/>
          <p:nvPr/>
        </p:nvSpPr>
        <p:spPr>
          <a:xfrm>
            <a:off x="488744" y="6841890"/>
            <a:ext cx="36593" cy="36593"/>
          </a:xfrm>
          <a:prstGeom prst="ellipse">
            <a:avLst/>
          </a:prstGeom>
          <a:solidFill>
            <a:srgbClr val="3A4A6B">
              <a:alpha val="45000"/>
            </a:srgbClr>
          </a:solidFill>
          <a:ln/>
        </p:spPr>
      </p:sp>
      <p:sp>
        <p:nvSpPr>
          <p:cNvPr id="11" name="Shape 9"/>
          <p:cNvSpPr/>
          <p:nvPr/>
        </p:nvSpPr>
        <p:spPr>
          <a:xfrm>
            <a:off x="7259116" y="6207713"/>
            <a:ext cx="47135" cy="47135"/>
          </a:xfrm>
          <a:prstGeom prst="ellipse">
            <a:avLst/>
          </a:prstGeom>
          <a:solidFill>
            <a:srgbClr val="3A4A6B">
              <a:alpha val="45000"/>
            </a:srgbClr>
          </a:solidFill>
          <a:ln/>
        </p:spPr>
      </p:sp>
      <p:sp>
        <p:nvSpPr>
          <p:cNvPr id="12" name="Shape 10"/>
          <p:cNvSpPr/>
          <p:nvPr/>
        </p:nvSpPr>
        <p:spPr>
          <a:xfrm>
            <a:off x="5421333" y="2666647"/>
            <a:ext cx="36039" cy="36039"/>
          </a:xfrm>
          <a:prstGeom prst="ellipse">
            <a:avLst/>
          </a:prstGeom>
          <a:solidFill>
            <a:srgbClr val="C8A84B">
              <a:alpha val="45000"/>
            </a:srgbClr>
          </a:solidFill>
          <a:ln/>
        </p:spPr>
      </p:sp>
      <p:sp>
        <p:nvSpPr>
          <p:cNvPr id="13" name="Shape 11"/>
          <p:cNvSpPr/>
          <p:nvPr/>
        </p:nvSpPr>
        <p:spPr>
          <a:xfrm>
            <a:off x="4734641" y="1468026"/>
            <a:ext cx="36609" cy="36609"/>
          </a:xfrm>
          <a:prstGeom prst="ellipse">
            <a:avLst/>
          </a:prstGeom>
          <a:solidFill>
            <a:srgbClr val="3A4A6B">
              <a:alpha val="45000"/>
            </a:srgbClr>
          </a:solidFill>
          <a:ln/>
        </p:spPr>
      </p:sp>
      <p:sp>
        <p:nvSpPr>
          <p:cNvPr id="14" name="Shape 12"/>
          <p:cNvSpPr/>
          <p:nvPr/>
        </p:nvSpPr>
        <p:spPr>
          <a:xfrm>
            <a:off x="995057" y="1511182"/>
            <a:ext cx="49973" cy="49973"/>
          </a:xfrm>
          <a:prstGeom prst="ellipse">
            <a:avLst/>
          </a:prstGeom>
          <a:solidFill>
            <a:srgbClr val="C8A84B">
              <a:alpha val="45000"/>
            </a:srgbClr>
          </a:solidFill>
          <a:ln/>
        </p:spPr>
      </p:sp>
      <p:sp>
        <p:nvSpPr>
          <p:cNvPr id="15" name="Shape 13"/>
          <p:cNvSpPr/>
          <p:nvPr/>
        </p:nvSpPr>
        <p:spPr>
          <a:xfrm>
            <a:off x="11168652" y="6013450"/>
            <a:ext cx="55247" cy="55247"/>
          </a:xfrm>
          <a:prstGeom prst="ellipse">
            <a:avLst/>
          </a:prstGeom>
          <a:solidFill>
            <a:srgbClr val="C8A84B">
              <a:alpha val="45000"/>
            </a:srgbClr>
          </a:solidFill>
          <a:ln/>
        </p:spPr>
      </p:sp>
      <p:sp>
        <p:nvSpPr>
          <p:cNvPr id="16" name="Shape 14"/>
          <p:cNvSpPr/>
          <p:nvPr/>
        </p:nvSpPr>
        <p:spPr>
          <a:xfrm>
            <a:off x="7178831" y="3460162"/>
            <a:ext cx="50172" cy="50172"/>
          </a:xfrm>
          <a:prstGeom prst="ellipse">
            <a:avLst/>
          </a:prstGeom>
          <a:solidFill>
            <a:srgbClr val="C8A84B">
              <a:alpha val="45000"/>
            </a:srgbClr>
          </a:solidFill>
          <a:ln/>
        </p:spPr>
      </p:sp>
      <p:sp>
        <p:nvSpPr>
          <p:cNvPr id="17" name="Shape 15"/>
          <p:cNvSpPr/>
          <p:nvPr/>
        </p:nvSpPr>
        <p:spPr>
          <a:xfrm>
            <a:off x="3739532" y="1132652"/>
            <a:ext cx="30799" cy="30799"/>
          </a:xfrm>
          <a:prstGeom prst="ellipse">
            <a:avLst/>
          </a:prstGeom>
          <a:solidFill>
            <a:srgbClr val="3A4A6B">
              <a:alpha val="45000"/>
            </a:srgbClr>
          </a:solidFill>
          <a:ln/>
        </p:spPr>
      </p:sp>
      <p:sp>
        <p:nvSpPr>
          <p:cNvPr id="18" name="Shape 16"/>
          <p:cNvSpPr/>
          <p:nvPr/>
        </p:nvSpPr>
        <p:spPr>
          <a:xfrm>
            <a:off x="8357865" y="1486253"/>
            <a:ext cx="47361" cy="47361"/>
          </a:xfrm>
          <a:prstGeom prst="ellipse">
            <a:avLst/>
          </a:prstGeom>
          <a:solidFill>
            <a:srgbClr val="C8A84B">
              <a:alpha val="45000"/>
            </a:srgbClr>
          </a:solidFill>
          <a:ln/>
        </p:spPr>
      </p:sp>
      <p:sp>
        <p:nvSpPr>
          <p:cNvPr id="19" name="Shape 17"/>
          <p:cNvSpPr/>
          <p:nvPr/>
        </p:nvSpPr>
        <p:spPr>
          <a:xfrm>
            <a:off x="3767475" y="3674298"/>
            <a:ext cx="62042" cy="62042"/>
          </a:xfrm>
          <a:prstGeom prst="ellipse">
            <a:avLst/>
          </a:prstGeom>
          <a:solidFill>
            <a:srgbClr val="3A4A6B">
              <a:alpha val="45000"/>
            </a:srgbClr>
          </a:solidFill>
          <a:ln/>
        </p:spPr>
      </p:sp>
      <p:sp>
        <p:nvSpPr>
          <p:cNvPr id="20" name="Shape 18"/>
          <p:cNvSpPr/>
          <p:nvPr/>
        </p:nvSpPr>
        <p:spPr>
          <a:xfrm>
            <a:off x="11438700" y="2786121"/>
            <a:ext cx="20091" cy="20091"/>
          </a:xfrm>
          <a:prstGeom prst="ellipse">
            <a:avLst/>
          </a:prstGeom>
          <a:solidFill>
            <a:srgbClr val="C8A84B">
              <a:alpha val="45000"/>
            </a:srgbClr>
          </a:solidFill>
          <a:ln/>
        </p:spPr>
      </p:sp>
      <p:sp>
        <p:nvSpPr>
          <p:cNvPr id="21" name="Shape 19"/>
          <p:cNvSpPr/>
          <p:nvPr/>
        </p:nvSpPr>
        <p:spPr>
          <a:xfrm>
            <a:off x="5096651" y="515056"/>
            <a:ext cx="42862" cy="42862"/>
          </a:xfrm>
          <a:prstGeom prst="ellipse">
            <a:avLst/>
          </a:prstGeom>
          <a:solidFill>
            <a:srgbClr val="C8A84B">
              <a:alpha val="45000"/>
            </a:srgbClr>
          </a:solidFill>
          <a:ln/>
        </p:spPr>
      </p:sp>
      <p:sp>
        <p:nvSpPr>
          <p:cNvPr id="22" name="Shape 20"/>
          <p:cNvSpPr/>
          <p:nvPr/>
        </p:nvSpPr>
        <p:spPr>
          <a:xfrm>
            <a:off x="2608252" y="6682434"/>
            <a:ext cx="56979" cy="56979"/>
          </a:xfrm>
          <a:prstGeom prst="ellipse">
            <a:avLst/>
          </a:prstGeom>
          <a:solidFill>
            <a:srgbClr val="3A4A6B">
              <a:alpha val="45000"/>
            </a:srgbClr>
          </a:solidFill>
          <a:ln/>
        </p:spPr>
      </p:sp>
      <p:sp>
        <p:nvSpPr>
          <p:cNvPr id="23" name="Shape 21"/>
          <p:cNvSpPr/>
          <p:nvPr/>
        </p:nvSpPr>
        <p:spPr>
          <a:xfrm>
            <a:off x="7877201" y="4185591"/>
            <a:ext cx="48329" cy="48329"/>
          </a:xfrm>
          <a:prstGeom prst="ellipse">
            <a:avLst/>
          </a:prstGeom>
          <a:solidFill>
            <a:srgbClr val="C8A84B">
              <a:alpha val="45000"/>
            </a:srgbClr>
          </a:solidFill>
          <a:ln/>
        </p:spPr>
      </p:sp>
      <p:sp>
        <p:nvSpPr>
          <p:cNvPr id="24" name="Shape 22"/>
          <p:cNvSpPr/>
          <p:nvPr/>
        </p:nvSpPr>
        <p:spPr>
          <a:xfrm>
            <a:off x="9492690" y="813858"/>
            <a:ext cx="26510" cy="26510"/>
          </a:xfrm>
          <a:prstGeom prst="ellipse">
            <a:avLst/>
          </a:prstGeom>
          <a:solidFill>
            <a:srgbClr val="C8A84B">
              <a:alpha val="45000"/>
            </a:srgbClr>
          </a:solidFill>
          <a:ln/>
        </p:spPr>
      </p:sp>
      <p:sp>
        <p:nvSpPr>
          <p:cNvPr id="25" name="Shape 23"/>
          <p:cNvSpPr/>
          <p:nvPr/>
        </p:nvSpPr>
        <p:spPr>
          <a:xfrm>
            <a:off x="11808842" y="3340570"/>
            <a:ext cx="19742" cy="19742"/>
          </a:xfrm>
          <a:prstGeom prst="ellipse">
            <a:avLst/>
          </a:prstGeom>
          <a:solidFill>
            <a:srgbClr val="C8A84B">
              <a:alpha val="45000"/>
            </a:srgbClr>
          </a:solidFill>
          <a:ln/>
        </p:spPr>
      </p:sp>
      <p:sp>
        <p:nvSpPr>
          <p:cNvPr id="26" name="Shape 24"/>
          <p:cNvSpPr/>
          <p:nvPr/>
        </p:nvSpPr>
        <p:spPr>
          <a:xfrm>
            <a:off x="1162716" y="3045060"/>
            <a:ext cx="54555" cy="54555"/>
          </a:xfrm>
          <a:prstGeom prst="ellipse">
            <a:avLst/>
          </a:prstGeom>
          <a:solidFill>
            <a:srgbClr val="3A4A6B">
              <a:alpha val="45000"/>
            </a:srgbClr>
          </a:solidFill>
          <a:ln/>
        </p:spPr>
      </p:sp>
      <p:sp>
        <p:nvSpPr>
          <p:cNvPr id="27" name="Shape 25"/>
          <p:cNvSpPr/>
          <p:nvPr/>
        </p:nvSpPr>
        <p:spPr>
          <a:xfrm>
            <a:off x="5330622" y="96661"/>
            <a:ext cx="28784" cy="28784"/>
          </a:xfrm>
          <a:prstGeom prst="ellipse">
            <a:avLst/>
          </a:prstGeom>
          <a:solidFill>
            <a:srgbClr val="3A4A6B">
              <a:alpha val="45000"/>
            </a:srgbClr>
          </a:solidFill>
          <a:ln/>
        </p:spPr>
      </p:sp>
      <p:sp>
        <p:nvSpPr>
          <p:cNvPr id="28" name="Shape 26"/>
          <p:cNvSpPr/>
          <p:nvPr/>
        </p:nvSpPr>
        <p:spPr>
          <a:xfrm>
            <a:off x="2992366" y="5078706"/>
            <a:ext cx="26532" cy="26532"/>
          </a:xfrm>
          <a:prstGeom prst="ellipse">
            <a:avLst/>
          </a:prstGeom>
          <a:solidFill>
            <a:srgbClr val="3A4A6B">
              <a:alpha val="45000"/>
            </a:srgbClr>
          </a:solidFill>
          <a:ln/>
        </p:spPr>
      </p:sp>
      <p:sp>
        <p:nvSpPr>
          <p:cNvPr id="29" name="Shape 27"/>
          <p:cNvSpPr/>
          <p:nvPr/>
        </p:nvSpPr>
        <p:spPr>
          <a:xfrm>
            <a:off x="11564444" y="3936530"/>
            <a:ext cx="23527" cy="23527"/>
          </a:xfrm>
          <a:prstGeom prst="ellipse">
            <a:avLst/>
          </a:prstGeom>
          <a:solidFill>
            <a:srgbClr val="3A4A6B">
              <a:alpha val="45000"/>
            </a:srgbClr>
          </a:solidFill>
          <a:ln/>
        </p:spPr>
      </p:sp>
      <p:sp>
        <p:nvSpPr>
          <p:cNvPr id="30" name="Shape 28"/>
          <p:cNvSpPr/>
          <p:nvPr/>
        </p:nvSpPr>
        <p:spPr>
          <a:xfrm>
            <a:off x="718128" y="2935464"/>
            <a:ext cx="34445" cy="34445"/>
          </a:xfrm>
          <a:prstGeom prst="ellipse">
            <a:avLst/>
          </a:prstGeom>
          <a:solidFill>
            <a:srgbClr val="3A4A6B">
              <a:alpha val="45000"/>
            </a:srgbClr>
          </a:solidFill>
          <a:ln/>
        </p:spPr>
      </p:sp>
      <p:sp>
        <p:nvSpPr>
          <p:cNvPr id="31" name="Shape 29"/>
          <p:cNvSpPr/>
          <p:nvPr/>
        </p:nvSpPr>
        <p:spPr>
          <a:xfrm>
            <a:off x="8589543" y="2752843"/>
            <a:ext cx="62108" cy="62108"/>
          </a:xfrm>
          <a:prstGeom prst="ellipse">
            <a:avLst/>
          </a:prstGeom>
          <a:solidFill>
            <a:srgbClr val="C8A84B">
              <a:alpha val="45000"/>
            </a:srgbClr>
          </a:solidFill>
          <a:ln/>
        </p:spPr>
      </p:sp>
      <p:sp>
        <p:nvSpPr>
          <p:cNvPr id="32" name="Shape 30"/>
          <p:cNvSpPr/>
          <p:nvPr/>
        </p:nvSpPr>
        <p:spPr>
          <a:xfrm>
            <a:off x="10705505" y="4573999"/>
            <a:ext cx="31445" cy="31445"/>
          </a:xfrm>
          <a:prstGeom prst="ellipse">
            <a:avLst/>
          </a:prstGeom>
          <a:solidFill>
            <a:srgbClr val="3A4A6B">
              <a:alpha val="45000"/>
            </a:srgbClr>
          </a:solidFill>
          <a:ln/>
        </p:spPr>
      </p:sp>
      <p:sp>
        <p:nvSpPr>
          <p:cNvPr id="33" name="Shape 31"/>
          <p:cNvSpPr/>
          <p:nvPr/>
        </p:nvSpPr>
        <p:spPr>
          <a:xfrm>
            <a:off x="3762887" y="186267"/>
            <a:ext cx="28252" cy="28252"/>
          </a:xfrm>
          <a:prstGeom prst="ellipse">
            <a:avLst/>
          </a:prstGeom>
          <a:solidFill>
            <a:srgbClr val="C8A84B">
              <a:alpha val="45000"/>
            </a:srgbClr>
          </a:solidFill>
          <a:ln/>
        </p:spPr>
      </p:sp>
      <p:sp>
        <p:nvSpPr>
          <p:cNvPr id="34" name="Shape 32"/>
          <p:cNvSpPr/>
          <p:nvPr/>
        </p:nvSpPr>
        <p:spPr>
          <a:xfrm>
            <a:off x="223493" y="934979"/>
            <a:ext cx="19791" cy="19791"/>
          </a:xfrm>
          <a:prstGeom prst="ellipse">
            <a:avLst/>
          </a:prstGeom>
          <a:solidFill>
            <a:srgbClr val="3A4A6B">
              <a:alpha val="45000"/>
            </a:srgbClr>
          </a:solidFill>
          <a:ln/>
        </p:spPr>
      </p:sp>
      <p:sp>
        <p:nvSpPr>
          <p:cNvPr id="35" name="Shape 33"/>
          <p:cNvSpPr/>
          <p:nvPr/>
        </p:nvSpPr>
        <p:spPr>
          <a:xfrm>
            <a:off x="6693580" y="2671469"/>
            <a:ext cx="63071" cy="63071"/>
          </a:xfrm>
          <a:prstGeom prst="ellipse">
            <a:avLst/>
          </a:prstGeom>
          <a:solidFill>
            <a:srgbClr val="3A4A6B">
              <a:alpha val="45000"/>
            </a:srgbClr>
          </a:solidFill>
          <a:ln/>
        </p:spPr>
      </p:sp>
      <p:sp>
        <p:nvSpPr>
          <p:cNvPr id="36" name="Shape 34"/>
          <p:cNvSpPr/>
          <p:nvPr/>
        </p:nvSpPr>
        <p:spPr>
          <a:xfrm>
            <a:off x="10411060" y="3279069"/>
            <a:ext cx="40687" cy="40687"/>
          </a:xfrm>
          <a:prstGeom prst="ellipse">
            <a:avLst/>
          </a:prstGeom>
          <a:solidFill>
            <a:srgbClr val="3A4A6B">
              <a:alpha val="45000"/>
            </a:srgbClr>
          </a:solidFill>
          <a:ln/>
        </p:spPr>
      </p:sp>
      <p:sp>
        <p:nvSpPr>
          <p:cNvPr id="37" name="Shape 35"/>
          <p:cNvSpPr/>
          <p:nvPr/>
        </p:nvSpPr>
        <p:spPr>
          <a:xfrm>
            <a:off x="10324937" y="4197115"/>
            <a:ext cx="21501" cy="21501"/>
          </a:xfrm>
          <a:prstGeom prst="ellipse">
            <a:avLst/>
          </a:prstGeom>
          <a:solidFill>
            <a:srgbClr val="3A4A6B">
              <a:alpha val="45000"/>
            </a:srgbClr>
          </a:solidFill>
          <a:ln/>
        </p:spPr>
      </p:sp>
      <p:sp>
        <p:nvSpPr>
          <p:cNvPr id="38" name="Shape 36"/>
          <p:cNvSpPr/>
          <p:nvPr/>
        </p:nvSpPr>
        <p:spPr>
          <a:xfrm>
            <a:off x="7636348" y="2800938"/>
            <a:ext cx="57443" cy="57443"/>
          </a:xfrm>
          <a:prstGeom prst="ellipse">
            <a:avLst/>
          </a:prstGeom>
          <a:solidFill>
            <a:srgbClr val="C8A84B">
              <a:alpha val="45000"/>
            </a:srgbClr>
          </a:solidFill>
          <a:ln/>
        </p:spPr>
      </p:sp>
      <p:sp>
        <p:nvSpPr>
          <p:cNvPr id="39" name="Shape 37"/>
          <p:cNvSpPr/>
          <p:nvPr/>
        </p:nvSpPr>
        <p:spPr>
          <a:xfrm>
            <a:off x="4447286" y="3069872"/>
            <a:ext cx="56508" cy="56508"/>
          </a:xfrm>
          <a:prstGeom prst="ellipse">
            <a:avLst/>
          </a:prstGeom>
          <a:solidFill>
            <a:srgbClr val="C8A84B">
              <a:alpha val="45000"/>
            </a:srgbClr>
          </a:solidFill>
          <a:ln/>
        </p:spPr>
      </p:sp>
      <p:sp>
        <p:nvSpPr>
          <p:cNvPr id="40" name="Shape 38"/>
          <p:cNvSpPr/>
          <p:nvPr/>
        </p:nvSpPr>
        <p:spPr>
          <a:xfrm>
            <a:off x="10516993" y="3395251"/>
            <a:ext cx="51997" cy="51997"/>
          </a:xfrm>
          <a:prstGeom prst="ellipse">
            <a:avLst/>
          </a:prstGeom>
          <a:solidFill>
            <a:srgbClr val="C8A84B">
              <a:alpha val="45000"/>
            </a:srgbClr>
          </a:solidFill>
          <a:ln/>
        </p:spPr>
      </p:sp>
      <p:sp>
        <p:nvSpPr>
          <p:cNvPr id="41" name="Shape 39"/>
          <p:cNvSpPr/>
          <p:nvPr/>
        </p:nvSpPr>
        <p:spPr>
          <a:xfrm>
            <a:off x="9479969" y="2676407"/>
            <a:ext cx="45041" cy="45041"/>
          </a:xfrm>
          <a:prstGeom prst="ellipse">
            <a:avLst/>
          </a:prstGeom>
          <a:solidFill>
            <a:srgbClr val="3A4A6B">
              <a:alpha val="45000"/>
            </a:srgbClr>
          </a:solidFill>
          <a:ln/>
        </p:spPr>
      </p:sp>
      <p:sp>
        <p:nvSpPr>
          <p:cNvPr id="42" name="Shape 40"/>
          <p:cNvSpPr/>
          <p:nvPr/>
        </p:nvSpPr>
        <p:spPr>
          <a:xfrm>
            <a:off x="6140765" y="4130675"/>
            <a:ext cx="60475" cy="60475"/>
          </a:xfrm>
          <a:prstGeom prst="ellipse">
            <a:avLst/>
          </a:prstGeom>
          <a:solidFill>
            <a:srgbClr val="3A4A6B">
              <a:alpha val="45000"/>
            </a:srgbClr>
          </a:solidFill>
          <a:ln/>
        </p:spPr>
      </p:sp>
      <p:sp>
        <p:nvSpPr>
          <p:cNvPr id="43" name="Shape 41"/>
          <p:cNvSpPr/>
          <p:nvPr/>
        </p:nvSpPr>
        <p:spPr>
          <a:xfrm>
            <a:off x="8907344" y="3101387"/>
            <a:ext cx="50321" cy="50321"/>
          </a:xfrm>
          <a:prstGeom prst="ellipse">
            <a:avLst/>
          </a:prstGeom>
          <a:solidFill>
            <a:srgbClr val="3A4A6B">
              <a:alpha val="45000"/>
            </a:srgbClr>
          </a:solidFill>
          <a:ln/>
        </p:spPr>
      </p:sp>
      <p:sp>
        <p:nvSpPr>
          <p:cNvPr id="44" name="Shape 42"/>
          <p:cNvSpPr/>
          <p:nvPr/>
        </p:nvSpPr>
        <p:spPr>
          <a:xfrm>
            <a:off x="8170604" y="11877"/>
            <a:ext cx="56347" cy="56347"/>
          </a:xfrm>
          <a:prstGeom prst="ellipse">
            <a:avLst/>
          </a:prstGeom>
          <a:solidFill>
            <a:srgbClr val="3A4A6B">
              <a:alpha val="45000"/>
            </a:srgbClr>
          </a:solidFill>
          <a:ln/>
        </p:spPr>
      </p:sp>
      <p:sp>
        <p:nvSpPr>
          <p:cNvPr id="45" name="Shape 43"/>
          <p:cNvSpPr/>
          <p:nvPr/>
        </p:nvSpPr>
        <p:spPr>
          <a:xfrm>
            <a:off x="11437657" y="4175478"/>
            <a:ext cx="37349" cy="37349"/>
          </a:xfrm>
          <a:prstGeom prst="ellipse">
            <a:avLst/>
          </a:prstGeom>
          <a:solidFill>
            <a:srgbClr val="3A4A6B">
              <a:alpha val="45000"/>
            </a:srgbClr>
          </a:solidFill>
          <a:ln/>
        </p:spPr>
      </p:sp>
      <p:sp>
        <p:nvSpPr>
          <p:cNvPr id="46" name="Shape 44"/>
          <p:cNvSpPr/>
          <p:nvPr/>
        </p:nvSpPr>
        <p:spPr>
          <a:xfrm>
            <a:off x="1442147" y="1029523"/>
            <a:ext cx="46950" cy="46950"/>
          </a:xfrm>
          <a:prstGeom prst="ellipse">
            <a:avLst/>
          </a:prstGeom>
          <a:solidFill>
            <a:srgbClr val="3A4A6B">
              <a:alpha val="45000"/>
            </a:srgbClr>
          </a:solidFill>
          <a:ln/>
        </p:spPr>
      </p:sp>
      <p:sp>
        <p:nvSpPr>
          <p:cNvPr id="47" name="Shape 45"/>
          <p:cNvSpPr/>
          <p:nvPr/>
        </p:nvSpPr>
        <p:spPr>
          <a:xfrm>
            <a:off x="11815932" y="6237346"/>
            <a:ext cx="30399" cy="30399"/>
          </a:xfrm>
          <a:prstGeom prst="ellipse">
            <a:avLst/>
          </a:prstGeom>
          <a:solidFill>
            <a:srgbClr val="3A4A6B">
              <a:alpha val="45000"/>
            </a:srgbClr>
          </a:solidFill>
          <a:ln/>
        </p:spPr>
      </p:sp>
      <p:sp>
        <p:nvSpPr>
          <p:cNvPr id="48" name="Shape 46"/>
          <p:cNvSpPr/>
          <p:nvPr/>
        </p:nvSpPr>
        <p:spPr>
          <a:xfrm>
            <a:off x="4122603" y="918281"/>
            <a:ext cx="63330" cy="63330"/>
          </a:xfrm>
          <a:prstGeom prst="ellipse">
            <a:avLst/>
          </a:prstGeom>
          <a:solidFill>
            <a:srgbClr val="C8A84B">
              <a:alpha val="45000"/>
            </a:srgbClr>
          </a:solidFill>
          <a:ln/>
        </p:spPr>
      </p:sp>
      <p:sp>
        <p:nvSpPr>
          <p:cNvPr id="49" name="Shape 47"/>
          <p:cNvSpPr/>
          <p:nvPr/>
        </p:nvSpPr>
        <p:spPr>
          <a:xfrm>
            <a:off x="8390604" y="1751659"/>
            <a:ext cx="26647" cy="26647"/>
          </a:xfrm>
          <a:prstGeom prst="ellipse">
            <a:avLst/>
          </a:prstGeom>
          <a:solidFill>
            <a:srgbClr val="C8A84B">
              <a:alpha val="45000"/>
            </a:srgbClr>
          </a:solidFill>
          <a:ln/>
        </p:spPr>
      </p:sp>
      <p:sp>
        <p:nvSpPr>
          <p:cNvPr id="50" name="Shape 48"/>
          <p:cNvSpPr/>
          <p:nvPr/>
        </p:nvSpPr>
        <p:spPr>
          <a:xfrm>
            <a:off x="4200594" y="5350816"/>
            <a:ext cx="43398" cy="43398"/>
          </a:xfrm>
          <a:prstGeom prst="ellipse">
            <a:avLst/>
          </a:prstGeom>
          <a:solidFill>
            <a:srgbClr val="3A4A6B">
              <a:alpha val="45000"/>
            </a:srgbClr>
          </a:solidFill>
          <a:ln/>
        </p:spPr>
      </p:sp>
      <p:sp>
        <p:nvSpPr>
          <p:cNvPr id="51" name="Shape 49"/>
          <p:cNvSpPr/>
          <p:nvPr/>
        </p:nvSpPr>
        <p:spPr>
          <a:xfrm>
            <a:off x="4464802" y="5789083"/>
            <a:ext cx="31738" cy="31738"/>
          </a:xfrm>
          <a:prstGeom prst="ellipse">
            <a:avLst/>
          </a:prstGeom>
          <a:solidFill>
            <a:srgbClr val="3A4A6B">
              <a:alpha val="45000"/>
            </a:srgbClr>
          </a:solidFill>
          <a:ln/>
        </p:spPr>
      </p:sp>
      <p:sp>
        <p:nvSpPr>
          <p:cNvPr id="52" name="Shape 50"/>
          <p:cNvSpPr/>
          <p:nvPr/>
        </p:nvSpPr>
        <p:spPr>
          <a:xfrm>
            <a:off x="1375835" y="2981795"/>
            <a:ext cx="19890" cy="19890"/>
          </a:xfrm>
          <a:prstGeom prst="ellipse">
            <a:avLst/>
          </a:prstGeom>
          <a:solidFill>
            <a:srgbClr val="3A4A6B">
              <a:alpha val="45000"/>
            </a:srgbClr>
          </a:solidFill>
          <a:ln/>
        </p:spPr>
      </p:sp>
      <p:sp>
        <p:nvSpPr>
          <p:cNvPr id="53" name="Shape 51"/>
          <p:cNvSpPr/>
          <p:nvPr/>
        </p:nvSpPr>
        <p:spPr>
          <a:xfrm>
            <a:off x="5593788" y="1924285"/>
            <a:ext cx="34383" cy="34383"/>
          </a:xfrm>
          <a:prstGeom prst="ellipse">
            <a:avLst/>
          </a:prstGeom>
          <a:solidFill>
            <a:srgbClr val="C8A84B">
              <a:alpha val="45000"/>
            </a:srgbClr>
          </a:solidFill>
          <a:ln/>
        </p:spPr>
      </p:sp>
      <p:sp>
        <p:nvSpPr>
          <p:cNvPr id="54" name="Shape 52"/>
          <p:cNvSpPr/>
          <p:nvPr/>
        </p:nvSpPr>
        <p:spPr>
          <a:xfrm>
            <a:off x="8410415" y="2785886"/>
            <a:ext cx="18772" cy="18772"/>
          </a:xfrm>
          <a:prstGeom prst="ellipse">
            <a:avLst/>
          </a:prstGeom>
          <a:solidFill>
            <a:srgbClr val="3A4A6B">
              <a:alpha val="45000"/>
            </a:srgbClr>
          </a:solidFill>
          <a:ln/>
        </p:spPr>
      </p:sp>
      <p:sp>
        <p:nvSpPr>
          <p:cNvPr id="55" name="Shape 53"/>
          <p:cNvSpPr/>
          <p:nvPr/>
        </p:nvSpPr>
        <p:spPr>
          <a:xfrm>
            <a:off x="667038" y="2433931"/>
            <a:ext cx="57160" cy="57160"/>
          </a:xfrm>
          <a:prstGeom prst="ellipse">
            <a:avLst/>
          </a:prstGeom>
          <a:solidFill>
            <a:srgbClr val="3A4A6B">
              <a:alpha val="45000"/>
            </a:srgbClr>
          </a:solidFill>
          <a:ln/>
        </p:spPr>
      </p:sp>
      <p:sp>
        <p:nvSpPr>
          <p:cNvPr id="56" name="Shape 54"/>
          <p:cNvSpPr/>
          <p:nvPr/>
        </p:nvSpPr>
        <p:spPr>
          <a:xfrm>
            <a:off x="11941676" y="529755"/>
            <a:ext cx="33835" cy="33835"/>
          </a:xfrm>
          <a:prstGeom prst="ellipse">
            <a:avLst/>
          </a:prstGeom>
          <a:solidFill>
            <a:srgbClr val="C8A84B">
              <a:alpha val="45000"/>
            </a:srgbClr>
          </a:solidFill>
          <a:ln/>
        </p:spPr>
      </p:sp>
      <p:sp>
        <p:nvSpPr>
          <p:cNvPr id="57" name="Shape 55"/>
          <p:cNvSpPr/>
          <p:nvPr/>
        </p:nvSpPr>
        <p:spPr>
          <a:xfrm>
            <a:off x="-1463040" y="3291840"/>
            <a:ext cx="4937760" cy="4937760"/>
          </a:xfrm>
          <a:prstGeom prst="ellipse">
            <a:avLst/>
          </a:prstGeom>
          <a:solidFill>
            <a:srgbClr val="161F38">
              <a:alpha val="65000"/>
            </a:srgbClr>
          </a:solidFill>
          <a:ln/>
        </p:spPr>
      </p:sp>
      <p:sp>
        <p:nvSpPr>
          <p:cNvPr id="58" name="Shape 56"/>
          <p:cNvSpPr/>
          <p:nvPr/>
        </p:nvSpPr>
        <p:spPr>
          <a:xfrm>
            <a:off x="-822960" y="3931920"/>
            <a:ext cx="3566160" cy="3566160"/>
          </a:xfrm>
          <a:prstGeom prst="ellipse">
            <a:avLst/>
          </a:prstGeom>
          <a:ln w="15875">
            <a:solidFill>
              <a:srgbClr val="C8A84B">
                <a:alpha val="65000"/>
              </a:srgbClr>
            </a:solidFill>
            <a:prstDash val="solid"/>
          </a:ln>
        </p:spPr>
      </p:sp>
      <p:sp>
        <p:nvSpPr>
          <p:cNvPr id="59" name="Shape 57"/>
          <p:cNvSpPr/>
          <p:nvPr/>
        </p:nvSpPr>
        <p:spPr>
          <a:xfrm>
            <a:off x="566928" y="566928"/>
            <a:ext cx="146304" cy="146304"/>
          </a:xfrm>
          <a:prstGeom prst="ellipse">
            <a:avLst/>
          </a:prstGeom>
          <a:solidFill>
            <a:srgbClr val="C8A84B"/>
          </a:solidFill>
          <a:ln/>
        </p:spPr>
      </p:sp>
      <p:sp>
        <p:nvSpPr>
          <p:cNvPr id="60" name="Shape 58"/>
          <p:cNvSpPr/>
          <p:nvPr/>
        </p:nvSpPr>
        <p:spPr>
          <a:xfrm>
            <a:off x="475488" y="475488"/>
            <a:ext cx="329184" cy="329184"/>
          </a:xfrm>
          <a:prstGeom prst="ellipse">
            <a:avLst/>
          </a:prstGeom>
          <a:ln w="12700">
            <a:solidFill>
              <a:srgbClr val="C8A84B">
                <a:alpha val="60000"/>
              </a:srgbClr>
            </a:solidFill>
            <a:prstDash val="solid"/>
          </a:ln>
        </p:spPr>
      </p:sp>
      <p:sp>
        <p:nvSpPr>
          <p:cNvPr id="61" name="Text 59"/>
          <p:cNvSpPr/>
          <p:nvPr/>
        </p:nvSpPr>
        <p:spPr>
          <a:xfrm>
            <a:off x="914400" y="502920"/>
            <a:ext cx="10058400" cy="320040"/>
          </a:xfrm>
          <a:prstGeom prst="rect">
            <a:avLst/>
          </a:prstGeom>
          <a:noFill/>
          <a:ln/>
        </p:spPr>
        <p:txBody>
          <a:bodyPr wrap="square" lIns="0" tIns="0" rIns="0" bIns="0" rtlCol="0" anchor="ctr"/>
          <a:lstStyle/>
          <a:p>
            <a:pPr algn="l" indent="0" marL="0">
              <a:buNone/>
            </a:pPr>
            <a:r>
              <a:rPr lang="en-US" sz="1300" b="1" spc="300" kern="0" dirty="0">
                <a:solidFill>
                  <a:srgbClr val="C8A84B"/>
                </a:solidFill>
                <a:latin typeface="Arial" pitchFamily="34" charset="0"/>
                <a:ea typeface="Arial" pitchFamily="34" charset="-122"/>
                <a:cs typeface="Arial" pitchFamily="34" charset="-120"/>
              </a:rPr>
              <a:t>ONE LAST THING · THE BONUS</a:t>
            </a:r>
            <a:endParaRPr lang="en-US" sz="1300" dirty="0"/>
          </a:p>
        </p:txBody>
      </p:sp>
      <p:sp>
        <p:nvSpPr>
          <p:cNvPr id="62" name="Text 60"/>
          <p:cNvSpPr/>
          <p:nvPr/>
        </p:nvSpPr>
        <p:spPr>
          <a:xfrm>
            <a:off x="548640" y="932688"/>
            <a:ext cx="11064240" cy="822960"/>
          </a:xfrm>
          <a:prstGeom prst="rect">
            <a:avLst/>
          </a:prstGeom>
          <a:noFill/>
          <a:ln/>
        </p:spPr>
        <p:txBody>
          <a:bodyPr wrap="square" lIns="0" tIns="0" rIns="0" bIns="0" rtlCol="0" anchor="ctr"/>
          <a:lstStyle/>
          <a:p>
            <a:pPr indent="0" marL="0">
              <a:buNone/>
            </a:pPr>
            <a:r>
              <a:rPr lang="en-US" sz="3100" b="1" dirty="0">
                <a:solidFill>
                  <a:srgbClr val="EAECF2"/>
                </a:solidFill>
                <a:latin typeface="Arial" pitchFamily="34" charset="0"/>
                <a:ea typeface="Arial" pitchFamily="34" charset="-122"/>
                <a:cs typeface="Arial" pitchFamily="34" charset="-120"/>
              </a:rPr>
              <a:t>It all runs in the browser. No server.</a:t>
            </a:r>
            <a:endParaRPr lang="en-US" sz="3100" dirty="0"/>
          </a:p>
        </p:txBody>
      </p:sp>
      <p:sp>
        <p:nvSpPr>
          <p:cNvPr id="63" name="Shape 61"/>
          <p:cNvSpPr/>
          <p:nvPr/>
        </p:nvSpPr>
        <p:spPr>
          <a:xfrm>
            <a:off x="6309360" y="2331720"/>
            <a:ext cx="5212080" cy="3200400"/>
          </a:xfrm>
          <a:prstGeom prst="roundRect">
            <a:avLst>
              <a:gd name="adj" fmla="val 2571"/>
            </a:avLst>
          </a:prstGeom>
          <a:solidFill>
            <a:srgbClr val="1E2A47"/>
          </a:solidFill>
          <a:ln/>
          <a:effectLst>
            <a:outerShdw sx="100000" sy="100000" kx="0" ky="0" algn="bl" rotWithShape="0" blurRad="101600" dist="38100" dir="5400000">
              <a:srgbClr val="000000">
                <a:alpha val="35000"/>
              </a:srgbClr>
            </a:outerShdw>
          </a:effectLst>
        </p:spPr>
      </p:sp>
      <p:sp>
        <p:nvSpPr>
          <p:cNvPr id="64" name="Text 62"/>
          <p:cNvSpPr/>
          <p:nvPr/>
        </p:nvSpPr>
        <p:spPr>
          <a:xfrm>
            <a:off x="6583680" y="2542032"/>
            <a:ext cx="4663440" cy="365760"/>
          </a:xfrm>
          <a:prstGeom prst="rect">
            <a:avLst/>
          </a:prstGeom>
          <a:noFill/>
          <a:ln/>
        </p:spPr>
        <p:txBody>
          <a:bodyPr wrap="square" lIns="0" tIns="0" rIns="0" bIns="0" rtlCol="0" anchor="ctr"/>
          <a:lstStyle/>
          <a:p>
            <a:pPr indent="0" marL="0">
              <a:buNone/>
            </a:pPr>
            <a:r>
              <a:rPr lang="en-US" sz="1500" b="1" dirty="0">
                <a:solidFill>
                  <a:srgbClr val="5FBFD6"/>
                </a:solidFill>
                <a:latin typeface="Arial" pitchFamily="34" charset="0"/>
                <a:ea typeface="Arial" pitchFamily="34" charset="-122"/>
                <a:cs typeface="Arial" pitchFamily="34" charset="-120"/>
              </a:rPr>
              <a:t>The trick</a:t>
            </a:r>
            <a:endParaRPr lang="en-US" sz="1500" dirty="0"/>
          </a:p>
        </p:txBody>
      </p:sp>
      <p:sp>
        <p:nvSpPr>
          <p:cNvPr id="65" name="Text 63"/>
          <p:cNvSpPr/>
          <p:nvPr/>
        </p:nvSpPr>
        <p:spPr>
          <a:xfrm>
            <a:off x="6583680" y="2971800"/>
            <a:ext cx="4663440" cy="2377440"/>
          </a:xfrm>
          <a:prstGeom prst="rect">
            <a:avLst/>
          </a:prstGeom>
          <a:noFill/>
          <a:ln/>
        </p:spPr>
        <p:txBody>
          <a:bodyPr wrap="square" lIns="0" tIns="0" rIns="0" bIns="0" rtlCol="0" anchor="ctr"/>
          <a:lstStyle/>
          <a:p>
            <a:pPr indent="0" marL="0">
              <a:lnSpc>
                <a:spcPct val="120000"/>
              </a:lnSpc>
              <a:buNone/>
            </a:pPr>
            <a:r>
              <a:rPr lang="en-US" sz="1400" dirty="0">
                <a:solidFill>
                  <a:srgbClr val="EAECF2"/>
                </a:solidFill>
                <a:latin typeface="Calibri" pitchFamily="34" charset="0"/>
                <a:ea typeface="Calibri" pitchFamily="34" charset="-122"/>
                <a:cs typeface="Calibri" pitchFamily="34" charset="-120"/>
              </a:rPr>
              <a:t>A model is just a pile of numbers plus some math. I baked the numbers my model learned right into the page, and rewrote the math in the browser's language. Nothing gets sent anywhere. Works on your phone, offline even.</a:t>
            </a:r>
            <a:endParaRPr lang="en-US" sz="1400" dirty="0"/>
          </a:p>
        </p:txBody>
      </p:sp>
      <p:sp>
        <p:nvSpPr>
          <p:cNvPr id="66" name="Text 64"/>
          <p:cNvSpPr/>
          <p:nvPr/>
        </p:nvSpPr>
        <p:spPr>
          <a:xfrm>
            <a:off x="640080" y="2514600"/>
            <a:ext cx="5394960" cy="2011680"/>
          </a:xfrm>
          <a:prstGeom prst="rect">
            <a:avLst/>
          </a:prstGeom>
          <a:noFill/>
          <a:ln/>
        </p:spPr>
        <p:txBody>
          <a:bodyPr wrap="square" lIns="0" tIns="0" rIns="0" bIns="0" rtlCol="0" anchor="ctr"/>
          <a:lstStyle/>
          <a:p>
            <a:pPr indent="0" marL="0">
              <a:lnSpc>
                <a:spcPct val="120000"/>
              </a:lnSpc>
              <a:buNone/>
            </a:pPr>
            <a:r>
              <a:rPr lang="en-US" sz="1500" b="1" dirty="0">
                <a:solidFill>
                  <a:srgbClr val="C8A84B"/>
                </a:solidFill>
                <a:latin typeface="Calibri" pitchFamily="34" charset="0"/>
                <a:ea typeface="Calibri" pitchFamily="34" charset="-122"/>
                <a:cs typeface="Calibri" pitchFamily="34" charset="-120"/>
              </a:rPr>
              <a:t>Like shipping the blueprint instead of the whole factory. </a:t>
            </a:r>
            <a:pPr indent="0" marL="0">
              <a:lnSpc>
                <a:spcPct val="120000"/>
              </a:lnSpc>
              <a:buNone/>
            </a:pPr>
            <a:r>
              <a:rPr lang="en-US" sz="1500" dirty="0">
                <a:solidFill>
                  <a:srgbClr val="9AA6C0"/>
                </a:solidFill>
                <a:latin typeface="Calibri" pitchFamily="34" charset="0"/>
                <a:ea typeface="Calibri" pitchFamily="34" charset="-122"/>
                <a:cs typeface="Calibri" pitchFamily="34" charset="-120"/>
              </a:rPr>
              <a:t>The page carries the blueprint. Running a model right on your device has a real name, on-device inference, and the big players do it too.</a:t>
            </a:r>
            <a:endParaRPr lang="en-US" sz="1500" dirty="0"/>
          </a:p>
        </p:txBody>
      </p:sp>
      <p:sp>
        <p:nvSpPr>
          <p:cNvPr id="67" name="Text 65"/>
          <p:cNvSpPr/>
          <p:nvPr/>
        </p:nvSpPr>
        <p:spPr>
          <a:xfrm>
            <a:off x="640080" y="4709160"/>
            <a:ext cx="5394960" cy="1097280"/>
          </a:xfrm>
          <a:prstGeom prst="rect">
            <a:avLst/>
          </a:prstGeom>
          <a:noFill/>
          <a:ln/>
        </p:spPr>
        <p:txBody>
          <a:bodyPr wrap="square" lIns="0" tIns="0" rIns="0" bIns="0" rtlCol="0" anchor="ctr"/>
          <a:lstStyle/>
          <a:p>
            <a:pPr indent="0" marL="0">
              <a:lnSpc>
                <a:spcPct val="115000"/>
              </a:lnSpc>
              <a:buNone/>
            </a:pPr>
            <a:r>
              <a:rPr lang="en-US" sz="1300" b="1" i="1" dirty="0">
                <a:solidFill>
                  <a:srgbClr val="EAECF2"/>
                </a:solidFill>
                <a:latin typeface="Calibri" pitchFamily="34" charset="0"/>
                <a:ea typeface="Calibri" pitchFamily="34" charset="-122"/>
                <a:cs typeface="Calibri" pitchFamily="34" charset="-120"/>
              </a:rPr>
              <a:t>Straight up: </a:t>
            </a:r>
            <a:pPr indent="0" marL="0">
              <a:lnSpc>
                <a:spcPct val="115000"/>
              </a:lnSpc>
              <a:buNone/>
            </a:pPr>
            <a:r>
              <a:rPr lang="en-US" sz="1300" i="1" dirty="0">
                <a:solidFill>
                  <a:srgbClr val="9AA6C0"/>
                </a:solidFill>
                <a:latin typeface="Calibri" pitchFamily="34" charset="0"/>
                <a:ea typeface="Calibri" pitchFamily="34" charset="-122"/>
                <a:cs typeface="Calibri" pitchFamily="34" charset="-120"/>
              </a:rPr>
              <a:t>the machine learning is all mine. The website's code I built with an AI assistant, and I kept it because the trick was too cool not to show.</a:t>
            </a:r>
            <a:endParaRPr lang="en-US" sz="1300" dirty="0"/>
          </a:p>
        </p:txBody>
      </p:sp>
      <p:sp>
        <p:nvSpPr>
          <p:cNvPr id="69" name="Text 66"/>
          <p:cNvSpPr/>
          <p:nvPr/>
        </p:nvSpPr>
        <p:spPr>
          <a:xfrm>
            <a:off x="548640" y="6428232"/>
            <a:ext cx="6400800" cy="274320"/>
          </a:xfrm>
          <a:prstGeom prst="rect">
            <a:avLst/>
          </a:prstGeom>
          <a:noFill/>
          <a:ln/>
        </p:spPr>
        <p:txBody>
          <a:bodyPr wrap="square" lIns="0" tIns="0" rIns="0" bIns="0" rtlCol="0" anchor="ctr"/>
          <a:lstStyle/>
          <a:p>
            <a:pPr indent="0" marL="0">
              <a:buNone/>
            </a:pPr>
            <a:r>
              <a:rPr lang="en-US" sz="900" dirty="0">
                <a:solidFill>
                  <a:srgbClr val="9AA6C0"/>
                </a:solidFill>
                <a:latin typeface="Calibri" pitchFamily="34" charset="0"/>
                <a:ea typeface="Calibri" pitchFamily="34" charset="-122"/>
                <a:cs typeface="Calibri" pitchFamily="34" charset="-120"/>
              </a:rPr>
              <a:t>UFO Witness Report Analyzer</a:t>
            </a:r>
            <a:endParaRPr lang="en-US" sz="900" dirty="0"/>
          </a:p>
        </p:txBody>
      </p:sp>
      <p:sp>
        <p:nvSpPr>
          <p:cNvPr id="70" name="Text 67"/>
          <p:cNvSpPr/>
          <p:nvPr/>
        </p:nvSpPr>
        <p:spPr>
          <a:xfrm>
            <a:off x="11430000" y="6428232"/>
            <a:ext cx="365760" cy="274320"/>
          </a:xfrm>
          <a:prstGeom prst="rect">
            <a:avLst/>
          </a:prstGeom>
          <a:noFill/>
          <a:ln/>
        </p:spPr>
        <p:txBody>
          <a:bodyPr wrap="square" lIns="0" tIns="0" rIns="0" bIns="0" rtlCol="0" anchor="ctr"/>
          <a:lstStyle/>
          <a:p>
            <a:pPr algn="r" indent="0" marL="0">
              <a:buNone/>
            </a:pPr>
            <a:r>
              <a:rPr lang="en-US" sz="900" dirty="0">
                <a:solidFill>
                  <a:srgbClr val="9AA6C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p:bgPr>
    </p:bg>
    <p:spTree>
      <p:nvGrpSpPr>
        <p:cNvPr id="1" name=""/>
        <p:cNvGrpSpPr/>
        <p:nvPr/>
      </p:nvGrpSpPr>
      <p:grpSpPr>
        <a:xfrm>
          <a:off x="0" y="0"/>
          <a:ext cx="0" cy="0"/>
          <a:chOff x="0" y="0"/>
          <a:chExt cx="0" cy="0"/>
        </a:xfrm>
      </p:grpSpPr>
      <p:sp>
        <p:nvSpPr>
          <p:cNvPr id="2" name="Shape 0"/>
          <p:cNvSpPr/>
          <p:nvPr/>
        </p:nvSpPr>
        <p:spPr>
          <a:xfrm>
            <a:off x="3204859" y="1734256"/>
            <a:ext cx="20510" cy="20510"/>
          </a:xfrm>
          <a:prstGeom prst="ellipse">
            <a:avLst/>
          </a:prstGeom>
          <a:solidFill>
            <a:srgbClr val="3A4A6B">
              <a:alpha val="45000"/>
            </a:srgbClr>
          </a:solidFill>
          <a:ln/>
        </p:spPr>
      </p:sp>
      <p:sp>
        <p:nvSpPr>
          <p:cNvPr id="3" name="Shape 1"/>
          <p:cNvSpPr/>
          <p:nvPr/>
        </p:nvSpPr>
        <p:spPr>
          <a:xfrm>
            <a:off x="4770300" y="3329634"/>
            <a:ext cx="49867" cy="49867"/>
          </a:xfrm>
          <a:prstGeom prst="ellipse">
            <a:avLst/>
          </a:prstGeom>
          <a:solidFill>
            <a:srgbClr val="C8A84B">
              <a:alpha val="45000"/>
            </a:srgbClr>
          </a:solidFill>
          <a:ln/>
        </p:spPr>
      </p:sp>
      <p:sp>
        <p:nvSpPr>
          <p:cNvPr id="4" name="Shape 2"/>
          <p:cNvSpPr/>
          <p:nvPr/>
        </p:nvSpPr>
        <p:spPr>
          <a:xfrm>
            <a:off x="1931569" y="3118791"/>
            <a:ext cx="56457" cy="56457"/>
          </a:xfrm>
          <a:prstGeom prst="ellipse">
            <a:avLst/>
          </a:prstGeom>
          <a:solidFill>
            <a:srgbClr val="C8A84B">
              <a:alpha val="45000"/>
            </a:srgbClr>
          </a:solidFill>
          <a:ln/>
        </p:spPr>
      </p:sp>
      <p:sp>
        <p:nvSpPr>
          <p:cNvPr id="5" name="Shape 3"/>
          <p:cNvSpPr/>
          <p:nvPr/>
        </p:nvSpPr>
        <p:spPr>
          <a:xfrm>
            <a:off x="7600898" y="2033058"/>
            <a:ext cx="49878" cy="49878"/>
          </a:xfrm>
          <a:prstGeom prst="ellipse">
            <a:avLst/>
          </a:prstGeom>
          <a:solidFill>
            <a:srgbClr val="3A4A6B">
              <a:alpha val="45000"/>
            </a:srgbClr>
          </a:solidFill>
          <a:ln/>
        </p:spPr>
      </p:sp>
      <p:sp>
        <p:nvSpPr>
          <p:cNvPr id="6" name="Shape 4"/>
          <p:cNvSpPr/>
          <p:nvPr/>
        </p:nvSpPr>
        <p:spPr>
          <a:xfrm>
            <a:off x="1809370" y="6845770"/>
            <a:ext cx="58350" cy="58350"/>
          </a:xfrm>
          <a:prstGeom prst="ellipse">
            <a:avLst/>
          </a:prstGeom>
          <a:solidFill>
            <a:srgbClr val="C8A84B">
              <a:alpha val="45000"/>
            </a:srgbClr>
          </a:solidFill>
          <a:ln/>
        </p:spPr>
      </p:sp>
      <p:sp>
        <p:nvSpPr>
          <p:cNvPr id="7" name="Shape 5"/>
          <p:cNvSpPr/>
          <p:nvPr/>
        </p:nvSpPr>
        <p:spPr>
          <a:xfrm>
            <a:off x="7378604" y="1978260"/>
            <a:ext cx="62683" cy="62683"/>
          </a:xfrm>
          <a:prstGeom prst="ellipse">
            <a:avLst/>
          </a:prstGeom>
          <a:solidFill>
            <a:srgbClr val="3A4A6B">
              <a:alpha val="45000"/>
            </a:srgbClr>
          </a:solidFill>
          <a:ln/>
        </p:spPr>
      </p:sp>
      <p:sp>
        <p:nvSpPr>
          <p:cNvPr id="8" name="Shape 6"/>
          <p:cNvSpPr/>
          <p:nvPr/>
        </p:nvSpPr>
        <p:spPr>
          <a:xfrm>
            <a:off x="3438830" y="1315861"/>
            <a:ext cx="52152" cy="52152"/>
          </a:xfrm>
          <a:prstGeom prst="ellipse">
            <a:avLst/>
          </a:prstGeom>
          <a:solidFill>
            <a:srgbClr val="C8A84B">
              <a:alpha val="45000"/>
            </a:srgbClr>
          </a:solidFill>
          <a:ln/>
        </p:spPr>
      </p:sp>
      <p:sp>
        <p:nvSpPr>
          <p:cNvPr id="9" name="Shape 7"/>
          <p:cNvSpPr/>
          <p:nvPr/>
        </p:nvSpPr>
        <p:spPr>
          <a:xfrm>
            <a:off x="5154414" y="1725906"/>
            <a:ext cx="19420" cy="19420"/>
          </a:xfrm>
          <a:prstGeom prst="ellipse">
            <a:avLst/>
          </a:prstGeom>
          <a:solidFill>
            <a:srgbClr val="C8A84B">
              <a:alpha val="45000"/>
            </a:srgbClr>
          </a:solidFill>
          <a:ln/>
        </p:spPr>
      </p:sp>
      <p:sp>
        <p:nvSpPr>
          <p:cNvPr id="10" name="Shape 8"/>
          <p:cNvSpPr/>
          <p:nvPr/>
        </p:nvSpPr>
        <p:spPr>
          <a:xfrm>
            <a:off x="5618812" y="2869730"/>
            <a:ext cx="31655" cy="31655"/>
          </a:xfrm>
          <a:prstGeom prst="ellipse">
            <a:avLst/>
          </a:prstGeom>
          <a:solidFill>
            <a:srgbClr val="3A4A6B">
              <a:alpha val="45000"/>
            </a:srgbClr>
          </a:solidFill>
          <a:ln/>
        </p:spPr>
      </p:sp>
      <p:sp>
        <p:nvSpPr>
          <p:cNvPr id="11" name="Shape 9"/>
          <p:cNvSpPr/>
          <p:nvPr/>
        </p:nvSpPr>
        <p:spPr>
          <a:xfrm>
            <a:off x="10987856" y="4154664"/>
            <a:ext cx="57813" cy="57813"/>
          </a:xfrm>
          <a:prstGeom prst="ellipse">
            <a:avLst/>
          </a:prstGeom>
          <a:solidFill>
            <a:srgbClr val="C8A84B">
              <a:alpha val="45000"/>
            </a:srgbClr>
          </a:solidFill>
          <a:ln/>
        </p:spPr>
      </p:sp>
      <p:sp>
        <p:nvSpPr>
          <p:cNvPr id="12" name="Shape 10"/>
          <p:cNvSpPr/>
          <p:nvPr/>
        </p:nvSpPr>
        <p:spPr>
          <a:xfrm>
            <a:off x="10751591" y="6258043"/>
            <a:ext cx="54996" cy="54996"/>
          </a:xfrm>
          <a:prstGeom prst="ellipse">
            <a:avLst/>
          </a:prstGeom>
          <a:solidFill>
            <a:srgbClr val="3A4A6B">
              <a:alpha val="45000"/>
            </a:srgbClr>
          </a:solidFill>
          <a:ln/>
        </p:spPr>
      </p:sp>
      <p:sp>
        <p:nvSpPr>
          <p:cNvPr id="13" name="Shape 11"/>
          <p:cNvSpPr/>
          <p:nvPr/>
        </p:nvSpPr>
        <p:spPr>
          <a:xfrm>
            <a:off x="4759873" y="3507199"/>
            <a:ext cx="39573" cy="39573"/>
          </a:xfrm>
          <a:prstGeom prst="ellipse">
            <a:avLst/>
          </a:prstGeom>
          <a:solidFill>
            <a:srgbClr val="C8A84B">
              <a:alpha val="45000"/>
            </a:srgbClr>
          </a:solidFill>
          <a:ln/>
        </p:spPr>
      </p:sp>
      <p:sp>
        <p:nvSpPr>
          <p:cNvPr id="14" name="Shape 12"/>
          <p:cNvSpPr/>
          <p:nvPr/>
        </p:nvSpPr>
        <p:spPr>
          <a:xfrm>
            <a:off x="1871095" y="1405467"/>
            <a:ext cx="51620" cy="51620"/>
          </a:xfrm>
          <a:prstGeom prst="ellipse">
            <a:avLst/>
          </a:prstGeom>
          <a:solidFill>
            <a:srgbClr val="3A4A6B">
              <a:alpha val="45000"/>
            </a:srgbClr>
          </a:solidFill>
          <a:ln/>
        </p:spPr>
      </p:sp>
      <p:sp>
        <p:nvSpPr>
          <p:cNvPr id="15" name="Shape 13"/>
          <p:cNvSpPr/>
          <p:nvPr/>
        </p:nvSpPr>
        <p:spPr>
          <a:xfrm>
            <a:off x="2385541" y="4440179"/>
            <a:ext cx="58399" cy="58399"/>
          </a:xfrm>
          <a:prstGeom prst="ellipse">
            <a:avLst/>
          </a:prstGeom>
          <a:solidFill>
            <a:srgbClr val="3A4A6B">
              <a:alpha val="45000"/>
            </a:srgbClr>
          </a:solidFill>
          <a:ln/>
        </p:spPr>
      </p:sp>
      <p:sp>
        <p:nvSpPr>
          <p:cNvPr id="16" name="Shape 14"/>
          <p:cNvSpPr/>
          <p:nvPr/>
        </p:nvSpPr>
        <p:spPr>
          <a:xfrm>
            <a:off x="747948" y="1604669"/>
            <a:ext cx="25479" cy="25479"/>
          </a:xfrm>
          <a:prstGeom prst="ellipse">
            <a:avLst/>
          </a:prstGeom>
          <a:solidFill>
            <a:srgbClr val="3A4A6B">
              <a:alpha val="45000"/>
            </a:srgbClr>
          </a:solidFill>
          <a:ln/>
        </p:spPr>
      </p:sp>
      <p:sp>
        <p:nvSpPr>
          <p:cNvPr id="17" name="Shape 15"/>
          <p:cNvSpPr/>
          <p:nvPr/>
        </p:nvSpPr>
        <p:spPr>
          <a:xfrm>
            <a:off x="8519268" y="4498269"/>
            <a:ext cx="18335" cy="18335"/>
          </a:xfrm>
          <a:prstGeom prst="ellipse">
            <a:avLst/>
          </a:prstGeom>
          <a:solidFill>
            <a:srgbClr val="C8A84B">
              <a:alpha val="45000"/>
            </a:srgbClr>
          </a:solidFill>
          <a:ln/>
        </p:spPr>
      </p:sp>
      <p:sp>
        <p:nvSpPr>
          <p:cNvPr id="18" name="Shape 16"/>
          <p:cNvSpPr/>
          <p:nvPr/>
        </p:nvSpPr>
        <p:spPr>
          <a:xfrm>
            <a:off x="325465" y="844315"/>
            <a:ext cx="60109" cy="60109"/>
          </a:xfrm>
          <a:prstGeom prst="ellipse">
            <a:avLst/>
          </a:prstGeom>
          <a:solidFill>
            <a:srgbClr val="3A4A6B">
              <a:alpha val="45000"/>
            </a:srgbClr>
          </a:solidFill>
          <a:ln/>
        </p:spPr>
      </p:sp>
      <p:sp>
        <p:nvSpPr>
          <p:cNvPr id="19" name="Shape 17"/>
          <p:cNvSpPr/>
          <p:nvPr/>
        </p:nvSpPr>
        <p:spPr>
          <a:xfrm>
            <a:off x="1690716" y="1734138"/>
            <a:ext cx="19851" cy="19851"/>
          </a:xfrm>
          <a:prstGeom prst="ellipse">
            <a:avLst/>
          </a:prstGeom>
          <a:solidFill>
            <a:srgbClr val="3A4A6B">
              <a:alpha val="45000"/>
            </a:srgbClr>
          </a:solidFill>
          <a:ln/>
        </p:spPr>
      </p:sp>
      <p:sp>
        <p:nvSpPr>
          <p:cNvPr id="20" name="Shape 18"/>
          <p:cNvSpPr/>
          <p:nvPr/>
        </p:nvSpPr>
        <p:spPr>
          <a:xfrm>
            <a:off x="2555494" y="4289072"/>
            <a:ext cx="34156" cy="34156"/>
          </a:xfrm>
          <a:prstGeom prst="ellipse">
            <a:avLst/>
          </a:prstGeom>
          <a:solidFill>
            <a:srgbClr val="3A4A6B">
              <a:alpha val="45000"/>
            </a:srgbClr>
          </a:solidFill>
          <a:ln/>
        </p:spPr>
      </p:sp>
      <p:sp>
        <p:nvSpPr>
          <p:cNvPr id="21" name="Shape 19"/>
          <p:cNvSpPr/>
          <p:nvPr/>
        </p:nvSpPr>
        <p:spPr>
          <a:xfrm>
            <a:off x="517521" y="42451"/>
            <a:ext cx="44885" cy="44885"/>
          </a:xfrm>
          <a:prstGeom prst="ellipse">
            <a:avLst/>
          </a:prstGeom>
          <a:solidFill>
            <a:srgbClr val="C8A84B">
              <a:alpha val="45000"/>
            </a:srgbClr>
          </a:solidFill>
          <a:ln/>
        </p:spPr>
      </p:sp>
      <p:sp>
        <p:nvSpPr>
          <p:cNvPr id="22" name="Shape 20"/>
          <p:cNvSpPr/>
          <p:nvPr/>
        </p:nvSpPr>
        <p:spPr>
          <a:xfrm>
            <a:off x="3534337" y="1609607"/>
            <a:ext cx="53169" cy="53169"/>
          </a:xfrm>
          <a:prstGeom prst="ellipse">
            <a:avLst/>
          </a:prstGeom>
          <a:solidFill>
            <a:srgbClr val="3A4A6B">
              <a:alpha val="45000"/>
            </a:srgbClr>
          </a:solidFill>
          <a:ln/>
        </p:spPr>
      </p:sp>
      <p:sp>
        <p:nvSpPr>
          <p:cNvPr id="23" name="Shape 21"/>
          <p:cNvSpPr/>
          <p:nvPr/>
        </p:nvSpPr>
        <p:spPr>
          <a:xfrm>
            <a:off x="4248973" y="5349875"/>
            <a:ext cx="38123" cy="38123"/>
          </a:xfrm>
          <a:prstGeom prst="ellipse">
            <a:avLst/>
          </a:prstGeom>
          <a:solidFill>
            <a:srgbClr val="C8A84B">
              <a:alpha val="45000"/>
            </a:srgbClr>
          </a:solidFill>
          <a:ln/>
        </p:spPr>
      </p:sp>
      <p:sp>
        <p:nvSpPr>
          <p:cNvPr id="24" name="Shape 22"/>
          <p:cNvSpPr/>
          <p:nvPr/>
        </p:nvSpPr>
        <p:spPr>
          <a:xfrm>
            <a:off x="11069392" y="6606587"/>
            <a:ext cx="43209" cy="43209"/>
          </a:xfrm>
          <a:prstGeom prst="ellipse">
            <a:avLst/>
          </a:prstGeom>
          <a:solidFill>
            <a:srgbClr val="3A4A6B">
              <a:alpha val="45000"/>
            </a:srgbClr>
          </a:solidFill>
          <a:ln/>
        </p:spPr>
      </p:sp>
      <p:sp>
        <p:nvSpPr>
          <p:cNvPr id="25" name="Shape 23"/>
          <p:cNvSpPr/>
          <p:nvPr/>
        </p:nvSpPr>
        <p:spPr>
          <a:xfrm>
            <a:off x="2224972" y="5803077"/>
            <a:ext cx="18755" cy="18755"/>
          </a:xfrm>
          <a:prstGeom prst="ellipse">
            <a:avLst/>
          </a:prstGeom>
          <a:solidFill>
            <a:srgbClr val="3A4A6B">
              <a:alpha val="45000"/>
            </a:srgbClr>
          </a:solidFill>
          <a:ln/>
        </p:spPr>
      </p:sp>
      <p:sp>
        <p:nvSpPr>
          <p:cNvPr id="26" name="Shape 24"/>
          <p:cNvSpPr/>
          <p:nvPr/>
        </p:nvSpPr>
        <p:spPr>
          <a:xfrm>
            <a:off x="9545865" y="5394678"/>
            <a:ext cx="60717" cy="60717"/>
          </a:xfrm>
          <a:prstGeom prst="ellipse">
            <a:avLst/>
          </a:prstGeom>
          <a:solidFill>
            <a:srgbClr val="C8A84B">
              <a:alpha val="45000"/>
            </a:srgbClr>
          </a:solidFill>
          <a:ln/>
        </p:spPr>
      </p:sp>
      <p:sp>
        <p:nvSpPr>
          <p:cNvPr id="27" name="Shape 25"/>
          <p:cNvSpPr/>
          <p:nvPr/>
        </p:nvSpPr>
        <p:spPr>
          <a:xfrm>
            <a:off x="3604195" y="4534723"/>
            <a:ext cx="39838" cy="39838"/>
          </a:xfrm>
          <a:prstGeom prst="ellipse">
            <a:avLst/>
          </a:prstGeom>
          <a:solidFill>
            <a:srgbClr val="3A4A6B">
              <a:alpha val="45000"/>
            </a:srgbClr>
          </a:solidFill>
          <a:ln/>
        </p:spPr>
      </p:sp>
      <p:sp>
        <p:nvSpPr>
          <p:cNvPr id="28" name="Shape 26"/>
          <p:cNvSpPr/>
          <p:nvPr/>
        </p:nvSpPr>
        <p:spPr>
          <a:xfrm>
            <a:off x="5870300" y="5170546"/>
            <a:ext cx="38527" cy="38527"/>
          </a:xfrm>
          <a:prstGeom prst="ellipse">
            <a:avLst/>
          </a:prstGeom>
          <a:solidFill>
            <a:srgbClr val="C8A84B">
              <a:alpha val="45000"/>
            </a:srgbClr>
          </a:solidFill>
          <a:ln/>
        </p:spPr>
      </p:sp>
      <p:sp>
        <p:nvSpPr>
          <p:cNvPr id="29" name="Shape 27"/>
          <p:cNvSpPr/>
          <p:nvPr/>
        </p:nvSpPr>
        <p:spPr>
          <a:xfrm>
            <a:off x="2230811" y="2137481"/>
            <a:ext cx="40978" cy="40978"/>
          </a:xfrm>
          <a:prstGeom prst="ellipse">
            <a:avLst/>
          </a:prstGeom>
          <a:solidFill>
            <a:srgbClr val="3A4A6B">
              <a:alpha val="45000"/>
            </a:srgbClr>
          </a:solidFill>
          <a:ln/>
        </p:spPr>
      </p:sp>
      <p:sp>
        <p:nvSpPr>
          <p:cNvPr id="30" name="Shape 28"/>
          <p:cNvSpPr/>
          <p:nvPr/>
        </p:nvSpPr>
        <p:spPr>
          <a:xfrm>
            <a:off x="10552652" y="5256859"/>
            <a:ext cx="19535" cy="19535"/>
          </a:xfrm>
          <a:prstGeom prst="ellipse">
            <a:avLst/>
          </a:prstGeom>
          <a:solidFill>
            <a:srgbClr val="C8A84B">
              <a:alpha val="45000"/>
            </a:srgbClr>
          </a:solidFill>
          <a:ln/>
        </p:spPr>
      </p:sp>
      <p:sp>
        <p:nvSpPr>
          <p:cNvPr id="31" name="Shape 29"/>
          <p:cNvSpPr/>
          <p:nvPr/>
        </p:nvSpPr>
        <p:spPr>
          <a:xfrm>
            <a:off x="10416482" y="4284016"/>
            <a:ext cx="51526" cy="51526"/>
          </a:xfrm>
          <a:prstGeom prst="ellipse">
            <a:avLst/>
          </a:prstGeom>
          <a:solidFill>
            <a:srgbClr val="3A4A6B">
              <a:alpha val="45000"/>
            </a:srgbClr>
          </a:solidFill>
          <a:ln/>
        </p:spPr>
      </p:sp>
      <p:sp>
        <p:nvSpPr>
          <p:cNvPr id="32" name="Shape 30"/>
          <p:cNvSpPr/>
          <p:nvPr/>
        </p:nvSpPr>
        <p:spPr>
          <a:xfrm>
            <a:off x="2573010" y="150283"/>
            <a:ext cx="55106" cy="55106"/>
          </a:xfrm>
          <a:prstGeom prst="ellipse">
            <a:avLst/>
          </a:prstGeom>
          <a:solidFill>
            <a:srgbClr val="3A4A6B">
              <a:alpha val="45000"/>
            </a:srgbClr>
          </a:solidFill>
          <a:ln/>
        </p:spPr>
      </p:sp>
      <p:sp>
        <p:nvSpPr>
          <p:cNvPr id="33" name="Shape 31"/>
          <p:cNvSpPr/>
          <p:nvPr/>
        </p:nvSpPr>
        <p:spPr>
          <a:xfrm>
            <a:off x="3537883" y="6486995"/>
            <a:ext cx="58498" cy="58498"/>
          </a:xfrm>
          <a:prstGeom prst="ellipse">
            <a:avLst/>
          </a:prstGeom>
          <a:solidFill>
            <a:srgbClr val="3A4A6B">
              <a:alpha val="45000"/>
            </a:srgbClr>
          </a:solidFill>
          <a:ln/>
        </p:spPr>
      </p:sp>
      <p:sp>
        <p:nvSpPr>
          <p:cNvPr id="34" name="Shape 32"/>
          <p:cNvSpPr/>
          <p:nvPr/>
        </p:nvSpPr>
        <p:spPr>
          <a:xfrm>
            <a:off x="11809676" y="857485"/>
            <a:ext cx="42511" cy="42511"/>
          </a:xfrm>
          <a:prstGeom prst="ellipse">
            <a:avLst/>
          </a:prstGeom>
          <a:solidFill>
            <a:srgbClr val="3A4A6B">
              <a:alpha val="45000"/>
            </a:srgbClr>
          </a:solidFill>
          <a:ln/>
        </p:spPr>
      </p:sp>
      <p:sp>
        <p:nvSpPr>
          <p:cNvPr id="35" name="Shape 33"/>
          <p:cNvSpPr/>
          <p:nvPr/>
        </p:nvSpPr>
        <p:spPr>
          <a:xfrm>
            <a:off x="6518623" y="4005086"/>
            <a:ext cx="42140" cy="42140"/>
          </a:xfrm>
          <a:prstGeom prst="ellipse">
            <a:avLst/>
          </a:prstGeom>
          <a:solidFill>
            <a:srgbClr val="3A4A6B">
              <a:alpha val="45000"/>
            </a:srgbClr>
          </a:solidFill>
          <a:ln/>
        </p:spPr>
      </p:sp>
      <p:sp>
        <p:nvSpPr>
          <p:cNvPr id="36" name="Shape 34"/>
          <p:cNvSpPr/>
          <p:nvPr/>
        </p:nvSpPr>
        <p:spPr>
          <a:xfrm>
            <a:off x="2829086" y="5939131"/>
            <a:ext cx="50048" cy="50048"/>
          </a:xfrm>
          <a:prstGeom prst="ellipse">
            <a:avLst/>
          </a:prstGeom>
          <a:solidFill>
            <a:srgbClr val="3A4A6B">
              <a:alpha val="45000"/>
            </a:srgbClr>
          </a:solidFill>
          <a:ln/>
        </p:spPr>
      </p:sp>
      <p:sp>
        <p:nvSpPr>
          <p:cNvPr id="37" name="Shape 35"/>
          <p:cNvSpPr/>
          <p:nvPr/>
        </p:nvSpPr>
        <p:spPr>
          <a:xfrm>
            <a:off x="5996044" y="6320955"/>
            <a:ext cx="41963" cy="41963"/>
          </a:xfrm>
          <a:prstGeom prst="ellipse">
            <a:avLst/>
          </a:prstGeom>
          <a:solidFill>
            <a:srgbClr val="C8A84B">
              <a:alpha val="45000"/>
            </a:srgbClr>
          </a:solidFill>
          <a:ln/>
        </p:spPr>
      </p:sp>
      <p:sp>
        <p:nvSpPr>
          <p:cNvPr id="38" name="Shape 36"/>
          <p:cNvSpPr/>
          <p:nvPr/>
        </p:nvSpPr>
        <p:spPr>
          <a:xfrm>
            <a:off x="10013808" y="4557889"/>
            <a:ext cx="32561" cy="32561"/>
          </a:xfrm>
          <a:prstGeom prst="ellipse">
            <a:avLst/>
          </a:prstGeom>
          <a:solidFill>
            <a:srgbClr val="C8A84B">
              <a:alpha val="45000"/>
            </a:srgbClr>
          </a:solidFill>
          <a:ln/>
        </p:spPr>
      </p:sp>
      <p:sp>
        <p:nvSpPr>
          <p:cNvPr id="39" name="Shape 37"/>
          <p:cNvSpPr/>
          <p:nvPr/>
        </p:nvSpPr>
        <p:spPr>
          <a:xfrm>
            <a:off x="4372423" y="1327268"/>
            <a:ext cx="24664" cy="24664"/>
          </a:xfrm>
          <a:prstGeom prst="ellipse">
            <a:avLst/>
          </a:prstGeom>
          <a:solidFill>
            <a:srgbClr val="3A4A6B">
              <a:alpha val="45000"/>
            </a:srgbClr>
          </a:solidFill>
          <a:ln/>
        </p:spPr>
      </p:sp>
      <p:sp>
        <p:nvSpPr>
          <p:cNvPr id="40" name="Shape 38"/>
          <p:cNvSpPr/>
          <p:nvPr/>
        </p:nvSpPr>
        <p:spPr>
          <a:xfrm>
            <a:off x="1083266" y="4672424"/>
            <a:ext cx="34642" cy="34642"/>
          </a:xfrm>
          <a:prstGeom prst="ellipse">
            <a:avLst/>
          </a:prstGeom>
          <a:solidFill>
            <a:srgbClr val="3A4A6B">
              <a:alpha val="45000"/>
            </a:srgbClr>
          </a:solidFill>
          <a:ln/>
        </p:spPr>
      </p:sp>
      <p:sp>
        <p:nvSpPr>
          <p:cNvPr id="41" name="Shape 39"/>
          <p:cNvSpPr/>
          <p:nvPr/>
        </p:nvSpPr>
        <p:spPr>
          <a:xfrm>
            <a:off x="9004728" y="6380692"/>
            <a:ext cx="56849" cy="56849"/>
          </a:xfrm>
          <a:prstGeom prst="ellipse">
            <a:avLst/>
          </a:prstGeom>
          <a:solidFill>
            <a:srgbClr val="C8A84B">
              <a:alpha val="45000"/>
            </a:srgbClr>
          </a:solidFill>
          <a:ln/>
        </p:spPr>
      </p:sp>
      <p:sp>
        <p:nvSpPr>
          <p:cNvPr id="42" name="Shape 40"/>
          <p:cNvSpPr/>
          <p:nvPr/>
        </p:nvSpPr>
        <p:spPr>
          <a:xfrm>
            <a:off x="4114053" y="4081404"/>
            <a:ext cx="58547" cy="58547"/>
          </a:xfrm>
          <a:prstGeom prst="ellipse">
            <a:avLst/>
          </a:prstGeom>
          <a:solidFill>
            <a:srgbClr val="3A4A6B">
              <a:alpha val="45000"/>
            </a:srgbClr>
          </a:solidFill>
          <a:ln/>
        </p:spPr>
      </p:sp>
      <p:sp>
        <p:nvSpPr>
          <p:cNvPr id="43" name="Shape 41"/>
          <p:cNvSpPr/>
          <p:nvPr/>
        </p:nvSpPr>
        <p:spPr>
          <a:xfrm>
            <a:off x="5179020" y="483894"/>
            <a:ext cx="51027" cy="51027"/>
          </a:xfrm>
          <a:prstGeom prst="ellipse">
            <a:avLst/>
          </a:prstGeom>
          <a:solidFill>
            <a:srgbClr val="3A4A6B">
              <a:alpha val="45000"/>
            </a:srgbClr>
          </a:solidFill>
          <a:ln/>
        </p:spPr>
      </p:sp>
      <p:sp>
        <p:nvSpPr>
          <p:cNvPr id="44" name="Shape 42"/>
          <p:cNvSpPr/>
          <p:nvPr/>
        </p:nvSpPr>
        <p:spPr>
          <a:xfrm>
            <a:off x="11599060" y="329494"/>
            <a:ext cx="54043" cy="54043"/>
          </a:xfrm>
          <a:prstGeom prst="ellipse">
            <a:avLst/>
          </a:prstGeom>
          <a:solidFill>
            <a:srgbClr val="3A4A6B">
              <a:alpha val="45000"/>
            </a:srgbClr>
          </a:solidFill>
          <a:ln/>
        </p:spPr>
      </p:sp>
      <p:sp>
        <p:nvSpPr>
          <p:cNvPr id="45" name="Shape 43"/>
          <p:cNvSpPr/>
          <p:nvPr/>
        </p:nvSpPr>
        <p:spPr>
          <a:xfrm>
            <a:off x="10161657" y="5057540"/>
            <a:ext cx="45017" cy="45017"/>
          </a:xfrm>
          <a:prstGeom prst="ellipse">
            <a:avLst/>
          </a:prstGeom>
          <a:solidFill>
            <a:srgbClr val="3A4A6B">
              <a:alpha val="45000"/>
            </a:srgbClr>
          </a:solidFill>
          <a:ln/>
        </p:spPr>
      </p:sp>
      <p:sp>
        <p:nvSpPr>
          <p:cNvPr id="46" name="Shape 44"/>
          <p:cNvSpPr/>
          <p:nvPr/>
        </p:nvSpPr>
        <p:spPr>
          <a:xfrm>
            <a:off x="2067948" y="5185363"/>
            <a:ext cx="30159" cy="30159"/>
          </a:xfrm>
          <a:prstGeom prst="ellipse">
            <a:avLst/>
          </a:prstGeom>
          <a:solidFill>
            <a:srgbClr val="C8A84B">
              <a:alpha val="45000"/>
            </a:srgbClr>
          </a:solidFill>
          <a:ln/>
        </p:spPr>
      </p:sp>
      <p:sp>
        <p:nvSpPr>
          <p:cNvPr id="47" name="Shape 45"/>
          <p:cNvSpPr/>
          <p:nvPr/>
        </p:nvSpPr>
        <p:spPr>
          <a:xfrm>
            <a:off x="1581446" y="4692297"/>
            <a:ext cx="54624" cy="54624"/>
          </a:xfrm>
          <a:prstGeom prst="ellipse">
            <a:avLst/>
          </a:prstGeom>
          <a:solidFill>
            <a:srgbClr val="3A4A6B">
              <a:alpha val="45000"/>
            </a:srgbClr>
          </a:solidFill>
          <a:ln/>
        </p:spPr>
      </p:sp>
      <p:sp>
        <p:nvSpPr>
          <p:cNvPr id="48" name="Shape 46"/>
          <p:cNvSpPr/>
          <p:nvPr/>
        </p:nvSpPr>
        <p:spPr>
          <a:xfrm>
            <a:off x="6299874" y="1969676"/>
            <a:ext cx="60274" cy="60274"/>
          </a:xfrm>
          <a:prstGeom prst="ellipse">
            <a:avLst/>
          </a:prstGeom>
          <a:solidFill>
            <a:srgbClr val="3A4A6B">
              <a:alpha val="45000"/>
            </a:srgbClr>
          </a:solidFill>
          <a:ln/>
        </p:spPr>
      </p:sp>
      <p:sp>
        <p:nvSpPr>
          <p:cNvPr id="49" name="Shape 47"/>
          <p:cNvSpPr/>
          <p:nvPr/>
        </p:nvSpPr>
        <p:spPr>
          <a:xfrm>
            <a:off x="12019250" y="2774832"/>
            <a:ext cx="48238" cy="48238"/>
          </a:xfrm>
          <a:prstGeom prst="ellipse">
            <a:avLst/>
          </a:prstGeom>
          <a:solidFill>
            <a:srgbClr val="3A4A6B">
              <a:alpha val="45000"/>
            </a:srgbClr>
          </a:solidFill>
          <a:ln/>
        </p:spPr>
      </p:sp>
      <p:sp>
        <p:nvSpPr>
          <p:cNvPr id="50" name="Shape 48"/>
          <p:cNvSpPr/>
          <p:nvPr/>
        </p:nvSpPr>
        <p:spPr>
          <a:xfrm>
            <a:off x="11382605" y="3467100"/>
            <a:ext cx="43351" cy="43351"/>
          </a:xfrm>
          <a:prstGeom prst="ellipse">
            <a:avLst/>
          </a:prstGeom>
          <a:solidFill>
            <a:srgbClr val="3A4A6B">
              <a:alpha val="45000"/>
            </a:srgbClr>
          </a:solidFill>
          <a:ln/>
        </p:spPr>
      </p:sp>
      <p:sp>
        <p:nvSpPr>
          <p:cNvPr id="51" name="Shape 49"/>
          <p:cNvSpPr/>
          <p:nvPr/>
        </p:nvSpPr>
        <p:spPr>
          <a:xfrm>
            <a:off x="636384" y="6247812"/>
            <a:ext cx="43357" cy="43357"/>
          </a:xfrm>
          <a:prstGeom prst="ellipse">
            <a:avLst/>
          </a:prstGeom>
          <a:solidFill>
            <a:srgbClr val="C8A84B">
              <a:alpha val="45000"/>
            </a:srgbClr>
          </a:solidFill>
          <a:ln/>
        </p:spPr>
      </p:sp>
      <p:sp>
        <p:nvSpPr>
          <p:cNvPr id="52" name="Shape 50"/>
          <p:cNvSpPr/>
          <p:nvPr/>
        </p:nvSpPr>
        <p:spPr>
          <a:xfrm>
            <a:off x="6656045" y="4682302"/>
            <a:ext cx="44303" cy="44303"/>
          </a:xfrm>
          <a:prstGeom prst="ellipse">
            <a:avLst/>
          </a:prstGeom>
          <a:solidFill>
            <a:srgbClr val="3A4A6B">
              <a:alpha val="45000"/>
            </a:srgbClr>
          </a:solidFill>
          <a:ln/>
        </p:spPr>
      </p:sp>
      <p:sp>
        <p:nvSpPr>
          <p:cNvPr id="53" name="Shape 51"/>
          <p:cNvSpPr/>
          <p:nvPr/>
        </p:nvSpPr>
        <p:spPr>
          <a:xfrm>
            <a:off x="464138" y="1225903"/>
            <a:ext cx="50706" cy="50706"/>
          </a:xfrm>
          <a:prstGeom prst="ellipse">
            <a:avLst/>
          </a:prstGeom>
          <a:solidFill>
            <a:srgbClr val="C8A84B">
              <a:alpha val="45000"/>
            </a:srgbClr>
          </a:solidFill>
          <a:ln/>
        </p:spPr>
      </p:sp>
      <p:sp>
        <p:nvSpPr>
          <p:cNvPr id="54" name="Shape 52"/>
          <p:cNvSpPr/>
          <p:nvPr/>
        </p:nvSpPr>
        <p:spPr>
          <a:xfrm>
            <a:off x="1278868" y="1889948"/>
            <a:ext cx="24747" cy="24747"/>
          </a:xfrm>
          <a:prstGeom prst="ellipse">
            <a:avLst/>
          </a:prstGeom>
          <a:solidFill>
            <a:srgbClr val="3A4A6B">
              <a:alpha val="45000"/>
            </a:srgbClr>
          </a:solidFill>
          <a:ln/>
        </p:spPr>
      </p:sp>
      <p:sp>
        <p:nvSpPr>
          <p:cNvPr id="55" name="Shape 53"/>
          <p:cNvSpPr/>
          <p:nvPr/>
        </p:nvSpPr>
        <p:spPr>
          <a:xfrm>
            <a:off x="6247533" y="1763771"/>
            <a:ext cx="48835" cy="48835"/>
          </a:xfrm>
          <a:prstGeom prst="ellipse">
            <a:avLst/>
          </a:prstGeom>
          <a:solidFill>
            <a:srgbClr val="3A4A6B">
              <a:alpha val="45000"/>
            </a:srgbClr>
          </a:solidFill>
          <a:ln/>
        </p:spPr>
      </p:sp>
      <p:sp>
        <p:nvSpPr>
          <p:cNvPr id="56" name="Shape 54"/>
          <p:cNvSpPr/>
          <p:nvPr/>
        </p:nvSpPr>
        <p:spPr>
          <a:xfrm>
            <a:off x="1256763" y="2540706"/>
            <a:ext cx="61446" cy="61446"/>
          </a:xfrm>
          <a:prstGeom prst="ellipse">
            <a:avLst/>
          </a:prstGeom>
          <a:solidFill>
            <a:srgbClr val="C8A84B">
              <a:alpha val="45000"/>
            </a:srgbClr>
          </a:solidFill>
          <a:ln/>
        </p:spPr>
      </p:sp>
      <p:sp>
        <p:nvSpPr>
          <p:cNvPr id="57" name="Shape 55"/>
          <p:cNvSpPr/>
          <p:nvPr/>
        </p:nvSpPr>
        <p:spPr>
          <a:xfrm>
            <a:off x="9052560" y="3291840"/>
            <a:ext cx="4937760" cy="4937760"/>
          </a:xfrm>
          <a:prstGeom prst="ellipse">
            <a:avLst/>
          </a:prstGeom>
          <a:solidFill>
            <a:srgbClr val="161F38">
              <a:alpha val="65000"/>
            </a:srgbClr>
          </a:solidFill>
          <a:ln/>
        </p:spPr>
      </p:sp>
      <p:sp>
        <p:nvSpPr>
          <p:cNvPr id="58" name="Shape 56"/>
          <p:cNvSpPr/>
          <p:nvPr/>
        </p:nvSpPr>
        <p:spPr>
          <a:xfrm>
            <a:off x="9692640" y="3931920"/>
            <a:ext cx="3566160" cy="3566160"/>
          </a:xfrm>
          <a:prstGeom prst="ellipse">
            <a:avLst/>
          </a:prstGeom>
          <a:ln w="15875">
            <a:solidFill>
              <a:srgbClr val="C8A84B">
                <a:alpha val="65000"/>
              </a:srgbClr>
            </a:solidFill>
            <a:prstDash val="solid"/>
          </a:ln>
        </p:spPr>
      </p:sp>
      <p:sp>
        <p:nvSpPr>
          <p:cNvPr id="59" name="Text 57"/>
          <p:cNvSpPr/>
          <p:nvPr/>
        </p:nvSpPr>
        <p:spPr>
          <a:xfrm>
            <a:off x="640080" y="1554480"/>
            <a:ext cx="9144000" cy="365760"/>
          </a:xfrm>
          <a:prstGeom prst="rect">
            <a:avLst/>
          </a:prstGeom>
          <a:noFill/>
          <a:ln/>
        </p:spPr>
        <p:txBody>
          <a:bodyPr wrap="square" lIns="0" tIns="0" rIns="0" bIns="0" rtlCol="0" anchor="ctr"/>
          <a:lstStyle/>
          <a:p>
            <a:pPr indent="0" marL="0">
              <a:buNone/>
            </a:pPr>
            <a:r>
              <a:rPr lang="en-US" sz="1400" b="1" spc="300" kern="0" dirty="0">
                <a:solidFill>
                  <a:srgbClr val="C8A84B"/>
                </a:solidFill>
                <a:latin typeface="Arial" pitchFamily="34" charset="0"/>
                <a:ea typeface="Arial" pitchFamily="34" charset="-122"/>
                <a:cs typeface="Arial" pitchFamily="34" charset="-120"/>
              </a:rPr>
              <a:t>WRAPPING UP</a:t>
            </a:r>
            <a:endParaRPr lang="en-US" sz="1400" dirty="0"/>
          </a:p>
        </p:txBody>
      </p:sp>
      <p:sp>
        <p:nvSpPr>
          <p:cNvPr id="60" name="Text 58"/>
          <p:cNvSpPr/>
          <p:nvPr/>
        </p:nvSpPr>
        <p:spPr>
          <a:xfrm>
            <a:off x="603504" y="1965960"/>
            <a:ext cx="10972800" cy="914400"/>
          </a:xfrm>
          <a:prstGeom prst="rect">
            <a:avLst/>
          </a:prstGeom>
          <a:noFill/>
          <a:ln/>
        </p:spPr>
        <p:txBody>
          <a:bodyPr wrap="square" lIns="0" tIns="0" rIns="0" bIns="0" rtlCol="0" anchor="ctr"/>
          <a:lstStyle/>
          <a:p>
            <a:pPr indent="0" marL="0">
              <a:buNone/>
            </a:pPr>
            <a:r>
              <a:rPr lang="en-US" sz="3000" b="1" dirty="0">
                <a:solidFill>
                  <a:srgbClr val="EAECF2"/>
                </a:solidFill>
                <a:latin typeface="Arial" pitchFamily="34" charset="0"/>
                <a:ea typeface="Arial" pitchFamily="34" charset="-122"/>
                <a:cs typeface="Arial" pitchFamily="34" charset="-120"/>
              </a:rPr>
              <a:t>Messy data in, a shape out, and nothing hidden.</a:t>
            </a:r>
            <a:endParaRPr lang="en-US" sz="3000" dirty="0"/>
          </a:p>
        </p:txBody>
      </p:sp>
      <p:sp>
        <p:nvSpPr>
          <p:cNvPr id="61" name="Text 59"/>
          <p:cNvSpPr/>
          <p:nvPr/>
        </p:nvSpPr>
        <p:spPr>
          <a:xfrm>
            <a:off x="640080" y="3154680"/>
            <a:ext cx="7863840" cy="1097280"/>
          </a:xfrm>
          <a:prstGeom prst="rect">
            <a:avLst/>
          </a:prstGeom>
          <a:noFill/>
          <a:ln/>
        </p:spPr>
        <p:txBody>
          <a:bodyPr wrap="square" lIns="0" tIns="0" rIns="0" bIns="0" rtlCol="0" anchor="ctr"/>
          <a:lstStyle/>
          <a:p>
            <a:pPr indent="0" marL="0">
              <a:lnSpc>
                <a:spcPct val="120000"/>
              </a:lnSpc>
              <a:buNone/>
            </a:pPr>
            <a:r>
              <a:rPr lang="en-US" sz="1600" dirty="0">
                <a:solidFill>
                  <a:srgbClr val="9AA6C0"/>
                </a:solidFill>
                <a:latin typeface="Calibri" pitchFamily="34" charset="0"/>
                <a:ea typeface="Calibri" pitchFamily="34" charset="-122"/>
                <a:cs typeface="Calibri" pitchFamily="34" charset="-120"/>
              </a:rPr>
              <a:t>Real reports, cleaned up, turned into numbers, trained a classifier, then checked it honestly because the data's lopsided, and wrapped it in something you can actually click.</a:t>
            </a:r>
            <a:endParaRPr lang="en-US" sz="1600" dirty="0"/>
          </a:p>
        </p:txBody>
      </p:sp>
      <p:sp>
        <p:nvSpPr>
          <p:cNvPr id="62" name="Text 60"/>
          <p:cNvSpPr/>
          <p:nvPr/>
        </p:nvSpPr>
        <p:spPr>
          <a:xfrm>
            <a:off x="640080" y="4480560"/>
            <a:ext cx="7863840" cy="731520"/>
          </a:xfrm>
          <a:prstGeom prst="rect">
            <a:avLst/>
          </a:prstGeom>
          <a:noFill/>
          <a:ln/>
        </p:spPr>
        <p:txBody>
          <a:bodyPr wrap="square" lIns="0" tIns="0" rIns="0" bIns="0" rtlCol="0" anchor="ctr"/>
          <a:lstStyle/>
          <a:p>
            <a:pPr indent="0" marL="0">
              <a:lnSpc>
                <a:spcPct val="115000"/>
              </a:lnSpc>
              <a:buNone/>
            </a:pPr>
            <a:r>
              <a:rPr lang="en-US" sz="1500" b="1" dirty="0">
                <a:solidFill>
                  <a:srgbClr val="C8A84B"/>
                </a:solidFill>
                <a:latin typeface="Calibri" pitchFamily="34" charset="0"/>
                <a:ea typeface="Calibri" pitchFamily="34" charset="-122"/>
                <a:cs typeface="Calibri" pitchFamily="34" charset="-120"/>
              </a:rPr>
              <a:t>And to be clear:  </a:t>
            </a:r>
            <a:pPr indent="0" marL="0">
              <a:lnSpc>
                <a:spcPct val="115000"/>
              </a:lnSpc>
              <a:buNone/>
            </a:pPr>
            <a:r>
              <a:rPr lang="en-US" sz="1500" dirty="0">
                <a:solidFill>
                  <a:srgbClr val="EAECF2"/>
                </a:solidFill>
                <a:latin typeface="Calibri" pitchFamily="34" charset="0"/>
                <a:ea typeface="Calibri" pitchFamily="34" charset="-122"/>
                <a:cs typeface="Calibri" pitchFamily="34" charset="-120"/>
              </a:rPr>
              <a:t>it doesn't prove anybody saw a spaceship. It just sorts words into shapes.</a:t>
            </a:r>
            <a:endParaRPr lang="en-US" sz="1500" dirty="0"/>
          </a:p>
        </p:txBody>
      </p:sp>
      <p:sp>
        <p:nvSpPr>
          <p:cNvPr id="63" name="Text 61"/>
          <p:cNvSpPr/>
          <p:nvPr/>
        </p:nvSpPr>
        <p:spPr>
          <a:xfrm>
            <a:off x="640080" y="5029200"/>
            <a:ext cx="7315200" cy="457200"/>
          </a:xfrm>
          <a:prstGeom prst="rect">
            <a:avLst/>
          </a:prstGeom>
          <a:noFill/>
          <a:ln/>
        </p:spPr>
        <p:txBody>
          <a:bodyPr wrap="square" lIns="0" tIns="0" rIns="0" bIns="0" rtlCol="0" anchor="ctr"/>
          <a:lstStyle/>
          <a:p>
            <a:pPr indent="0" marL="0">
              <a:buNone/>
            </a:pPr>
            <a:r>
              <a:rPr lang="en-US" sz="1800" b="1" dirty="0">
                <a:solidFill>
                  <a:srgbClr val="C8A84B"/>
                </a:solidFill>
                <a:latin typeface="Arial" pitchFamily="34" charset="0"/>
                <a:ea typeface="Arial" pitchFamily="34" charset="-122"/>
                <a:cs typeface="Arial" pitchFamily="34" charset="-120"/>
              </a:rPr>
              <a:t>Thank you — questions welcome.</a:t>
            </a:r>
            <a:endParaRPr lang="en-US" sz="1800" dirty="0"/>
          </a:p>
        </p:txBody>
      </p:sp>
      <p:sp>
        <p:nvSpPr>
          <p:cNvPr id="64" name="Text 62"/>
          <p:cNvSpPr/>
          <p:nvPr/>
        </p:nvSpPr>
        <p:spPr>
          <a:xfrm>
            <a:off x="640080" y="5596128"/>
            <a:ext cx="10972800" cy="320040"/>
          </a:xfrm>
          <a:prstGeom prst="rect">
            <a:avLst/>
          </a:prstGeom>
          <a:noFill/>
          <a:ln/>
        </p:spPr>
        <p:txBody>
          <a:bodyPr wrap="square" lIns="0" tIns="0" rIns="0" bIns="0" rtlCol="0" anchor="ctr"/>
          <a:lstStyle/>
          <a:p>
            <a:pPr indent="0" marL="0">
              <a:buNone/>
            </a:pPr>
            <a:r>
              <a:rPr lang="en-US" sz="1150" b="1" dirty="0">
                <a:solidFill>
                  <a:srgbClr val="EAECF2"/>
                </a:solidFill>
                <a:latin typeface="Calibri" pitchFamily="34" charset="0"/>
                <a:ea typeface="Calibri" pitchFamily="34" charset="-122"/>
                <a:cs typeface="Calibri" pitchFamily="34" charset="-120"/>
              </a:rPr>
              <a:t>Instructors:  </a:t>
            </a:r>
            <a:pPr indent="0" marL="0">
              <a:buNone/>
            </a:pPr>
            <a:r>
              <a:rPr lang="en-US" sz="1150" dirty="0">
                <a:solidFill>
                  <a:srgbClr val="9AA6C0"/>
                </a:solidFill>
                <a:latin typeface="Calibri" pitchFamily="34" charset="0"/>
                <a:ea typeface="Calibri" pitchFamily="34" charset="-122"/>
                <a:cs typeface="Calibri" pitchFamily="34" charset="-120"/>
              </a:rPr>
              <a:t>Omar Ashinawy  ·  Hesam Damghanian  ·  Amber Carney</a:t>
            </a:r>
            <a:pPr indent="0" marL="0">
              <a:buNone/>
            </a:pPr>
            <a:r>
              <a:rPr lang="en-US" sz="1150" i="1" dirty="0">
                <a:solidFill>
                  <a:srgbClr val="9AA6C0"/>
                </a:solidFill>
                <a:latin typeface="Calibri" pitchFamily="34" charset="0"/>
                <a:ea typeface="Calibri" pitchFamily="34" charset="-122"/>
                <a:cs typeface="Calibri" pitchFamily="34" charset="-120"/>
              </a:rPr>
              <a:t>      With thanks to Mostafa Moharram</a:t>
            </a:r>
            <a:endParaRPr lang="en-US" sz="1150" dirty="0"/>
          </a:p>
        </p:txBody>
      </p:sp>
      <p:sp>
        <p:nvSpPr>
          <p:cNvPr id="65" name="Text 63"/>
          <p:cNvSpPr/>
          <p:nvPr/>
        </p:nvSpPr>
        <p:spPr>
          <a:xfrm>
            <a:off x="640080" y="6035040"/>
            <a:ext cx="11155680" cy="365760"/>
          </a:xfrm>
          <a:prstGeom prst="rect">
            <a:avLst/>
          </a:prstGeom>
          <a:noFill/>
          <a:ln/>
        </p:spPr>
        <p:txBody>
          <a:bodyPr wrap="square" lIns="0" tIns="0" rIns="0" bIns="0" rtlCol="0" anchor="ctr"/>
          <a:lstStyle/>
          <a:p>
            <a:pPr indent="0" marL="0">
              <a:buNone/>
            </a:pPr>
            <a:r>
              <a:rPr lang="en-US" sz="1300" b="1" dirty="0">
                <a:solidFill>
                  <a:srgbClr val="EAECF2"/>
                </a:solidFill>
                <a:latin typeface="Calibri" pitchFamily="34" charset="0"/>
                <a:ea typeface="Calibri" pitchFamily="34" charset="-122"/>
                <a:cs typeface="Calibri" pitchFamily="34" charset="-120"/>
              </a:rPr>
              <a:t>Sammuel Hinton</a:t>
            </a:r>
            <a:pPr indent="0" marL="0">
              <a:buNone/>
            </a:pPr>
            <a:r>
              <a:rPr lang="en-US" sz="1200" dirty="0">
                <a:solidFill>
                  <a:srgbClr val="9AA6C0"/>
                </a:solidFill>
                <a:latin typeface="Calibri" pitchFamily="34" charset="0"/>
                <a:ea typeface="Calibri" pitchFamily="34" charset="-122"/>
                <a:cs typeface="Calibri" pitchFamily="34" charset="-120"/>
              </a:rPr>
              <a:t>   ·   ICT 890-015, University of Calgary Continuing Education   ·   samhinton310@gmail.com</a:t>
            </a:r>
            <a:endParaRPr lang="en-US" sz="1300" dirty="0"/>
          </a:p>
        </p:txBody>
      </p:sp>
      <p:sp>
        <p:nvSpPr>
          <p:cNvPr id="67" name="Text 64"/>
          <p:cNvSpPr/>
          <p:nvPr/>
        </p:nvSpPr>
        <p:spPr>
          <a:xfrm>
            <a:off x="548640" y="6428232"/>
            <a:ext cx="6400800" cy="274320"/>
          </a:xfrm>
          <a:prstGeom prst="rect">
            <a:avLst/>
          </a:prstGeom>
          <a:noFill/>
          <a:ln/>
        </p:spPr>
        <p:txBody>
          <a:bodyPr wrap="square" lIns="0" tIns="0" rIns="0" bIns="0" rtlCol="0" anchor="ctr"/>
          <a:lstStyle/>
          <a:p>
            <a:pPr indent="0" marL="0">
              <a:buNone/>
            </a:pPr>
            <a:r>
              <a:rPr lang="en-US" sz="900" dirty="0">
                <a:solidFill>
                  <a:srgbClr val="9AA6C0"/>
                </a:solidFill>
                <a:latin typeface="Calibri" pitchFamily="34" charset="0"/>
                <a:ea typeface="Calibri" pitchFamily="34" charset="-122"/>
                <a:cs typeface="Calibri" pitchFamily="34" charset="-120"/>
              </a:rPr>
              <a:t>UFO Witness Report Analyzer</a:t>
            </a:r>
            <a:endParaRPr lang="en-US" sz="900" dirty="0"/>
          </a:p>
        </p:txBody>
      </p:sp>
      <p:sp>
        <p:nvSpPr>
          <p:cNvPr id="68" name="Text 65"/>
          <p:cNvSpPr/>
          <p:nvPr/>
        </p:nvSpPr>
        <p:spPr>
          <a:xfrm>
            <a:off x="11430000" y="6428232"/>
            <a:ext cx="365760" cy="274320"/>
          </a:xfrm>
          <a:prstGeom prst="rect">
            <a:avLst/>
          </a:prstGeom>
          <a:noFill/>
          <a:ln/>
        </p:spPr>
        <p:txBody>
          <a:bodyPr wrap="square" lIns="0" tIns="0" rIns="0" bIns="0" rtlCol="0" anchor="ctr"/>
          <a:lstStyle/>
          <a:p>
            <a:pPr algn="r" indent="0" marL="0">
              <a:buNone/>
            </a:pPr>
            <a:r>
              <a:rPr lang="en-US" sz="900" dirty="0">
                <a:solidFill>
                  <a:srgbClr val="9AA6C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2026-07-22T00:18:36Z</dcterms:created>
  <dcterms:modified xsi:type="dcterms:W3CDTF">2026-07-22T00:18:36Z</dcterms:modified>
</cp:coreProperties>
</file>